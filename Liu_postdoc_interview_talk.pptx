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5" r:id="rId13"/>
    <p:sldId id="266"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7" Type="http://schemas.openxmlformats.org/officeDocument/2006/relationships/tableStyles" Target="tableStyles.xml"/><Relationship Id="rId16" Type="http://schemas.openxmlformats.org/officeDocument/2006/relationships/viewProps" Target="viewProps.xml"/><Relationship Id="rId15" Type="http://schemas.openxmlformats.org/officeDocument/2006/relationships/presProps" Target="presProps.xml"/><Relationship Id="rId14" Type="http://schemas.openxmlformats.org/officeDocument/2006/relationships/slide" Target="slides/slide11.xml"/><Relationship Id="rId13" Type="http://schemas.openxmlformats.org/officeDocument/2006/relationships/slide" Target="slides/slide10.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Thank you for having me.
2. I will show how my work on event language in adults and children leads to the question I want to pursue in your group.
3. That question is how language helps children learn relations.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Mandarin gives a clean contrast: cā names only the action; cā-gānjìng names the action and its result.
2. My work asks whether this kind of difference matters for cognition.
3. Study 1 is my PhD on adults; Studies 2 and 3 are on children’s language.
4. Then three directions that grow out of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Question: does how a language encodes events align with how speakers process them? English and Mandarin speakers saw 44 matched videos of the same object being cut or blended; cutting has a clear endpoint, blending does not.
2. The contribution is separating two levels of encoding. At the lexical level, English marks the object with quantized nouns (68% vs. 13%) and Mandarin marks the result with resultatives, mostly for blending (44% vs. 17%). At the predicate level, English is more telic for cutting (79% vs. 51%), Mandarin for blending.
3. Each level has its own processing measure, and the effect appears where that level’s contrast is. Lexical level and interruption detection: in blending, English speakers caught early interruptions better, Mandarin speakers late ones (p = .040). Predicate level and boundary tapping: in cutting, Mandarin speakers placed the end 862 ms later (p = .005), with no difference at onset.
4. Experiments 4 and 5 added brief lexical and telicity primes. Group differences recurred, but primes did not shift either level (Bayes factor about 1000 for the null). So the link is stable but not created by a one-off cue, which motivates looking at learning and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Children often reject “she peeled the lychee” when the lychee is not open, more than adults do. The question is why.
2. We filmed 10 action pairs that share an object and a result, each with the result attained or not; 32 four-year-olds, 32 five-year-olds and 40 adults per experiment judged and described them.
3. Our proposal: how strongly a verb implies its result depends on the action–object–result relation, not only on the verb. Peeling very likely opens a lychee (rated 93); squeezing less so (65). Stronger association should mean more rejection when the result is absent.
4. [Main result here, or: data are collected and analysis is in progress.] This study gives me experience testing children in kindergartens and materials I can reuse.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This sole-authored paper, at minor revision in Language and Cognition, tests the pragmatic-informativeness account of Choe and Papafragou: superordinate nouns like “animal” are under-informative, so speakers use them in contexts that signal generality, such as quantifiers, wh-phrases, “kind of” and “another”. The account was built on English; Mandarin is a strong test because it lacks obligatory plural marking.
2. Study 1 replicates their corpus analysis in 11 Mandarin CHILDES corpora: do these contexts separate superordinate from basic-level nouns in Mandarin child-directed speech?
3. They do. All four Mandarin-available contexts were associated with superordinates (odds ratios 2.1 to 8.2), robust to overlapping cues, and a classifier recovered semantic level from the contexts (AUC = .73). So the account replicates beyond English.
4. Study 2 asks whether a word’s exposure to these cues predicts its age of acquisition, in Mandarin and English. Corpus frequency did; cue exposure added little. The cues are present in the input, but whether children use them needs experiments.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All three directions ask how event relations, an action changing an object’s state, are learned, and each keeps the two levels from my thesis: lexical cues map onto event phases, predicate telicity onto endpoints. They use new hands-only event pairs, such as tearing paper in half versus crumpling it, normed with adults first; this also addresses the thesis limit of only cutting and blending.</a:t>
            </a:r>
            <a:endParaRPr lang="en-US" dirty="0"/>
          </a:p>
          <a:p>
            <a:r>
              <a:rPr lang="en-US" dirty="0"/>
              <a:t>2. Direction 1, when children learn event relations: Mandarin- and English-speaking children aged 3–6 describe the events, which gives each child’s lexical encoding (quantized nouns, resultatives) and predicate encoding (telic descriptions). They also do child versions of my two tasks: press when the video “hiccups” for phases, press when it is “done” for endpoints. Prediction: a child’s lexical encoding predicts phase sensitivity but not endpoints, and predicate encoding predicts endpoints but not phases. A 6-month follow-up asks whether language change comes first.</a:t>
            </a:r>
            <a:endParaRPr lang="en-US" dirty="0"/>
          </a:p>
          <a:p>
            <a:r>
              <a:rPr lang="en-US" dirty="0"/>
              <a:t>3. Direction 2, whether language helps children abstract relations: brief primes did not work in the thesis, so children get three training sessions with either lexical cues (一颗橙子, 切成两块) or predicate cues (切开 vs. 切一切), and are tested on both tasks. Prediction: lexical training shifts phase sensitivity and predicate training shifts endpoints, and the shift transfers to new events, for example from tearing to breaking, which would show they learned a relation, not a word.</a:t>
            </a:r>
            <a:endParaRPr lang="en-US" dirty="0"/>
          </a:p>
          <a:p>
            <a:r>
              <a:rPr lang="en-US" dirty="0"/>
              <a:t>4. Direction 3, whether language models capture these relations: following Rognan et al. (CogSci 2026), I treat video-language models as participants on my own videos. They describe the events in English and Mandarin, coded exactly like the human data, and judge frame by frame whether the object has changed, which gives phase and endpoint measures comparable to human data. Because the video is fixed, I can change only the language of the prompt: lexical prompts should shift phase judgments and predicate prompts endpoints. This is the clean causal test that brief primes could not give me in people, and comparing models with children shows what hands-on experience adds.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Year 1: replicate Experiments 1–3 with adults on the new event pairs, which generalizes the thesis and validates materials for children; run the model study in parallel.
2. Year 2: Direction 1 with children, and the training study for Direction 2.
3. Throughout: publish the thesis papers, apply for funding, and mentor students.
4. Together these move from correspondence to development, learning and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Methods: video stimuli, child testing, Bayesian modelling.
2. Projects: I led a field project at CAS and ran a preregistered multi-experiment thesis.
3. Fit: event language in development, Mandarin–English expertise, and both experiments and models.
4. Thank you, and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accent1"/>
        </a:solidFill>
        <a:effectLst/>
      </p:bgPr>
    </p:bg>
    <p:spTree>
      <p:nvGrpSpPr>
        <p:cNvPr id="1" name=""/>
        <p:cNvGrpSpPr/>
        <p:nvPr/>
      </p:nvGrpSpPr>
      <p:grpSpPr>
        <a:xfrm>
          <a:off x="0" y="0"/>
          <a:ext cx="0" cy="0"/>
          <a:chOff x="0" y="0"/>
          <a:chExt cx="0" cy="0"/>
        </a:xfrm>
      </p:grpSpPr>
      <p:sp>
        <p:nvSpPr>
          <p:cNvPr id="2" name="Text 0"/>
          <p:cNvSpPr/>
          <p:nvPr>
            <p:ph type="title" idx="100" hasCustomPrompt="1"/>
          </p:nvPr>
        </p:nvSpPr>
        <p:spPr>
          <a:xfrm>
            <a:off x="548640" y="1737360"/>
            <a:ext cx="11094415" cy="1188720"/>
          </a:xfrm>
          <a:prstGeom prst="rect">
            <a:avLst/>
          </a:prstGeom>
          <a:noFill/>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3" name="Text 0"/>
          <p:cNvSpPr/>
          <p:nvPr>
            <p:ph type="body" idx="101" hasCustomPrompt="1"/>
          </p:nvPr>
        </p:nvSpPr>
        <p:spPr>
          <a:xfrm>
            <a:off x="548640" y="3108960"/>
            <a:ext cx="11094415" cy="822960"/>
          </a:xfrm>
          <a:prstGeom prst="rect">
            <a:avLst/>
          </a:prstGeom>
          <a:noFill/>
        </p:spPr>
        <p:txBody>
          <a:bodyPr wrap="square" rtlCol="0"/>
          <a:lstStyle>
            <a:lvl1pPr marL="0" indent="0" algn="l">
              <a:buNone/>
              <a:defRPr lang="en-US" sz="2200" dirty="0">
                <a:solidFill>
                  <a:schemeClr val="accent5"/>
                </a:solidFill>
              </a:defRPr>
            </a:lvl1pPr>
          </a:lstStyle>
          <a:p>
            <a:pPr marL="0" indent="0" algn="l">
              <a:buNone/>
            </a:pPr>
            <a:endParaRPr lang="en-US" sz="2200" dirty="0"/>
          </a:p>
        </p:txBody>
      </p:sp>
      <p:sp>
        <p:nvSpPr>
          <p:cNvPr id="4" name="Text 0"/>
          <p:cNvSpPr/>
          <p:nvPr>
            <p:ph type="body" idx="102" hasCustomPrompt="1"/>
          </p:nvPr>
        </p:nvSpPr>
        <p:spPr>
          <a:xfrm>
            <a:off x="548640" y="4663440"/>
            <a:ext cx="11094415" cy="1371600"/>
          </a:xfrm>
          <a:prstGeom prst="rect">
            <a:avLst/>
          </a:prstGeom>
          <a:noFill/>
        </p:spPr>
        <p:txBody>
          <a:bodyPr wrap="square" rtlCol="0"/>
          <a:lstStyle>
            <a:lvl1pPr marL="0" indent="0" algn="l">
              <a:buNone/>
              <a:defRPr lang="en-US" sz="1800" dirty="0">
                <a:solidFill>
                  <a:schemeClr val="bg1"/>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p:nvPr>
            <p:ph type="title" idx="100" hasCustomPrompt="1"/>
          </p:nvPr>
        </p:nvSpPr>
        <p:spPr>
          <a:xfrm>
            <a:off x="548640" y="365760"/>
            <a:ext cx="11094415" cy="731520"/>
          </a:xfrm>
          <a:prstGeom prst="rect">
            <a:avLst/>
          </a:prstGeom>
          <a:noFill/>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002975" y="6355080"/>
            <a:ext cx="640080" cy="365760"/>
          </a:xfrm>
          <a:prstGeom prst="rect">
            <a:avLst/>
          </a:prstGeom>
        </p:spPr>
        <p:txBody>
          <a:bodyPr/>
          <a:lstStyle>
            <a:lvl1pPr>
              <a:defRPr sz="1800">
                <a:solidFill>
                  <a:schemeClr val="accent3"/>
                </a:solidFill>
              </a:defRPr>
            </a:lvl1pPr>
          </a:lstStyle>
          <a:p>
            <a:pPr algn="r"/>
            <a:fld id="{F7021451-1387-4CA6-816F-3879F97B5CBC}" type="slidenum">
              <a:rPr lang="en-US" b="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4" Type="http://schemas.openxmlformats.org/officeDocument/2006/relationships/theme" Target="../theme/theme1.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355080"/>
            <a:ext cx="640080" cy="365760"/>
          </a:xfrm>
          <a:prstGeom prst="rect">
            <a:avLst/>
          </a:prstGeom>
        </p:spPr>
        <p:txBody>
          <a:bodyPr/>
          <a:lstStyle>
            <a:lvl1pPr>
              <a:defRPr sz="1800">
                <a:solidFill>
                  <a:schemeClr val="accent3"/>
                </a:solidFill>
              </a:defRPr>
            </a:lvl1pPr>
          </a:lstStyle>
          <a:p>
            <a:pPr algn="r"/>
            <a:fld id="{F7021451-1387-4CA6-816F-3879F97B5CBC}" type="slidenum">
              <a:rPr lang="en-US" b="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1" Type="http://schemas.openxmlformats.org/officeDocument/2006/relationships/notesSlide" Target="../notesSlides/notesSlide2.xml"/><Relationship Id="rId10" Type="http://schemas.openxmlformats.org/officeDocument/2006/relationships/slideLayout" Target="../slideLayouts/slideLayout3.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p:nvPr>
            <p:ph type="title" idx="100" hasCustomPrompt="1"/>
          </p:nvPr>
        </p:nvSpPr>
        <p:spPr>
          <a:xfrm>
            <a:off x="548640" y="1737360"/>
            <a:ext cx="11094415" cy="1188720"/>
          </a:xfrm>
          <a:prstGeom prst="rect">
            <a:avLst/>
          </a:prstGeom>
          <a:noFill/>
        </p:spPr>
        <p:txBody>
          <a:bodyPr wrap="square" lIns="0" tIns="0" rIns="0" bIns="0" rtlCol="0" anchor="b"/>
          <a:lstStyle/>
          <a:p>
            <a:pPr marL="0" indent="0" algn="l">
              <a:buNone/>
            </a:pPr>
            <a:r>
              <a:rPr lang="en-US" sz="3600" b="1" dirty="0">
                <a:solidFill>
                  <a:schemeClr val="bg1"/>
                </a:solidFill>
              </a:rPr>
              <a:t>From Event </a:t>
            </a:r>
            <a:r>
              <a:rPr lang="en-US" sz="3600" b="1" dirty="0">
                <a:solidFill>
                  <a:schemeClr val="bg1"/>
                </a:solidFill>
              </a:rPr>
              <a:t>Cognition to Relational Learning</a:t>
            </a:r>
            <a:endParaRPr lang="en-US" sz="3600" dirty="0"/>
          </a:p>
        </p:txBody>
      </p:sp>
      <p:sp>
        <p:nvSpPr>
          <p:cNvPr id="5" name="Text 0"/>
          <p:cNvSpPr/>
          <p:nvPr>
            <p:ph type="body" idx="102" hasCustomPrompt="1"/>
          </p:nvPr>
        </p:nvSpPr>
        <p:spPr>
          <a:xfrm>
            <a:off x="548640" y="4663440"/>
            <a:ext cx="11094415" cy="1371600"/>
          </a:xfrm>
          <a:prstGeom prst="rect">
            <a:avLst/>
          </a:prstGeom>
          <a:noFill/>
        </p:spPr>
        <p:txBody>
          <a:bodyPr wrap="square" lIns="0" tIns="0" rIns="0" bIns="0" rtlCol="0" anchor="t"/>
          <a:lstStyle/>
          <a:p>
            <a:pPr marL="0" indent="0" algn="l">
              <a:buNone/>
            </a:pPr>
            <a:r>
              <a:rPr lang="en-US" sz="1800" b="1" dirty="0">
                <a:solidFill>
                  <a:schemeClr val="bg1"/>
                </a:solidFill>
              </a:rPr>
              <a:t>Xiaotao Liu</a:t>
            </a:r>
            <a:endParaRPr lang="en-US" sz="1800" dirty="0"/>
          </a:p>
          <a:p>
            <a:pPr marL="0" indent="0" algn="l">
              <a:buNone/>
            </a:pPr>
            <a:r>
              <a:rPr lang="en-US" sz="1800" dirty="0">
                <a:solidFill>
                  <a:schemeClr val="bg1"/>
                </a:solidFill>
              </a:rPr>
              <a:t>PhD candidate, University of Auckland</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548640" y="365760"/>
            <a:ext cx="11094415" cy="731520"/>
          </a:xfrm>
          <a:prstGeom prst="rect">
            <a:avLst/>
          </a:prstGeom>
          <a:noFill/>
        </p:spPr>
        <p:txBody>
          <a:bodyPr wrap="square" lIns="0" tIns="0" rIns="0" bIns="0" rtlCol="0" anchor="ctr"/>
          <a:lstStyle/>
          <a:p>
            <a:pPr marL="0" indent="0" algn="l">
              <a:buNone/>
            </a:pPr>
            <a:r>
              <a:rPr lang="en-US" sz="3000" b="1" dirty="0">
                <a:solidFill>
                  <a:schemeClr val="tx2"/>
                </a:solidFill>
              </a:rPr>
              <a:t>One question across my work</a:t>
            </a:r>
            <a:endParaRPr lang="en-US" sz="3000" dirty="0"/>
          </a:p>
        </p:txBody>
      </p:sp>
      <p:sp>
        <p:nvSpPr>
          <p:cNvPr id="4" name="Shape 1"/>
          <p:cNvSpPr/>
          <p:nvPr/>
        </p:nvSpPr>
        <p:spPr>
          <a:xfrm>
            <a:off x="548640" y="1371600"/>
            <a:ext cx="5486400" cy="4480560"/>
          </a:xfrm>
          <a:prstGeom prst="roundRect">
            <a:avLst>
              <a:gd name="adj" fmla="val 2041"/>
            </a:avLst>
          </a:prstGeom>
          <a:solidFill>
            <a:schemeClr val="bg2"/>
          </a:solidFill>
        </p:spPr>
      </p:sp>
      <p:sp>
        <p:nvSpPr>
          <p:cNvPr id="5" name="Text 2"/>
          <p:cNvSpPr txBox="1"/>
          <p:nvPr/>
        </p:nvSpPr>
        <p:spPr>
          <a:xfrm>
            <a:off x="966470" y="2199640"/>
            <a:ext cx="4937760" cy="411480"/>
          </a:xfrm>
          <a:prstGeom prst="rect">
            <a:avLst/>
          </a:prstGeom>
          <a:noFill/>
        </p:spPr>
        <p:txBody>
          <a:bodyPr wrap="square" lIns="0" tIns="0" rIns="0" bIns="0" rtlCol="0" anchor="t"/>
          <a:lstStyle/>
          <a:p>
            <a:pPr marL="0" indent="0">
              <a:buNone/>
            </a:pPr>
            <a:r>
              <a:rPr lang="en-US" sz="2200" b="1" dirty="0">
                <a:solidFill>
                  <a:schemeClr val="tx2"/>
                </a:solidFill>
              </a:rPr>
              <a:t>How do adults and children encode process events?</a:t>
            </a:r>
            <a:endParaRPr lang="en-US" sz="2200" dirty="0"/>
          </a:p>
        </p:txBody>
      </p:sp>
      <p:sp>
        <p:nvSpPr>
          <p:cNvPr id="9" name="Shape 6"/>
          <p:cNvSpPr/>
          <p:nvPr>
            <p:custDataLst>
              <p:tags r:id="rId1"/>
            </p:custDataLst>
          </p:nvPr>
        </p:nvSpPr>
        <p:spPr>
          <a:xfrm>
            <a:off x="6583680" y="1508760"/>
            <a:ext cx="548640" cy="548640"/>
          </a:xfrm>
          <a:prstGeom prst="ellipse">
            <a:avLst/>
          </a:prstGeom>
          <a:solidFill>
            <a:schemeClr val="accent1"/>
          </a:solidFill>
        </p:spPr>
      </p:sp>
      <p:sp>
        <p:nvSpPr>
          <p:cNvPr id="10" name="Text 7"/>
          <p:cNvSpPr txBox="1"/>
          <p:nvPr>
            <p:custDataLst>
              <p:tags r:id="rId2"/>
            </p:custDataLst>
          </p:nvPr>
        </p:nvSpPr>
        <p:spPr>
          <a:xfrm>
            <a:off x="6583680" y="1508760"/>
            <a:ext cx="548640" cy="548640"/>
          </a:xfrm>
          <a:prstGeom prst="rect">
            <a:avLst/>
          </a:prstGeom>
          <a:noFill/>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11" name="Text 8"/>
          <p:cNvSpPr txBox="1"/>
          <p:nvPr>
            <p:custDataLst>
              <p:tags r:id="rId3"/>
            </p:custDataLst>
          </p:nvPr>
        </p:nvSpPr>
        <p:spPr>
          <a:xfrm>
            <a:off x="7360920" y="1463040"/>
            <a:ext cx="4282135" cy="1188720"/>
          </a:xfrm>
          <a:prstGeom prst="rect">
            <a:avLst/>
          </a:prstGeom>
          <a:noFill/>
        </p:spPr>
        <p:txBody>
          <a:bodyPr wrap="square" lIns="0" tIns="0" rIns="0" bIns="0" rtlCol="0" anchor="t"/>
          <a:lstStyle/>
          <a:p>
            <a:pPr marL="0" indent="0">
              <a:buNone/>
            </a:pPr>
            <a:r>
              <a:rPr lang="en-US" sz="2200" b="1" dirty="0">
                <a:solidFill>
                  <a:schemeClr val="tx2"/>
                </a:solidFill>
              </a:rPr>
              <a:t>Adults</a:t>
            </a:r>
            <a:endParaRPr lang="en-US" sz="1800" dirty="0"/>
          </a:p>
          <a:p>
            <a:pPr marL="0" indent="0">
              <a:buNone/>
            </a:pPr>
            <a:r>
              <a:rPr lang="en-US" altLang="zh-CN" sz="1800" dirty="0"/>
              <a:t>Language-modulated event processing in English and Mandarin</a:t>
            </a:r>
            <a:endParaRPr lang="en-US" altLang="zh-CN" sz="1800" dirty="0"/>
          </a:p>
        </p:txBody>
      </p:sp>
      <p:sp>
        <p:nvSpPr>
          <p:cNvPr id="12" name="Shape 9"/>
          <p:cNvSpPr/>
          <p:nvPr>
            <p:custDataLst>
              <p:tags r:id="rId4"/>
            </p:custDataLst>
          </p:nvPr>
        </p:nvSpPr>
        <p:spPr>
          <a:xfrm>
            <a:off x="6583680" y="2971800"/>
            <a:ext cx="548640" cy="548640"/>
          </a:xfrm>
          <a:prstGeom prst="ellipse">
            <a:avLst/>
          </a:prstGeom>
          <a:solidFill>
            <a:schemeClr val="accent1"/>
          </a:solidFill>
        </p:spPr>
      </p:sp>
      <p:sp>
        <p:nvSpPr>
          <p:cNvPr id="13" name="Text 10"/>
          <p:cNvSpPr txBox="1"/>
          <p:nvPr>
            <p:custDataLst>
              <p:tags r:id="rId5"/>
            </p:custDataLst>
          </p:nvPr>
        </p:nvSpPr>
        <p:spPr>
          <a:xfrm>
            <a:off x="6583680" y="2971800"/>
            <a:ext cx="548640" cy="548640"/>
          </a:xfrm>
          <a:prstGeom prst="rect">
            <a:avLst/>
          </a:prstGeom>
          <a:noFill/>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4" name="Text 11"/>
          <p:cNvSpPr txBox="1"/>
          <p:nvPr>
            <p:custDataLst>
              <p:tags r:id="rId6"/>
            </p:custDataLst>
          </p:nvPr>
        </p:nvSpPr>
        <p:spPr>
          <a:xfrm>
            <a:off x="7360920" y="2926080"/>
            <a:ext cx="4282135" cy="1188720"/>
          </a:xfrm>
          <a:prstGeom prst="rect">
            <a:avLst/>
          </a:prstGeom>
          <a:noFill/>
        </p:spPr>
        <p:txBody>
          <a:bodyPr wrap="square" lIns="0" tIns="0" rIns="0" bIns="0" rtlCol="0" anchor="t"/>
          <a:lstStyle/>
          <a:p>
            <a:pPr marL="0" indent="0">
              <a:buNone/>
            </a:pPr>
            <a:r>
              <a:rPr lang="en-US" sz="2200" b="1" dirty="0">
                <a:solidFill>
                  <a:schemeClr val="tx2"/>
                </a:solidFill>
              </a:rPr>
              <a:t>Children</a:t>
            </a:r>
            <a:endParaRPr lang="en-US" sz="1800" dirty="0"/>
          </a:p>
          <a:p>
            <a:pPr marL="0" indent="0">
              <a:buNone/>
            </a:pPr>
            <a:r>
              <a:rPr lang="en-US" altLang="zh-CN" sz="1800" dirty="0"/>
              <a:t>1.Interpreting and describing actions and results 2.Learning superordinate nouns from the input</a:t>
            </a:r>
            <a:endParaRPr lang="en-US" altLang="zh-CN" sz="1800" dirty="0"/>
          </a:p>
        </p:txBody>
      </p:sp>
      <p:sp>
        <p:nvSpPr>
          <p:cNvPr id="15" name="Shape 12"/>
          <p:cNvSpPr/>
          <p:nvPr>
            <p:custDataLst>
              <p:tags r:id="rId7"/>
            </p:custDataLst>
          </p:nvPr>
        </p:nvSpPr>
        <p:spPr>
          <a:xfrm>
            <a:off x="6583680" y="4434840"/>
            <a:ext cx="548640" cy="548640"/>
          </a:xfrm>
          <a:prstGeom prst="ellipse">
            <a:avLst/>
          </a:prstGeom>
          <a:solidFill>
            <a:schemeClr val="accent2"/>
          </a:solidFill>
        </p:spPr>
      </p:sp>
      <p:sp>
        <p:nvSpPr>
          <p:cNvPr id="16" name="Text 13"/>
          <p:cNvSpPr txBox="1"/>
          <p:nvPr>
            <p:custDataLst>
              <p:tags r:id="rId8"/>
            </p:custDataLst>
          </p:nvPr>
        </p:nvSpPr>
        <p:spPr>
          <a:xfrm>
            <a:off x="6583680" y="4434840"/>
            <a:ext cx="548640" cy="548640"/>
          </a:xfrm>
          <a:prstGeom prst="rect">
            <a:avLst/>
          </a:prstGeom>
          <a:noFill/>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7" name="Text 14"/>
          <p:cNvSpPr txBox="1"/>
          <p:nvPr>
            <p:custDataLst>
              <p:tags r:id="rId9"/>
            </p:custDataLst>
          </p:nvPr>
        </p:nvSpPr>
        <p:spPr>
          <a:xfrm>
            <a:off x="7360920" y="4420235"/>
            <a:ext cx="4282135" cy="1188720"/>
          </a:xfrm>
          <a:prstGeom prst="rect">
            <a:avLst/>
          </a:prstGeom>
          <a:noFill/>
        </p:spPr>
        <p:txBody>
          <a:bodyPr wrap="square" lIns="0" tIns="0" rIns="0" bIns="0" rtlCol="0" anchor="t"/>
          <a:lstStyle/>
          <a:p>
            <a:pPr marL="0" indent="0">
              <a:buNone/>
            </a:pPr>
            <a:r>
              <a:rPr lang="en-US" sz="2200" b="1" dirty="0">
                <a:solidFill>
                  <a:schemeClr val="tx2"/>
                </a:solidFill>
              </a:rPr>
              <a:t>Next: three directions</a:t>
            </a:r>
            <a:endParaRPr lang="en-US" sz="1800" dirty="0"/>
          </a:p>
          <a:p>
            <a:pPr marL="0" indent="0">
              <a:buNone/>
            </a:pPr>
            <a:r>
              <a:rPr lang="en-US" altLang="zh-CN" sz="1800" dirty="0"/>
              <a:t>1.When children learn event relations</a:t>
            </a:r>
            <a:endParaRPr lang="en-US" altLang="zh-CN" sz="1800" dirty="0"/>
          </a:p>
          <a:p>
            <a:pPr marL="0" indent="0">
              <a:buNone/>
            </a:pPr>
            <a:r>
              <a:rPr lang="en-US" altLang="zh-CN" sz="1800" dirty="0"/>
              <a:t>2.Whether language helps them abstract relations</a:t>
            </a:r>
            <a:endParaRPr lang="en-US" altLang="zh-CN" sz="1800" dirty="0"/>
          </a:p>
          <a:p>
            <a:pPr marL="0" indent="0">
              <a:buNone/>
            </a:pPr>
            <a:r>
              <a:rPr lang="en-US" altLang="zh-CN" sz="1800" dirty="0"/>
              <a:t>3.Whether language models capture these relations</a:t>
            </a:r>
            <a:endParaRPr lang="en-US" altLang="zh-CN" sz="1800" dirty="0"/>
          </a:p>
          <a:p>
            <a:pPr marL="0" indent="0">
              <a:buNone/>
            </a:pPr>
            <a:endParaRPr lang="en-US" altLang="zh-CN" sz="1800" dirty="0"/>
          </a:p>
        </p:txBody>
      </p:sp>
      <p:sp>
        <p:nvSpPr>
          <p:cNvPr id="25" name="Slide Number Placeholder 0"/>
          <p:cNvSpPr>
            <a:spLocks noGrp="1"/>
          </p:cNvSpPr>
          <p:nvPr>
            <p:ph type="sldNum" sz="quarter" idx="4294967295"/>
          </p:nvPr>
        </p:nvSpPr>
        <p:spPr>
          <a:xfrm>
            <a:off x="11002975" y="6355080"/>
            <a:ext cx="640080" cy="365760"/>
          </a:xfrm>
          <a:prstGeom prst="rect">
            <a:avLst/>
          </a:prstGeom>
        </p:spPr>
        <p:txBody>
          <a:bodyPr/>
          <a:lstStyle>
            <a:lvl1pPr>
              <a:defRPr sz="1800">
                <a:solidFill>
                  <a:schemeClr val="accent3"/>
                </a:solidFill>
              </a:defRPr>
            </a:lvl1pPr>
          </a:lstStyle>
          <a:p>
            <a:pPr algn="r"/>
            <a:fld id="{F7021451-1387-4CA6-816F-3879F97B5CBC}" type="slidenum">
              <a:rPr lang="en-US" b="0"/>
            </a:fld>
            <a:endParaRPr lang="en-US"/>
          </a:p>
        </p:txBody>
      </p:sp>
      <p:sp>
        <p:nvSpPr>
          <p:cNvPr id="3" name="文本框 2"/>
          <p:cNvSpPr txBox="1"/>
          <p:nvPr/>
        </p:nvSpPr>
        <p:spPr>
          <a:xfrm>
            <a:off x="840740" y="3429000"/>
            <a:ext cx="4861560" cy="1783715"/>
          </a:xfrm>
          <a:prstGeom prst="rect">
            <a:avLst/>
          </a:prstGeom>
          <a:noFill/>
        </p:spPr>
        <p:txBody>
          <a:bodyPr wrap="square" rtlCol="0" anchor="t">
            <a:spAutoFit/>
          </a:bodyPr>
          <a:p>
            <a:r>
              <a:rPr lang="en-US" altLang="zh-CN" sz="2200" b="1" dirty="0">
                <a:solidFill>
                  <a:schemeClr val="accent2"/>
                </a:solidFill>
                <a:sym typeface="+mn-ea"/>
              </a:rPr>
              <a:t>Events are relational at their core: an action relates an object’s state before to its state after. That makes event encoding a natural place to study how children learn relations</a:t>
            </a:r>
            <a:endParaRPr lang="en-US" altLang="zh-CN" sz="2200" b="1" dirty="0">
              <a:solidFill>
                <a:schemeClr val="accent2"/>
              </a:solidFill>
              <a:sym typeface="+mn-e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548640" y="365760"/>
            <a:ext cx="11094415" cy="731520"/>
          </a:xfrm>
          <a:prstGeom prst="rect">
            <a:avLst/>
          </a:prstGeom>
          <a:noFill/>
        </p:spPr>
        <p:txBody>
          <a:bodyPr wrap="square" lIns="0" tIns="0" rIns="0" bIns="0" rtlCol="0" anchor="ctr"/>
          <a:lstStyle/>
          <a:p>
            <a:pPr marL="0" indent="0" algn="l">
              <a:buNone/>
            </a:pPr>
            <a:r>
              <a:rPr lang="en-US" sz="3000" b="1" dirty="0">
                <a:solidFill>
                  <a:schemeClr val="tx2"/>
                </a:solidFill>
              </a:rPr>
              <a:t>Adults: Event processing at two levels</a:t>
            </a:r>
            <a:endParaRPr lang="en-US" sz="3000" dirty="0"/>
          </a:p>
        </p:txBody>
      </p:sp>
      <p:sp>
        <p:nvSpPr>
          <p:cNvPr id="4" name="Text 1"/>
          <p:cNvSpPr txBox="1"/>
          <p:nvPr/>
        </p:nvSpPr>
        <p:spPr>
          <a:xfrm>
            <a:off x="548640" y="1371600"/>
            <a:ext cx="4663440" cy="1234440"/>
          </a:xfrm>
          <a:prstGeom prst="rect">
            <a:avLst/>
          </a:prstGeom>
          <a:noFill/>
        </p:spPr>
        <p:txBody>
          <a:bodyPr wrap="square" lIns="0" tIns="0" rIns="0" bIns="0" rtlCol="0" anchor="t"/>
          <a:lstStyle/>
          <a:p>
            <a:pPr marL="0" indent="0">
              <a:buNone/>
            </a:pPr>
            <a:r>
              <a:rPr lang="en-US" sz="2200" b="1" dirty="0">
                <a:solidFill>
                  <a:schemeClr val="tx2"/>
                </a:solidFill>
              </a:rPr>
              <a:t>Question</a:t>
            </a:r>
            <a:endParaRPr lang="en-US" sz="1800" dirty="0"/>
          </a:p>
          <a:p>
            <a:pPr marL="0" indent="0">
              <a:buNone/>
            </a:pPr>
            <a:r>
              <a:rPr lang="en-US" sz="1800" dirty="0">
                <a:solidFill>
                  <a:schemeClr val="tx1"/>
                </a:solidFill>
              </a:rPr>
              <a:t>Does how different language encodes events align with how speakers process them?</a:t>
            </a:r>
            <a:endParaRPr lang="en-US" sz="1800" dirty="0"/>
          </a:p>
        </p:txBody>
      </p:sp>
      <p:sp>
        <p:nvSpPr>
          <p:cNvPr id="5" name="Text 2"/>
          <p:cNvSpPr txBox="1"/>
          <p:nvPr/>
        </p:nvSpPr>
        <p:spPr>
          <a:xfrm>
            <a:off x="548640" y="2697480"/>
            <a:ext cx="4663440" cy="1234440"/>
          </a:xfrm>
          <a:prstGeom prst="rect">
            <a:avLst/>
          </a:prstGeom>
          <a:noFill/>
        </p:spPr>
        <p:txBody>
          <a:bodyPr wrap="square" lIns="0" tIns="0" rIns="0" bIns="0" rtlCol="0" anchor="t"/>
          <a:lstStyle/>
          <a:p>
            <a:pPr marL="0" indent="0">
              <a:buNone/>
            </a:pPr>
            <a:r>
              <a:rPr lang="en-US" sz="2200" b="1" dirty="0">
                <a:solidFill>
                  <a:schemeClr val="tx2"/>
                </a:solidFill>
              </a:rPr>
              <a:t>Design</a:t>
            </a:r>
            <a:endParaRPr lang="en-US" sz="1800" dirty="0"/>
          </a:p>
          <a:p>
            <a:pPr marL="0" indent="0">
              <a:buNone/>
            </a:pPr>
            <a:r>
              <a:rPr lang="en-US" sz="1800" dirty="0">
                <a:solidFill>
                  <a:schemeClr val="tx1"/>
                </a:solidFill>
              </a:rPr>
              <a:t>English vs. Mandarin; </a:t>
            </a:r>
            <a:endParaRPr lang="en-US" sz="1800" dirty="0">
              <a:solidFill>
                <a:schemeClr val="tx1"/>
              </a:solidFill>
            </a:endParaRPr>
          </a:p>
          <a:p>
            <a:pPr marL="0" indent="0">
              <a:buNone/>
            </a:pPr>
            <a:r>
              <a:rPr lang="en-US" sz="1800" dirty="0">
                <a:solidFill>
                  <a:schemeClr val="tx1"/>
                </a:solidFill>
              </a:rPr>
              <a:t>44 cut and blend videos; </a:t>
            </a:r>
            <a:endParaRPr lang="en-US" sz="1800" dirty="0">
              <a:solidFill>
                <a:schemeClr val="tx1"/>
              </a:solidFill>
            </a:endParaRPr>
          </a:p>
          <a:p>
            <a:pPr marL="0" indent="0">
              <a:buNone/>
            </a:pPr>
            <a:r>
              <a:rPr lang="en-US" sz="1800" dirty="0">
                <a:solidFill>
                  <a:schemeClr val="tx1"/>
                </a:solidFill>
              </a:rPr>
              <a:t>five experiments, 400 </a:t>
            </a:r>
            <a:r>
              <a:rPr lang="en-US" sz="1800" dirty="0">
                <a:solidFill>
                  <a:schemeClr val="tx1"/>
                </a:solidFill>
              </a:rPr>
              <a:t>participants</a:t>
            </a:r>
            <a:endParaRPr lang="en-US" sz="1800" dirty="0">
              <a:solidFill>
                <a:schemeClr val="tx1"/>
              </a:solidFill>
            </a:endParaRPr>
          </a:p>
        </p:txBody>
      </p:sp>
      <p:sp>
        <p:nvSpPr>
          <p:cNvPr id="6" name="Text 3"/>
          <p:cNvSpPr txBox="1"/>
          <p:nvPr/>
        </p:nvSpPr>
        <p:spPr>
          <a:xfrm>
            <a:off x="548640" y="4023360"/>
            <a:ext cx="4664075" cy="1234440"/>
          </a:xfrm>
          <a:prstGeom prst="rect">
            <a:avLst/>
          </a:prstGeom>
          <a:noFill/>
        </p:spPr>
        <p:txBody>
          <a:bodyPr wrap="square" lIns="0" tIns="0" rIns="0" bIns="0" rtlCol="0" anchor="t"/>
          <a:lstStyle/>
          <a:p>
            <a:pPr marL="0" indent="0">
              <a:buNone/>
            </a:pPr>
            <a:r>
              <a:rPr lang="en-US" sz="2200" b="1" dirty="0">
                <a:solidFill>
                  <a:schemeClr val="accent2"/>
                </a:solidFill>
              </a:rPr>
              <a:t>Finding</a:t>
            </a:r>
            <a:endParaRPr lang="en-US" sz="1800" dirty="0"/>
          </a:p>
          <a:p>
            <a:pPr marL="0" indent="0">
              <a:buNone/>
            </a:pPr>
            <a:r>
              <a:rPr lang="en-US" sz="1800" dirty="0">
                <a:solidFill>
                  <a:schemeClr val="tx1"/>
                </a:solidFill>
              </a:rPr>
              <a:t>Lexical cues align with event component </a:t>
            </a:r>
            <a:r>
              <a:rPr lang="en-US" sz="1800" dirty="0">
                <a:solidFill>
                  <a:schemeClr val="tx1"/>
                </a:solidFill>
              </a:rPr>
              <a:t>processing; </a:t>
            </a:r>
            <a:endParaRPr lang="en-US" sz="1800" dirty="0">
              <a:solidFill>
                <a:schemeClr val="tx1"/>
              </a:solidFill>
            </a:endParaRPr>
          </a:p>
          <a:p>
            <a:pPr marL="0" indent="0">
              <a:buNone/>
            </a:pPr>
            <a:r>
              <a:rPr lang="en-US" sz="1800" dirty="0">
                <a:solidFill>
                  <a:schemeClr val="tx1"/>
                </a:solidFill>
              </a:rPr>
              <a:t>Predicate cues align with event boundary </a:t>
            </a:r>
            <a:r>
              <a:rPr lang="en-US" sz="1800" dirty="0">
                <a:solidFill>
                  <a:schemeClr val="tx1"/>
                </a:solidFill>
              </a:rPr>
              <a:t>processing.</a:t>
            </a:r>
            <a:endParaRPr lang="en-US" sz="1800" dirty="0"/>
          </a:p>
        </p:txBody>
      </p:sp>
      <p:sp>
        <p:nvSpPr>
          <p:cNvPr id="7" name="Shape 4"/>
          <p:cNvSpPr/>
          <p:nvPr/>
        </p:nvSpPr>
        <p:spPr>
          <a:xfrm>
            <a:off x="5623560" y="1325880"/>
            <a:ext cx="6302375" cy="4199255"/>
          </a:xfrm>
          <a:prstGeom prst="roundRect">
            <a:avLst>
              <a:gd name="adj" fmla="val 2326"/>
            </a:avLst>
          </a:prstGeom>
          <a:solidFill>
            <a:schemeClr val="bg2"/>
          </a:solidFill>
        </p:spPr>
      </p:sp>
      <p:sp>
        <p:nvSpPr>
          <p:cNvPr id="8" name="Text 5"/>
          <p:cNvSpPr txBox="1"/>
          <p:nvPr/>
        </p:nvSpPr>
        <p:spPr>
          <a:xfrm>
            <a:off x="5748655" y="1457325"/>
            <a:ext cx="6103620" cy="502285"/>
          </a:xfrm>
          <a:prstGeom prst="rect">
            <a:avLst/>
          </a:prstGeom>
          <a:noFill/>
        </p:spPr>
        <p:txBody>
          <a:bodyPr wrap="square" lIns="0" tIns="0" rIns="0" bIns="0" rtlCol="0" anchor="t"/>
          <a:lstStyle/>
          <a:p>
            <a:pPr marL="0" indent="0">
              <a:buNone/>
            </a:pPr>
            <a:r>
              <a:rPr lang="en-US" altLang="zh-CN" sz="2200" b="1" dirty="0">
                <a:solidFill>
                  <a:schemeClr val="tx2"/>
                </a:solidFill>
              </a:rPr>
              <a:t>Each level matches its own processing measure</a:t>
            </a:r>
            <a:endParaRPr lang="en-US" altLang="zh-CN" sz="2200" b="1" dirty="0">
              <a:solidFill>
                <a:schemeClr val="tx2"/>
              </a:solidFill>
            </a:endParaRPr>
          </a:p>
        </p:txBody>
      </p:sp>
      <p:sp>
        <p:nvSpPr>
          <p:cNvPr id="9" name="Shape 6"/>
          <p:cNvSpPr/>
          <p:nvPr/>
        </p:nvSpPr>
        <p:spPr>
          <a:xfrm>
            <a:off x="5749290" y="1972310"/>
            <a:ext cx="2719070" cy="908050"/>
          </a:xfrm>
          <a:prstGeom prst="roundRect">
            <a:avLst>
              <a:gd name="adj" fmla="val 9412"/>
            </a:avLst>
          </a:prstGeom>
          <a:solidFill>
            <a:schemeClr val="bg1"/>
          </a:solidFill>
          <a:ln w="19050">
            <a:solidFill>
              <a:schemeClr val="accent1"/>
            </a:solidFill>
            <a:prstDash val="solid"/>
          </a:ln>
        </p:spPr>
      </p:sp>
      <p:sp>
        <p:nvSpPr>
          <p:cNvPr id="10" name="Text 7"/>
          <p:cNvSpPr txBox="1"/>
          <p:nvPr/>
        </p:nvSpPr>
        <p:spPr>
          <a:xfrm>
            <a:off x="5748655" y="1817370"/>
            <a:ext cx="2859405" cy="1139190"/>
          </a:xfrm>
          <a:prstGeom prst="rect">
            <a:avLst/>
          </a:prstGeom>
          <a:noFill/>
        </p:spPr>
        <p:txBody>
          <a:bodyPr wrap="square" lIns="0" tIns="0" rIns="0" bIns="0" rtlCol="0" anchor="ctr"/>
          <a:lstStyle/>
          <a:p>
            <a:pPr marL="0" indent="0" algn="ctr">
              <a:buNone/>
            </a:pPr>
            <a:r>
              <a:rPr lang="en-US" sz="1800" dirty="0">
                <a:solidFill>
                  <a:schemeClr val="tx1"/>
                </a:solidFill>
              </a:rPr>
              <a:t>Lexical: quantzied NPs (e.g., an orange), resultatives(e.g., cut in half)</a:t>
            </a:r>
            <a:endParaRPr lang="en-US" sz="1800" dirty="0"/>
          </a:p>
        </p:txBody>
      </p:sp>
      <p:sp>
        <p:nvSpPr>
          <p:cNvPr id="11" name="Shape 8"/>
          <p:cNvSpPr/>
          <p:nvPr/>
        </p:nvSpPr>
        <p:spPr>
          <a:xfrm>
            <a:off x="9034145" y="1962150"/>
            <a:ext cx="2678430" cy="918210"/>
          </a:xfrm>
          <a:prstGeom prst="roundRect">
            <a:avLst>
              <a:gd name="adj" fmla="val 9412"/>
            </a:avLst>
          </a:prstGeom>
          <a:solidFill>
            <a:schemeClr val="bg1"/>
          </a:solidFill>
          <a:ln w="19050">
            <a:solidFill>
              <a:schemeClr val="accent2"/>
            </a:solidFill>
            <a:prstDash val="solid"/>
          </a:ln>
        </p:spPr>
      </p:sp>
      <p:sp>
        <p:nvSpPr>
          <p:cNvPr id="12" name="Text 9"/>
          <p:cNvSpPr txBox="1"/>
          <p:nvPr/>
        </p:nvSpPr>
        <p:spPr>
          <a:xfrm>
            <a:off x="9034145" y="1675765"/>
            <a:ext cx="2442845" cy="1465580"/>
          </a:xfrm>
          <a:prstGeom prst="rect">
            <a:avLst/>
          </a:prstGeom>
          <a:noFill/>
        </p:spPr>
        <p:txBody>
          <a:bodyPr wrap="square" lIns="0" tIns="0" rIns="0" bIns="0" rtlCol="0" anchor="ctr"/>
          <a:lstStyle/>
          <a:p>
            <a:pPr marL="0" indent="0" algn="ctr">
              <a:buNone/>
            </a:pPr>
            <a:r>
              <a:rPr lang="en-US" sz="1800" dirty="0">
                <a:solidFill>
                  <a:schemeClr val="tx1"/>
                </a:solidFill>
              </a:rPr>
              <a:t>Event phases (early v.s. late interru</a:t>
            </a:r>
            <a:r>
              <a:rPr lang="en-US" sz="1800" dirty="0">
                <a:solidFill>
                  <a:schemeClr val="tx1"/>
                </a:solidFill>
              </a:rPr>
              <a:t>ption detection)</a:t>
            </a:r>
            <a:endParaRPr lang="en-US" sz="1800" dirty="0"/>
          </a:p>
        </p:txBody>
      </p:sp>
      <p:sp>
        <p:nvSpPr>
          <p:cNvPr id="13" name="Shape 10"/>
          <p:cNvSpPr/>
          <p:nvPr/>
        </p:nvSpPr>
        <p:spPr>
          <a:xfrm>
            <a:off x="8665693" y="2350008"/>
            <a:ext cx="274320" cy="274320"/>
          </a:xfrm>
          <a:prstGeom prst="rightArrow">
            <a:avLst/>
          </a:prstGeom>
          <a:solidFill>
            <a:schemeClr val="accent3"/>
          </a:solidFill>
        </p:spPr>
      </p:sp>
      <p:sp>
        <p:nvSpPr>
          <p:cNvPr id="14" name="Text 11"/>
          <p:cNvSpPr txBox="1"/>
          <p:nvPr/>
        </p:nvSpPr>
        <p:spPr>
          <a:xfrm>
            <a:off x="5852160" y="2926080"/>
            <a:ext cx="5562295" cy="411480"/>
          </a:xfrm>
          <a:prstGeom prst="rect">
            <a:avLst/>
          </a:prstGeom>
          <a:noFill/>
        </p:spPr>
        <p:txBody>
          <a:bodyPr wrap="square" lIns="0" tIns="0" rIns="0" bIns="0" rtlCol="0" anchor="t"/>
          <a:lstStyle/>
          <a:p>
            <a:pPr marL="0" indent="0">
              <a:buNone/>
            </a:pPr>
            <a:r>
              <a:rPr lang="en-US" sz="1800" i="1" dirty="0">
                <a:solidFill>
                  <a:schemeClr val="tx1"/>
                </a:solidFill>
              </a:rPr>
              <a:t>Blending: English early, Mandarin late</a:t>
            </a:r>
            <a:endParaRPr lang="en-US" sz="1800" dirty="0"/>
          </a:p>
        </p:txBody>
      </p:sp>
      <p:sp>
        <p:nvSpPr>
          <p:cNvPr id="15" name="Shape 12"/>
          <p:cNvSpPr/>
          <p:nvPr/>
        </p:nvSpPr>
        <p:spPr>
          <a:xfrm>
            <a:off x="5861050" y="3429000"/>
            <a:ext cx="2506828" cy="777240"/>
          </a:xfrm>
          <a:prstGeom prst="roundRect">
            <a:avLst>
              <a:gd name="adj" fmla="val 9412"/>
            </a:avLst>
          </a:prstGeom>
          <a:solidFill>
            <a:schemeClr val="bg1"/>
          </a:solidFill>
          <a:ln w="19050">
            <a:solidFill>
              <a:schemeClr val="accent1"/>
            </a:solidFill>
            <a:prstDash val="solid"/>
          </a:ln>
        </p:spPr>
      </p:sp>
      <p:sp>
        <p:nvSpPr>
          <p:cNvPr id="16" name="Text 13"/>
          <p:cNvSpPr txBox="1"/>
          <p:nvPr/>
        </p:nvSpPr>
        <p:spPr>
          <a:xfrm>
            <a:off x="5920105" y="3400425"/>
            <a:ext cx="2287270" cy="777240"/>
          </a:xfrm>
          <a:prstGeom prst="rect">
            <a:avLst/>
          </a:prstGeom>
          <a:noFill/>
        </p:spPr>
        <p:txBody>
          <a:bodyPr wrap="square" lIns="0" tIns="0" rIns="0" bIns="0" rtlCol="0" anchor="ctr"/>
          <a:lstStyle/>
          <a:p>
            <a:pPr marL="0" indent="0" algn="ctr">
              <a:buNone/>
            </a:pPr>
            <a:r>
              <a:rPr lang="en-US" sz="1800" dirty="0">
                <a:solidFill>
                  <a:schemeClr val="tx1"/>
                </a:solidFill>
              </a:rPr>
              <a:t>Predicate: </a:t>
            </a:r>
            <a:r>
              <a:rPr lang="en-US" altLang="zh-CN" sz="1800" dirty="0">
                <a:solidFill>
                  <a:schemeClr val="tx1"/>
                </a:solidFill>
              </a:rPr>
              <a:t>cut an orange up (has an inherent endpoint)</a:t>
            </a:r>
            <a:endParaRPr lang="en-US" altLang="zh-CN" sz="1800" dirty="0">
              <a:solidFill>
                <a:schemeClr val="tx1"/>
              </a:solidFill>
            </a:endParaRPr>
          </a:p>
        </p:txBody>
      </p:sp>
      <p:sp>
        <p:nvSpPr>
          <p:cNvPr id="17" name="Shape 14"/>
          <p:cNvSpPr/>
          <p:nvPr/>
        </p:nvSpPr>
        <p:spPr>
          <a:xfrm>
            <a:off x="9136228" y="3429000"/>
            <a:ext cx="2506828" cy="777240"/>
          </a:xfrm>
          <a:prstGeom prst="roundRect">
            <a:avLst>
              <a:gd name="adj" fmla="val 9412"/>
            </a:avLst>
          </a:prstGeom>
          <a:solidFill>
            <a:schemeClr val="bg1"/>
          </a:solidFill>
          <a:ln w="19050">
            <a:solidFill>
              <a:schemeClr val="accent2"/>
            </a:solidFill>
            <a:prstDash val="solid"/>
          </a:ln>
        </p:spPr>
      </p:sp>
      <p:sp>
        <p:nvSpPr>
          <p:cNvPr id="18" name="Text 15"/>
          <p:cNvSpPr txBox="1"/>
          <p:nvPr/>
        </p:nvSpPr>
        <p:spPr>
          <a:xfrm>
            <a:off x="9177376" y="340614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Event endpoints</a:t>
            </a:r>
            <a:endParaRPr lang="en-US" sz="1800" dirty="0">
              <a:solidFill>
                <a:schemeClr val="tx1"/>
              </a:solidFill>
            </a:endParaRPr>
          </a:p>
          <a:p>
            <a:pPr marL="0" indent="0" algn="ctr">
              <a:buNone/>
            </a:pPr>
            <a:r>
              <a:rPr lang="en-US" sz="1800" dirty="0">
                <a:solidFill>
                  <a:schemeClr val="tx1"/>
                </a:solidFill>
              </a:rPr>
              <a:t>(</a:t>
            </a:r>
            <a:r>
              <a:rPr lang="en-US" sz="1800" dirty="0">
                <a:solidFill>
                  <a:schemeClr val="tx1"/>
                </a:solidFill>
              </a:rPr>
              <a:t>boundary tapping)</a:t>
            </a:r>
            <a:endParaRPr lang="en-US" sz="1800" dirty="0"/>
          </a:p>
        </p:txBody>
      </p:sp>
      <p:sp>
        <p:nvSpPr>
          <p:cNvPr id="19" name="Shape 16"/>
          <p:cNvSpPr/>
          <p:nvPr/>
        </p:nvSpPr>
        <p:spPr>
          <a:xfrm>
            <a:off x="8665693" y="3686048"/>
            <a:ext cx="274320" cy="274320"/>
          </a:xfrm>
          <a:prstGeom prst="rightArrow">
            <a:avLst/>
          </a:prstGeom>
          <a:solidFill>
            <a:schemeClr val="accent3"/>
          </a:solidFill>
        </p:spPr>
      </p:sp>
      <p:sp>
        <p:nvSpPr>
          <p:cNvPr id="20" name="Text 17"/>
          <p:cNvSpPr txBox="1"/>
          <p:nvPr/>
        </p:nvSpPr>
        <p:spPr>
          <a:xfrm>
            <a:off x="5852160" y="4344670"/>
            <a:ext cx="5562295" cy="411480"/>
          </a:xfrm>
          <a:prstGeom prst="rect">
            <a:avLst/>
          </a:prstGeom>
          <a:noFill/>
        </p:spPr>
        <p:txBody>
          <a:bodyPr wrap="square" lIns="0" tIns="0" rIns="0" bIns="0" rtlCol="0" anchor="t"/>
          <a:lstStyle/>
          <a:p>
            <a:pPr marL="0" indent="0">
              <a:buNone/>
            </a:pPr>
            <a:r>
              <a:rPr lang="en-US" sz="1800" i="1" dirty="0">
                <a:solidFill>
                  <a:schemeClr val="tx1"/>
                </a:solidFill>
              </a:rPr>
              <a:t>Cutting: Mandarin ends 862 ms later</a:t>
            </a:r>
            <a:endParaRPr lang="en-US" sz="1800" dirty="0"/>
          </a:p>
        </p:txBody>
      </p:sp>
      <p:sp>
        <p:nvSpPr>
          <p:cNvPr id="21" name="Text 18"/>
          <p:cNvSpPr txBox="1"/>
          <p:nvPr/>
        </p:nvSpPr>
        <p:spPr>
          <a:xfrm>
            <a:off x="5914390" y="4754880"/>
            <a:ext cx="5562295" cy="640080"/>
          </a:xfrm>
          <a:prstGeom prst="rect">
            <a:avLst/>
          </a:prstGeom>
          <a:noFill/>
        </p:spPr>
        <p:txBody>
          <a:bodyPr wrap="square" lIns="0" tIns="0" rIns="0" bIns="0" rtlCol="0" anchor="ctr"/>
          <a:lstStyle/>
          <a:p>
            <a:pPr marL="0" algn="l">
              <a:buClrTx/>
              <a:buSzTx/>
              <a:buFontTx/>
              <a:buNone/>
            </a:pPr>
            <a:r>
              <a:rPr lang="en-US" b="1" dirty="0">
                <a:solidFill>
                  <a:schemeClr val="tx2"/>
                </a:solidFill>
              </a:rPr>
              <a:t>Brief </a:t>
            </a:r>
            <a:r>
              <a:rPr lang="en-US" b="1" dirty="0">
                <a:solidFill>
                  <a:schemeClr val="tx2"/>
                </a:solidFill>
              </a:rPr>
              <a:t>primes did not shift either level</a:t>
            </a:r>
            <a:endParaRPr lang="en-US" b="1" dirty="0">
              <a:solidFill>
                <a:schemeClr val="tx2"/>
              </a:solidFill>
            </a:endParaRPr>
          </a:p>
        </p:txBody>
      </p:sp>
      <p:sp>
        <p:nvSpPr>
          <p:cNvPr id="25" name="Slide Number Placeholder 0"/>
          <p:cNvSpPr>
            <a:spLocks noGrp="1"/>
          </p:cNvSpPr>
          <p:nvPr>
            <p:ph type="sldNum" sz="quarter" idx="4294967295"/>
          </p:nvPr>
        </p:nvSpPr>
        <p:spPr>
          <a:xfrm>
            <a:off x="11002975" y="6355080"/>
            <a:ext cx="640080" cy="365760"/>
          </a:xfrm>
          <a:prstGeom prst="rect">
            <a:avLst/>
          </a:prstGeom>
        </p:spPr>
        <p:txBody>
          <a:bodyPr/>
          <a:lstStyle>
            <a:lvl1pPr>
              <a:defRPr sz="1800">
                <a:solidFill>
                  <a:schemeClr val="accent3"/>
                </a:solidFill>
              </a:defRPr>
            </a:lvl1pPr>
          </a:lstStyle>
          <a:p>
            <a:pPr algn="r"/>
            <a:fld id="{F7021451-1387-4CA6-816F-3879F97B5CBC}" type="slidenum">
              <a:rPr lang="en-US" b="0"/>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548640" y="354330"/>
            <a:ext cx="11094415" cy="731520"/>
          </a:xfrm>
          <a:prstGeom prst="rect">
            <a:avLst/>
          </a:prstGeom>
          <a:noFill/>
        </p:spPr>
        <p:txBody>
          <a:bodyPr wrap="square" lIns="0" tIns="0" rIns="0" bIns="0" rtlCol="0" anchor="ctr"/>
          <a:lstStyle/>
          <a:p>
            <a:pPr marL="0" indent="0" algn="l">
              <a:buNone/>
            </a:pPr>
            <a:r>
              <a:rPr lang="en-US" sz="3000" b="1" dirty="0">
                <a:solidFill>
                  <a:schemeClr val="tx2"/>
                </a:solidFill>
              </a:rPr>
              <a:t> Mandarin Children’s action–result language</a:t>
            </a:r>
            <a:endParaRPr lang="en-US" sz="3000" dirty="0"/>
          </a:p>
        </p:txBody>
      </p:sp>
      <p:sp>
        <p:nvSpPr>
          <p:cNvPr id="4" name="Text 1"/>
          <p:cNvSpPr txBox="1"/>
          <p:nvPr/>
        </p:nvSpPr>
        <p:spPr>
          <a:xfrm>
            <a:off x="548640" y="1371600"/>
            <a:ext cx="4663440" cy="1234440"/>
          </a:xfrm>
          <a:prstGeom prst="rect">
            <a:avLst/>
          </a:prstGeom>
          <a:noFill/>
        </p:spPr>
        <p:txBody>
          <a:bodyPr wrap="square" lIns="0" tIns="0" rIns="0" bIns="0" rtlCol="0" anchor="t"/>
          <a:lstStyle/>
          <a:p>
            <a:pPr marL="0" indent="0">
              <a:buNone/>
            </a:pPr>
            <a:r>
              <a:rPr lang="en-US" sz="2200" b="1" dirty="0">
                <a:solidFill>
                  <a:schemeClr val="tx2"/>
                </a:solidFill>
              </a:rPr>
              <a:t>Question</a:t>
            </a:r>
            <a:endParaRPr lang="en-US" sz="1800" dirty="0"/>
          </a:p>
          <a:p>
            <a:pPr marL="0" indent="0">
              <a:buNone/>
            </a:pPr>
            <a:r>
              <a:rPr lang="en-US" sz="1800" dirty="0">
                <a:solidFill>
                  <a:schemeClr val="tx1"/>
                </a:solidFill>
              </a:rPr>
              <a:t>Why do children reject simple action language when the result is abs</a:t>
            </a:r>
            <a:r>
              <a:rPr lang="en-US" sz="1800" dirty="0">
                <a:solidFill>
                  <a:schemeClr val="tx1"/>
                </a:solidFill>
              </a:rPr>
              <a:t>ent?</a:t>
            </a:r>
            <a:endParaRPr lang="en-US" sz="1800" dirty="0"/>
          </a:p>
        </p:txBody>
      </p:sp>
      <p:sp>
        <p:nvSpPr>
          <p:cNvPr id="5" name="Text 2"/>
          <p:cNvSpPr txBox="1"/>
          <p:nvPr/>
        </p:nvSpPr>
        <p:spPr>
          <a:xfrm>
            <a:off x="548640" y="2697480"/>
            <a:ext cx="4663440" cy="1234440"/>
          </a:xfrm>
          <a:prstGeom prst="rect">
            <a:avLst/>
          </a:prstGeom>
          <a:noFill/>
        </p:spPr>
        <p:txBody>
          <a:bodyPr wrap="square" lIns="0" tIns="0" rIns="0" bIns="0" rtlCol="0" anchor="t"/>
          <a:lstStyle/>
          <a:p>
            <a:pPr marL="0" indent="0">
              <a:buNone/>
            </a:pPr>
            <a:r>
              <a:rPr lang="en-US" sz="2200" b="1" dirty="0">
                <a:solidFill>
                  <a:schemeClr val="tx2"/>
                </a:solidFill>
              </a:rPr>
              <a:t>Design</a:t>
            </a:r>
            <a:endParaRPr lang="en-US" sz="1800" dirty="0"/>
          </a:p>
          <a:p>
            <a:pPr marL="0" indent="0">
              <a:buNone/>
            </a:pPr>
            <a:r>
              <a:rPr lang="en-US" sz="1800" dirty="0">
                <a:solidFill>
                  <a:schemeClr val="tx1"/>
                </a:solidFill>
              </a:rPr>
              <a:t>10 action pairs, result attained or not; 72 ages 4–5 and 40 adults</a:t>
            </a:r>
            <a:endParaRPr lang="en-US" sz="1800" dirty="0"/>
          </a:p>
        </p:txBody>
      </p:sp>
      <p:sp>
        <p:nvSpPr>
          <p:cNvPr id="6" name="Text 3"/>
          <p:cNvSpPr txBox="1"/>
          <p:nvPr/>
        </p:nvSpPr>
        <p:spPr>
          <a:xfrm>
            <a:off x="548640" y="4023360"/>
            <a:ext cx="4663440" cy="1234440"/>
          </a:xfrm>
          <a:prstGeom prst="rect">
            <a:avLst/>
          </a:prstGeom>
          <a:noFill/>
        </p:spPr>
        <p:txBody>
          <a:bodyPr wrap="square" lIns="0" tIns="0" rIns="0" bIns="0" rtlCol="0" anchor="t"/>
          <a:lstStyle/>
          <a:p>
            <a:pPr marL="0" indent="0">
              <a:buNone/>
            </a:pPr>
            <a:r>
              <a:rPr lang="en-US" sz="2200" b="1" dirty="0">
                <a:solidFill>
                  <a:schemeClr val="accent2"/>
                </a:solidFill>
              </a:rPr>
              <a:t>Finding</a:t>
            </a:r>
            <a:endParaRPr lang="en-US" sz="1800" dirty="0"/>
          </a:p>
          <a:p>
            <a:pPr marL="0" indent="0">
              <a:buNone/>
            </a:pPr>
            <a:r>
              <a:rPr lang="en-US" altLang="zh-CN" sz="1800" dirty="0"/>
              <a:t>the more likely the result, the more they reject the verb when it fails.</a:t>
            </a:r>
            <a:endParaRPr lang="en-US" altLang="zh-CN" sz="1800" dirty="0"/>
          </a:p>
        </p:txBody>
      </p:sp>
      <p:sp>
        <p:nvSpPr>
          <p:cNvPr id="7" name="Shape 4"/>
          <p:cNvSpPr/>
          <p:nvPr/>
        </p:nvSpPr>
        <p:spPr>
          <a:xfrm>
            <a:off x="5623560" y="1786255"/>
            <a:ext cx="6019800" cy="3471545"/>
          </a:xfrm>
          <a:prstGeom prst="roundRect">
            <a:avLst>
              <a:gd name="adj" fmla="val 2326"/>
            </a:avLst>
          </a:prstGeom>
          <a:solidFill>
            <a:schemeClr val="bg2"/>
          </a:solidFill>
        </p:spPr>
      </p:sp>
      <p:sp>
        <p:nvSpPr>
          <p:cNvPr id="9" name="Shape 6"/>
          <p:cNvSpPr/>
          <p:nvPr/>
        </p:nvSpPr>
        <p:spPr>
          <a:xfrm>
            <a:off x="5852160" y="2103120"/>
            <a:ext cx="2506828" cy="777240"/>
          </a:xfrm>
          <a:prstGeom prst="roundRect">
            <a:avLst>
              <a:gd name="adj" fmla="val 9412"/>
            </a:avLst>
          </a:prstGeom>
          <a:solidFill>
            <a:schemeClr val="bg1"/>
          </a:solidFill>
          <a:ln w="19050">
            <a:solidFill>
              <a:schemeClr val="accent1"/>
            </a:solidFill>
            <a:prstDash val="solid"/>
          </a:ln>
        </p:spPr>
      </p:sp>
      <p:sp>
        <p:nvSpPr>
          <p:cNvPr id="10" name="Text 7"/>
          <p:cNvSpPr txBox="1"/>
          <p:nvPr/>
        </p:nvSpPr>
        <p:spPr>
          <a:xfrm>
            <a:off x="5961888" y="210312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剥 bāo “peel” lychee</a:t>
            </a:r>
            <a:endParaRPr lang="en-US" sz="1800" dirty="0"/>
          </a:p>
        </p:txBody>
      </p:sp>
      <p:sp>
        <p:nvSpPr>
          <p:cNvPr id="11" name="Shape 8"/>
          <p:cNvSpPr/>
          <p:nvPr/>
        </p:nvSpPr>
        <p:spPr>
          <a:xfrm>
            <a:off x="8907628" y="2103120"/>
            <a:ext cx="2506828" cy="777240"/>
          </a:xfrm>
          <a:prstGeom prst="roundRect">
            <a:avLst>
              <a:gd name="adj" fmla="val 9412"/>
            </a:avLst>
          </a:prstGeom>
          <a:solidFill>
            <a:schemeClr val="bg1"/>
          </a:solidFill>
          <a:ln w="19050">
            <a:solidFill>
              <a:schemeClr val="accent2"/>
            </a:solidFill>
            <a:prstDash val="solid"/>
          </a:ln>
        </p:spPr>
      </p:sp>
      <p:sp>
        <p:nvSpPr>
          <p:cNvPr id="12" name="Text 9"/>
          <p:cNvSpPr txBox="1"/>
          <p:nvPr/>
        </p:nvSpPr>
        <p:spPr>
          <a:xfrm>
            <a:off x="9017356" y="210312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re</a:t>
            </a:r>
            <a:r>
              <a:rPr lang="en-US" sz="1800" dirty="0">
                <a:solidFill>
                  <a:schemeClr val="tx1"/>
                </a:solidFill>
              </a:rPr>
              <a:t>sult likelihood 93%</a:t>
            </a:r>
            <a:endParaRPr lang="en-US" sz="1800" dirty="0"/>
          </a:p>
        </p:txBody>
      </p:sp>
      <p:sp>
        <p:nvSpPr>
          <p:cNvPr id="13" name="Shape 10"/>
          <p:cNvSpPr/>
          <p:nvPr/>
        </p:nvSpPr>
        <p:spPr>
          <a:xfrm>
            <a:off x="8496148" y="2350008"/>
            <a:ext cx="274320" cy="274320"/>
          </a:xfrm>
          <a:prstGeom prst="rightArrow">
            <a:avLst/>
          </a:prstGeom>
          <a:solidFill>
            <a:schemeClr val="accent3"/>
          </a:solidFill>
        </p:spPr>
      </p:sp>
      <p:sp>
        <p:nvSpPr>
          <p:cNvPr id="14" name="Text 11"/>
          <p:cNvSpPr txBox="1"/>
          <p:nvPr/>
        </p:nvSpPr>
        <p:spPr>
          <a:xfrm>
            <a:off x="5852160" y="2926080"/>
            <a:ext cx="5562295" cy="411480"/>
          </a:xfrm>
          <a:prstGeom prst="rect">
            <a:avLst/>
          </a:prstGeom>
          <a:noFill/>
        </p:spPr>
        <p:txBody>
          <a:bodyPr wrap="square" lIns="0" tIns="0" rIns="0" bIns="0" rtlCol="0" anchor="t"/>
          <a:lstStyle/>
          <a:p>
            <a:pPr marL="0" indent="0">
              <a:buNone/>
            </a:pPr>
            <a:r>
              <a:rPr lang="en-US" sz="1800" i="1" dirty="0">
                <a:solidFill>
                  <a:schemeClr val="tx1"/>
                </a:solidFill>
              </a:rPr>
              <a:t>Strong result association</a:t>
            </a:r>
            <a:endParaRPr lang="en-US" sz="1800" dirty="0"/>
          </a:p>
        </p:txBody>
      </p:sp>
      <p:sp>
        <p:nvSpPr>
          <p:cNvPr id="15" name="Shape 12"/>
          <p:cNvSpPr/>
          <p:nvPr/>
        </p:nvSpPr>
        <p:spPr>
          <a:xfrm>
            <a:off x="5852160" y="3429000"/>
            <a:ext cx="2506828" cy="777240"/>
          </a:xfrm>
          <a:prstGeom prst="roundRect">
            <a:avLst>
              <a:gd name="adj" fmla="val 9412"/>
            </a:avLst>
          </a:prstGeom>
          <a:solidFill>
            <a:schemeClr val="bg1"/>
          </a:solidFill>
          <a:ln w="19050">
            <a:solidFill>
              <a:schemeClr val="accent1"/>
            </a:solidFill>
            <a:prstDash val="solid"/>
          </a:ln>
        </p:spPr>
      </p:sp>
      <p:sp>
        <p:nvSpPr>
          <p:cNvPr id="16" name="Text 13"/>
          <p:cNvSpPr txBox="1"/>
          <p:nvPr/>
        </p:nvSpPr>
        <p:spPr>
          <a:xfrm>
            <a:off x="5961888" y="342900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捏 niē “squeeze” lychee</a:t>
            </a:r>
            <a:endParaRPr lang="en-US" sz="1800" dirty="0"/>
          </a:p>
        </p:txBody>
      </p:sp>
      <p:sp>
        <p:nvSpPr>
          <p:cNvPr id="17" name="Shape 14"/>
          <p:cNvSpPr/>
          <p:nvPr/>
        </p:nvSpPr>
        <p:spPr>
          <a:xfrm>
            <a:off x="8907628" y="3429000"/>
            <a:ext cx="2506828" cy="777240"/>
          </a:xfrm>
          <a:prstGeom prst="roundRect">
            <a:avLst>
              <a:gd name="adj" fmla="val 9412"/>
            </a:avLst>
          </a:prstGeom>
          <a:solidFill>
            <a:schemeClr val="bg1"/>
          </a:solidFill>
          <a:ln w="19050">
            <a:solidFill>
              <a:schemeClr val="accent2"/>
            </a:solidFill>
            <a:prstDash val="solid"/>
          </a:ln>
        </p:spPr>
      </p:sp>
      <p:sp>
        <p:nvSpPr>
          <p:cNvPr id="18" name="Text 15"/>
          <p:cNvSpPr txBox="1"/>
          <p:nvPr/>
        </p:nvSpPr>
        <p:spPr>
          <a:xfrm>
            <a:off x="9017356" y="342900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result likelihood 65%</a:t>
            </a:r>
            <a:endParaRPr lang="en-US" sz="1800" dirty="0"/>
          </a:p>
        </p:txBody>
      </p:sp>
      <p:sp>
        <p:nvSpPr>
          <p:cNvPr id="19" name="Shape 16"/>
          <p:cNvSpPr/>
          <p:nvPr/>
        </p:nvSpPr>
        <p:spPr>
          <a:xfrm>
            <a:off x="8496148" y="3675888"/>
            <a:ext cx="274320" cy="274320"/>
          </a:xfrm>
          <a:prstGeom prst="rightArrow">
            <a:avLst/>
          </a:prstGeom>
          <a:solidFill>
            <a:schemeClr val="accent3"/>
          </a:solidFill>
        </p:spPr>
      </p:sp>
      <p:sp>
        <p:nvSpPr>
          <p:cNvPr id="20" name="Text 17"/>
          <p:cNvSpPr txBox="1"/>
          <p:nvPr/>
        </p:nvSpPr>
        <p:spPr>
          <a:xfrm>
            <a:off x="5852160" y="4251960"/>
            <a:ext cx="5562295" cy="411480"/>
          </a:xfrm>
          <a:prstGeom prst="rect">
            <a:avLst/>
          </a:prstGeom>
          <a:noFill/>
        </p:spPr>
        <p:txBody>
          <a:bodyPr wrap="square" lIns="0" tIns="0" rIns="0" bIns="0" rtlCol="0" anchor="t"/>
          <a:lstStyle/>
          <a:p>
            <a:pPr marL="0" indent="0">
              <a:buNone/>
            </a:pPr>
            <a:r>
              <a:rPr lang="en-US" sz="1800" i="1" dirty="0">
                <a:solidFill>
                  <a:schemeClr val="tx1"/>
                </a:solidFill>
              </a:rPr>
              <a:t>Weaker result association</a:t>
            </a:r>
            <a:endParaRPr lang="en-US" sz="1800" dirty="0"/>
          </a:p>
        </p:txBody>
      </p:sp>
      <p:sp>
        <p:nvSpPr>
          <p:cNvPr id="21" name="Text 18"/>
          <p:cNvSpPr txBox="1"/>
          <p:nvPr/>
        </p:nvSpPr>
        <p:spPr>
          <a:xfrm>
            <a:off x="5852160" y="4477385"/>
            <a:ext cx="5562600" cy="640080"/>
          </a:xfrm>
          <a:prstGeom prst="rect">
            <a:avLst/>
          </a:prstGeom>
          <a:noFill/>
        </p:spPr>
        <p:txBody>
          <a:bodyPr wrap="square" lIns="0" tIns="0" rIns="0" bIns="0" rtlCol="0" anchor="ctr"/>
          <a:lstStyle/>
          <a:p>
            <a:pPr marL="0" indent="0">
              <a:buNone/>
            </a:pPr>
            <a:r>
              <a:rPr lang="en-US" sz="1800" b="1" dirty="0">
                <a:solidFill>
                  <a:schemeClr val="accent2"/>
                </a:solidFill>
              </a:rPr>
              <a:t>Stronger association, more rejection of V1</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p:spPr>
        <p:txBody>
          <a:bodyPr/>
          <a:lstStyle>
            <a:lvl1pPr>
              <a:defRPr sz="1800">
                <a:solidFill>
                  <a:schemeClr val="accent3"/>
                </a:solidFill>
              </a:defRPr>
            </a:lvl1pPr>
          </a:lstStyle>
          <a:p>
            <a:pPr algn="r"/>
            <a:fld id="{F7021451-1387-4CA6-816F-3879F97B5CBC}" type="slidenum">
              <a:rPr lang="en-US" b="0"/>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548640" y="365760"/>
            <a:ext cx="11094415" cy="731520"/>
          </a:xfrm>
          <a:prstGeom prst="rect">
            <a:avLst/>
          </a:prstGeom>
          <a:noFill/>
        </p:spPr>
        <p:txBody>
          <a:bodyPr wrap="square" lIns="0" tIns="0" rIns="0" bIns="0" rtlCol="0" anchor="ctr"/>
          <a:lstStyle/>
          <a:p>
            <a:pPr marL="0" indent="0" algn="l">
              <a:buNone/>
            </a:pPr>
            <a:r>
              <a:rPr lang="en-US" sz="3000" b="1" dirty="0">
                <a:solidFill>
                  <a:schemeClr val="tx2"/>
                </a:solidFill>
              </a:rPr>
              <a:t>Children: A pragmatic account of superordinates in Mandarin</a:t>
            </a:r>
            <a:endParaRPr lang="en-US" sz="3000" dirty="0"/>
          </a:p>
        </p:txBody>
      </p:sp>
      <p:sp>
        <p:nvSpPr>
          <p:cNvPr id="4" name="Text 1"/>
          <p:cNvSpPr txBox="1"/>
          <p:nvPr/>
        </p:nvSpPr>
        <p:spPr>
          <a:xfrm>
            <a:off x="548640" y="1371600"/>
            <a:ext cx="4549775" cy="1313815"/>
          </a:xfrm>
          <a:prstGeom prst="rect">
            <a:avLst/>
          </a:prstGeom>
          <a:noFill/>
        </p:spPr>
        <p:txBody>
          <a:bodyPr wrap="square" lIns="0" tIns="0" rIns="0" bIns="0" rtlCol="0" anchor="t"/>
          <a:lstStyle/>
          <a:p>
            <a:pPr marL="0" indent="0">
              <a:buNone/>
            </a:pPr>
            <a:r>
              <a:rPr lang="en-US" sz="2200" b="1" dirty="0">
                <a:solidFill>
                  <a:schemeClr val="tx2"/>
                </a:solidFill>
              </a:rPr>
              <a:t>Question</a:t>
            </a:r>
            <a:endParaRPr lang="en-US" sz="1800" dirty="0"/>
          </a:p>
          <a:p>
            <a:pPr marL="0" indent="0">
              <a:buNone/>
            </a:pPr>
            <a:r>
              <a:rPr lang="en-US" altLang="zh-CN" sz="1800" dirty="0"/>
              <a:t>Do context cues that mark superordinates in English (quantifiers, “kind of”, “another”) also mark them in Mandarin, and do they predict learning?</a:t>
            </a:r>
            <a:endParaRPr lang="en-US" altLang="zh-CN" sz="1800" dirty="0"/>
          </a:p>
          <a:p>
            <a:pPr marL="0" indent="0">
              <a:buNone/>
            </a:pPr>
            <a:endParaRPr lang="en-US" altLang="zh-CN" sz="1800" dirty="0"/>
          </a:p>
          <a:p>
            <a:pPr marL="0" indent="0">
              <a:buNone/>
            </a:pPr>
            <a:endParaRPr lang="en-US" altLang="zh-CN" sz="1800" dirty="0"/>
          </a:p>
        </p:txBody>
      </p:sp>
      <p:sp>
        <p:nvSpPr>
          <p:cNvPr id="5" name="Text 2"/>
          <p:cNvSpPr txBox="1"/>
          <p:nvPr/>
        </p:nvSpPr>
        <p:spPr>
          <a:xfrm>
            <a:off x="530225" y="3018155"/>
            <a:ext cx="4663440" cy="1018540"/>
          </a:xfrm>
          <a:prstGeom prst="rect">
            <a:avLst/>
          </a:prstGeom>
          <a:noFill/>
        </p:spPr>
        <p:txBody>
          <a:bodyPr wrap="square" lIns="0" tIns="0" rIns="0" bIns="0" rtlCol="0" anchor="t"/>
          <a:lstStyle/>
          <a:p>
            <a:pPr marL="0" indent="0">
              <a:buNone/>
            </a:pPr>
            <a:r>
              <a:rPr lang="en-US" sz="2200" b="1" dirty="0">
                <a:solidFill>
                  <a:schemeClr val="tx2"/>
                </a:solidFill>
              </a:rPr>
              <a:t>Design</a:t>
            </a:r>
            <a:endParaRPr lang="en-US" sz="1800" dirty="0"/>
          </a:p>
          <a:p>
            <a:pPr marL="0" indent="0">
              <a:buNone/>
            </a:pPr>
            <a:r>
              <a:rPr lang="en-US" altLang="zh-CN" sz="1800" dirty="0"/>
              <a:t>11 Mandarin CHILDES corpora vs. English: cue distribution (Study 1) and cue exposure vs. age of acquisition (Study 2)</a:t>
            </a:r>
            <a:endParaRPr lang="en-US" altLang="zh-CN" sz="1800" dirty="0"/>
          </a:p>
          <a:p>
            <a:pPr marL="0" indent="0">
              <a:buNone/>
            </a:pPr>
            <a:endParaRPr lang="en-US" altLang="zh-CN" sz="1800" dirty="0"/>
          </a:p>
          <a:p>
            <a:pPr marL="0" indent="0">
              <a:buNone/>
            </a:pPr>
            <a:endParaRPr lang="en-US" altLang="zh-CN" sz="1800" dirty="0"/>
          </a:p>
        </p:txBody>
      </p:sp>
      <p:sp>
        <p:nvSpPr>
          <p:cNvPr id="6" name="Text 3"/>
          <p:cNvSpPr txBox="1"/>
          <p:nvPr/>
        </p:nvSpPr>
        <p:spPr>
          <a:xfrm>
            <a:off x="548640" y="4497070"/>
            <a:ext cx="4663440" cy="1234440"/>
          </a:xfrm>
          <a:prstGeom prst="rect">
            <a:avLst/>
          </a:prstGeom>
          <a:noFill/>
        </p:spPr>
        <p:txBody>
          <a:bodyPr wrap="square" lIns="0" tIns="0" rIns="0" bIns="0" rtlCol="0" anchor="t"/>
          <a:lstStyle/>
          <a:p>
            <a:pPr marL="0" indent="0">
              <a:buNone/>
            </a:pPr>
            <a:r>
              <a:rPr lang="en-US" sz="2200" b="1" dirty="0">
                <a:solidFill>
                  <a:schemeClr val="accent2"/>
                </a:solidFill>
              </a:rPr>
              <a:t>Finding</a:t>
            </a:r>
            <a:endParaRPr lang="en-US" sz="1800" dirty="0"/>
          </a:p>
          <a:p>
            <a:pPr marL="0" indent="0">
              <a:buNone/>
            </a:pPr>
            <a:r>
              <a:rPr lang="en-US" altLang="zh-CN" sz="1800" dirty="0"/>
              <a:t>The cues mark superordinates in Mandarin too; frequency, not cue exposure, predicts AoA.</a:t>
            </a:r>
            <a:endParaRPr lang="en-US" altLang="zh-CN" sz="1800" dirty="0"/>
          </a:p>
        </p:txBody>
      </p:sp>
      <p:sp>
        <p:nvSpPr>
          <p:cNvPr id="7" name="Shape 4"/>
          <p:cNvSpPr/>
          <p:nvPr/>
        </p:nvSpPr>
        <p:spPr>
          <a:xfrm>
            <a:off x="5623560" y="1325880"/>
            <a:ext cx="6019495" cy="3931920"/>
          </a:xfrm>
          <a:prstGeom prst="roundRect">
            <a:avLst>
              <a:gd name="adj" fmla="val 2326"/>
            </a:avLst>
          </a:prstGeom>
          <a:solidFill>
            <a:schemeClr val="bg2"/>
          </a:solidFill>
        </p:spPr>
      </p:sp>
      <p:sp>
        <p:nvSpPr>
          <p:cNvPr id="8" name="Text 5"/>
          <p:cNvSpPr txBox="1"/>
          <p:nvPr/>
        </p:nvSpPr>
        <p:spPr>
          <a:xfrm>
            <a:off x="5852160" y="1508760"/>
            <a:ext cx="5562295" cy="411480"/>
          </a:xfrm>
          <a:prstGeom prst="rect">
            <a:avLst/>
          </a:prstGeom>
          <a:noFill/>
        </p:spPr>
        <p:txBody>
          <a:bodyPr wrap="square" lIns="0" tIns="0" rIns="0" bIns="0" rtlCol="0" anchor="t"/>
          <a:lstStyle/>
          <a:p>
            <a:pPr marL="0" indent="0">
              <a:buNone/>
            </a:pPr>
            <a:r>
              <a:rPr lang="en-US" sz="2200" b="1" dirty="0">
                <a:solidFill>
                  <a:schemeClr val="tx2"/>
                </a:solidFill>
              </a:rPr>
              <a:t>Two studies</a:t>
            </a:r>
            <a:endParaRPr lang="en-US" sz="2200" dirty="0"/>
          </a:p>
        </p:txBody>
      </p:sp>
      <p:sp>
        <p:nvSpPr>
          <p:cNvPr id="9" name="Shape 6"/>
          <p:cNvSpPr/>
          <p:nvPr/>
        </p:nvSpPr>
        <p:spPr>
          <a:xfrm>
            <a:off x="5852160" y="2103120"/>
            <a:ext cx="2506828" cy="777240"/>
          </a:xfrm>
          <a:prstGeom prst="roundRect">
            <a:avLst>
              <a:gd name="adj" fmla="val 9412"/>
            </a:avLst>
          </a:prstGeom>
          <a:solidFill>
            <a:schemeClr val="bg1"/>
          </a:solidFill>
          <a:ln w="19050">
            <a:solidFill>
              <a:schemeClr val="accent1"/>
            </a:solidFill>
            <a:prstDash val="solid"/>
          </a:ln>
        </p:spPr>
      </p:sp>
      <p:sp>
        <p:nvSpPr>
          <p:cNvPr id="10" name="Text 7"/>
          <p:cNvSpPr txBox="1"/>
          <p:nvPr/>
        </p:nvSpPr>
        <p:spPr>
          <a:xfrm>
            <a:off x="5961888" y="210312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Study 1: context cues in the input</a:t>
            </a:r>
            <a:endParaRPr lang="en-US" sz="1800" dirty="0"/>
          </a:p>
        </p:txBody>
      </p:sp>
      <p:sp>
        <p:nvSpPr>
          <p:cNvPr id="11" name="Shape 8"/>
          <p:cNvSpPr/>
          <p:nvPr/>
        </p:nvSpPr>
        <p:spPr>
          <a:xfrm>
            <a:off x="8907628" y="2103120"/>
            <a:ext cx="2506828" cy="777240"/>
          </a:xfrm>
          <a:prstGeom prst="roundRect">
            <a:avLst>
              <a:gd name="adj" fmla="val 9412"/>
            </a:avLst>
          </a:prstGeom>
          <a:solidFill>
            <a:schemeClr val="bg1"/>
          </a:solidFill>
          <a:ln w="19050">
            <a:solidFill>
              <a:schemeClr val="accent2"/>
            </a:solidFill>
            <a:prstDash val="solid"/>
          </a:ln>
        </p:spPr>
      </p:sp>
      <p:sp>
        <p:nvSpPr>
          <p:cNvPr id="12" name="Text 9"/>
          <p:cNvSpPr txBox="1"/>
          <p:nvPr/>
        </p:nvSpPr>
        <p:spPr>
          <a:xfrm>
            <a:off x="9017356" y="210312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Replicated in Mandarin</a:t>
            </a:r>
            <a:endParaRPr lang="en-US" sz="1800" dirty="0"/>
          </a:p>
        </p:txBody>
      </p:sp>
      <p:sp>
        <p:nvSpPr>
          <p:cNvPr id="13" name="Shape 10"/>
          <p:cNvSpPr/>
          <p:nvPr/>
        </p:nvSpPr>
        <p:spPr>
          <a:xfrm>
            <a:off x="8496148" y="2350008"/>
            <a:ext cx="274320" cy="274320"/>
          </a:xfrm>
          <a:prstGeom prst="rightArrow">
            <a:avLst/>
          </a:prstGeom>
          <a:solidFill>
            <a:schemeClr val="accent3"/>
          </a:solidFill>
        </p:spPr>
      </p:sp>
      <p:sp>
        <p:nvSpPr>
          <p:cNvPr id="14" name="Text 11"/>
          <p:cNvSpPr txBox="1"/>
          <p:nvPr/>
        </p:nvSpPr>
        <p:spPr>
          <a:xfrm>
            <a:off x="5852160" y="2926080"/>
            <a:ext cx="5562295" cy="411480"/>
          </a:xfrm>
          <a:prstGeom prst="rect">
            <a:avLst/>
          </a:prstGeom>
          <a:noFill/>
        </p:spPr>
        <p:txBody>
          <a:bodyPr wrap="square" lIns="0" tIns="0" rIns="0" bIns="0" rtlCol="0" anchor="t"/>
          <a:lstStyle/>
          <a:p>
            <a:pPr marL="0" indent="0">
              <a:buNone/>
            </a:pPr>
            <a:r>
              <a:rPr lang="en-US" sz="1800" i="1" dirty="0">
                <a:solidFill>
                  <a:schemeClr val="tx1"/>
                </a:solidFill>
              </a:rPr>
              <a:t>All 4 contexts, OR 2.1–8.2; classifier AUC = .73</a:t>
            </a:r>
            <a:endParaRPr lang="en-US" sz="1800" dirty="0"/>
          </a:p>
        </p:txBody>
      </p:sp>
      <p:sp>
        <p:nvSpPr>
          <p:cNvPr id="15" name="Shape 12"/>
          <p:cNvSpPr/>
          <p:nvPr/>
        </p:nvSpPr>
        <p:spPr>
          <a:xfrm>
            <a:off x="5852160" y="3429000"/>
            <a:ext cx="2506828" cy="777240"/>
          </a:xfrm>
          <a:prstGeom prst="roundRect">
            <a:avLst>
              <a:gd name="adj" fmla="val 9412"/>
            </a:avLst>
          </a:prstGeom>
          <a:solidFill>
            <a:schemeClr val="bg1"/>
          </a:solidFill>
          <a:ln w="19050">
            <a:solidFill>
              <a:schemeClr val="accent1"/>
            </a:solidFill>
            <a:prstDash val="solid"/>
          </a:ln>
        </p:spPr>
      </p:sp>
      <p:sp>
        <p:nvSpPr>
          <p:cNvPr id="16" name="Text 13"/>
          <p:cNvSpPr txBox="1"/>
          <p:nvPr/>
        </p:nvSpPr>
        <p:spPr>
          <a:xfrm>
            <a:off x="5961888" y="342900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Study 2: cues and age of acquisition</a:t>
            </a:r>
            <a:endParaRPr lang="en-US" sz="1800" dirty="0"/>
          </a:p>
        </p:txBody>
      </p:sp>
      <p:sp>
        <p:nvSpPr>
          <p:cNvPr id="17" name="Shape 14"/>
          <p:cNvSpPr/>
          <p:nvPr/>
        </p:nvSpPr>
        <p:spPr>
          <a:xfrm>
            <a:off x="8907628" y="3429000"/>
            <a:ext cx="2506828" cy="777240"/>
          </a:xfrm>
          <a:prstGeom prst="roundRect">
            <a:avLst>
              <a:gd name="adj" fmla="val 9412"/>
            </a:avLst>
          </a:prstGeom>
          <a:solidFill>
            <a:schemeClr val="bg1"/>
          </a:solidFill>
          <a:ln w="19050">
            <a:solidFill>
              <a:schemeClr val="accent2"/>
            </a:solidFill>
            <a:prstDash val="solid"/>
          </a:ln>
        </p:spPr>
      </p:sp>
      <p:sp>
        <p:nvSpPr>
          <p:cNvPr id="18" name="Text 15"/>
          <p:cNvSpPr txBox="1"/>
          <p:nvPr/>
        </p:nvSpPr>
        <p:spPr>
          <a:xfrm>
            <a:off x="9017356" y="342900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Frequency predicts; cues add little</a:t>
            </a:r>
            <a:endParaRPr lang="en-US" sz="1800" dirty="0"/>
          </a:p>
        </p:txBody>
      </p:sp>
      <p:sp>
        <p:nvSpPr>
          <p:cNvPr id="19" name="Shape 16"/>
          <p:cNvSpPr/>
          <p:nvPr/>
        </p:nvSpPr>
        <p:spPr>
          <a:xfrm>
            <a:off x="8496148" y="3675888"/>
            <a:ext cx="274320" cy="274320"/>
          </a:xfrm>
          <a:prstGeom prst="rightArrow">
            <a:avLst/>
          </a:prstGeom>
          <a:solidFill>
            <a:schemeClr val="accent3"/>
          </a:solidFill>
        </p:spPr>
      </p:sp>
      <p:sp>
        <p:nvSpPr>
          <p:cNvPr id="20" name="Text 17"/>
          <p:cNvSpPr txBox="1"/>
          <p:nvPr/>
        </p:nvSpPr>
        <p:spPr>
          <a:xfrm>
            <a:off x="5852160" y="4251960"/>
            <a:ext cx="5562295" cy="411480"/>
          </a:xfrm>
          <a:prstGeom prst="rect">
            <a:avLst/>
          </a:prstGeom>
          <a:noFill/>
        </p:spPr>
        <p:txBody>
          <a:bodyPr wrap="square" lIns="0" tIns="0" rIns="0" bIns="0" rtlCol="0" anchor="t"/>
          <a:lstStyle/>
          <a:p>
            <a:pPr marL="0" indent="0">
              <a:buNone/>
            </a:pPr>
            <a:r>
              <a:rPr lang="en-US" sz="1800" i="1" dirty="0">
                <a:solidFill>
                  <a:schemeClr val="tx1"/>
                </a:solidFill>
              </a:rPr>
              <a:t>Same pattern in Mandarin and English</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p:spPr>
        <p:txBody>
          <a:bodyPr/>
          <a:lstStyle>
            <a:lvl1pPr>
              <a:defRPr sz="1800">
                <a:solidFill>
                  <a:schemeClr val="accent3"/>
                </a:solidFill>
              </a:defRPr>
            </a:lvl1pPr>
          </a:lstStyle>
          <a:p>
            <a:pPr algn="r"/>
            <a:fld id="{F7021451-1387-4CA6-816F-3879F97B5CBC}" type="slidenum">
              <a:rPr lang="en-US" b="0"/>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548640" y="365760"/>
            <a:ext cx="11094415" cy="731520"/>
          </a:xfrm>
          <a:prstGeom prst="rect">
            <a:avLst/>
          </a:prstGeom>
          <a:noFill/>
        </p:spPr>
        <p:txBody>
          <a:bodyPr wrap="square" lIns="0" tIns="0" rIns="0" bIns="0" rtlCol="0" anchor="ctr"/>
          <a:lstStyle/>
          <a:p>
            <a:pPr marL="0" indent="0" algn="l">
              <a:buNone/>
            </a:pPr>
            <a:r>
              <a:rPr lang="en-US" sz="3000" b="1" dirty="0">
                <a:solidFill>
                  <a:schemeClr val="tx2"/>
                </a:solidFill>
              </a:rPr>
              <a:t>Future research: three directions</a:t>
            </a:r>
            <a:endParaRPr lang="en-US" sz="3000" dirty="0"/>
          </a:p>
        </p:txBody>
      </p:sp>
      <p:sp>
        <p:nvSpPr>
          <p:cNvPr id="101" name="Shape 1"/>
          <p:cNvSpPr/>
          <p:nvPr/>
        </p:nvSpPr>
        <p:spPr>
          <a:xfrm>
            <a:off x="548640" y="1234440"/>
            <a:ext cx="3454298" cy="4800600"/>
          </a:xfrm>
          <a:prstGeom prst="roundRect">
            <a:avLst>
              <a:gd name="adj" fmla="val 2647"/>
            </a:avLst>
          </a:prstGeom>
          <a:solidFill>
            <a:schemeClr val="bg2"/>
          </a:solidFill>
          <a:ln/>
        </p:spPr>
      </p:sp>
      <p:sp>
        <p:nvSpPr>
          <p:cNvPr id="102" name="Shape 2"/>
          <p:cNvSpPr/>
          <p:nvPr/>
        </p:nvSpPr>
        <p:spPr>
          <a:xfrm>
            <a:off x="777240" y="1417320"/>
            <a:ext cx="548640" cy="548640"/>
          </a:xfrm>
          <a:prstGeom prst="ellipse">
            <a:avLst/>
          </a:prstGeom>
          <a:solidFill>
            <a:schemeClr val="accent1"/>
          </a:solidFill>
          <a:ln/>
        </p:spPr>
      </p:sp>
      <p:sp>
        <p:nvSpPr>
          <p:cNvPr id="103" name="Text 3"/>
          <p:cNvSpPr txBox="1"/>
          <p:nvPr/>
        </p:nvSpPr>
        <p:spPr>
          <a:xfrm>
            <a:off x="777240" y="14173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04" name="Text 4"/>
          <p:cNvSpPr txBox="1"/>
          <p:nvPr/>
        </p:nvSpPr>
        <p:spPr>
          <a:xfrm>
            <a:off x="777240" y="2057400"/>
            <a:ext cx="2997098" cy="1005840"/>
          </a:xfrm>
          <a:prstGeom prst="rect">
            <a:avLst/>
          </a:prstGeom>
          <a:noFill/>
          <a:ln/>
        </p:spPr>
        <p:txBody>
          <a:bodyPr wrap="square" lIns="0" tIns="0" rIns="0" bIns="0" rtlCol="0" anchor="t"/>
          <a:lstStyle/>
          <a:p>
            <a:pPr indent="0" marL="0">
              <a:buNone/>
            </a:pPr>
            <a:r>
              <a:rPr lang="en-US" sz="2000" b="1" dirty="0">
                <a:solidFill>
                  <a:schemeClr val="tx2"/>
                </a:solidFill>
              </a:rPr>
              <a:t>When children learn event relations</a:t>
            </a:r>
            <a:endParaRPr lang="en-US" sz="2000" dirty="0"/>
          </a:p>
        </p:txBody>
      </p:sp>
      <p:sp>
        <p:nvSpPr>
          <p:cNvPr id="105" name="Text 5"/>
          <p:cNvSpPr txBox="1"/>
          <p:nvPr/>
        </p:nvSpPr>
        <p:spPr>
          <a:xfrm>
            <a:off x="777240" y="3200400"/>
            <a:ext cx="2997098" cy="2697480"/>
          </a:xfrm>
          <a:prstGeom prst="rect">
            <a:avLst/>
          </a:prstGeom>
          <a:noFill/>
          <a:ln/>
        </p:spPr>
        <p:txBody>
          <a:bodyPr wrap="square" lIns="0" tIns="0" rIns="0" bIns="0" rtlCol="0" anchor="t"/>
          <a:lstStyle/>
          <a:p>
            <a:pPr indent="0" marL="0">
              <a:spcAft>
                <a:spcPts val="600"/>
              </a:spcAft>
              <a:buNone/>
            </a:pPr>
            <a:r>
              <a:rPr lang="en-US" sz="1800" b="1" dirty="0">
                <a:solidFill>
                  <a:schemeClr val="accent3"/>
                </a:solidFill>
              </a:rPr>
              <a:t>How</a:t>
            </a:r>
            <a:endParaRPr lang="en-US" sz="1800" dirty="0"/>
          </a:p>
          <a:p>
            <a:pPr indent="0" marL="0">
              <a:spcAft>
                <a:spcPts val="600"/>
              </a:spcAft>
              <a:buNone/>
            </a:pPr>
            <a:r>
              <a:rPr lang="en-US" sz="1800" dirty="0">
                <a:solidFill>
                  <a:schemeClr val="tx1"/>
                </a:solidFill>
              </a:rPr>
              <a:t>Children (3–6) describe new events and do both of my tasks</a:t>
            </a:r>
            <a:endParaRPr lang="en-US" sz="1800" dirty="0"/>
          </a:p>
          <a:p>
            <a:pPr indent="0" marL="0">
              <a:spcAft>
                <a:spcPts val="600"/>
              </a:spcAft>
              <a:buNone/>
            </a:pPr>
            <a:r>
              <a:rPr lang="en-US" sz="1800" b="1" dirty="0">
                <a:solidFill>
                  <a:schemeClr val="accent2"/>
                </a:solidFill>
              </a:rPr>
              <a:t>Prediction</a:t>
            </a:r>
            <a:endParaRPr lang="en-US" sz="1800" dirty="0"/>
          </a:p>
          <a:p>
            <a:pPr indent="0" marL="0">
              <a:spcAft>
                <a:spcPts val="600"/>
              </a:spcAft>
              <a:buNone/>
            </a:pPr>
            <a:r>
              <a:rPr lang="en-US" sz="1800" dirty="0">
                <a:solidFill>
                  <a:schemeClr val="tx1"/>
                </a:solidFill>
              </a:rPr>
              <a:t>Lexical encoding predicts phases; predicate encoding, endpoints</a:t>
            </a:r>
            <a:endParaRPr lang="en-US" sz="1800" dirty="0"/>
          </a:p>
        </p:txBody>
      </p:sp>
      <p:sp>
        <p:nvSpPr>
          <p:cNvPr id="106" name="Shape 6"/>
          <p:cNvSpPr/>
          <p:nvPr/>
        </p:nvSpPr>
        <p:spPr>
          <a:xfrm>
            <a:off x="4368698" y="1234440"/>
            <a:ext cx="3454298" cy="4800600"/>
          </a:xfrm>
          <a:prstGeom prst="roundRect">
            <a:avLst>
              <a:gd name="adj" fmla="val 2647"/>
            </a:avLst>
          </a:prstGeom>
          <a:solidFill>
            <a:schemeClr val="bg2"/>
          </a:solidFill>
          <a:ln/>
        </p:spPr>
      </p:sp>
      <p:sp>
        <p:nvSpPr>
          <p:cNvPr id="107" name="Shape 7"/>
          <p:cNvSpPr/>
          <p:nvPr/>
        </p:nvSpPr>
        <p:spPr>
          <a:xfrm>
            <a:off x="4597298" y="1417320"/>
            <a:ext cx="548640" cy="548640"/>
          </a:xfrm>
          <a:prstGeom prst="ellipse">
            <a:avLst/>
          </a:prstGeom>
          <a:solidFill>
            <a:schemeClr val="accent1"/>
          </a:solidFill>
          <a:ln/>
        </p:spPr>
      </p:sp>
      <p:sp>
        <p:nvSpPr>
          <p:cNvPr id="108" name="Text 8"/>
          <p:cNvSpPr txBox="1"/>
          <p:nvPr/>
        </p:nvSpPr>
        <p:spPr>
          <a:xfrm>
            <a:off x="4597298" y="14173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9" name="Text 9"/>
          <p:cNvSpPr txBox="1"/>
          <p:nvPr/>
        </p:nvSpPr>
        <p:spPr>
          <a:xfrm>
            <a:off x="4597298" y="2057400"/>
            <a:ext cx="2997098" cy="1005840"/>
          </a:xfrm>
          <a:prstGeom prst="rect">
            <a:avLst/>
          </a:prstGeom>
          <a:noFill/>
          <a:ln/>
        </p:spPr>
        <p:txBody>
          <a:bodyPr wrap="square" lIns="0" tIns="0" rIns="0" bIns="0" rtlCol="0" anchor="t"/>
          <a:lstStyle/>
          <a:p>
            <a:pPr indent="0" marL="0">
              <a:buNone/>
            </a:pPr>
            <a:r>
              <a:rPr lang="en-US" sz="2000" b="1" dirty="0">
                <a:solidFill>
                  <a:schemeClr val="tx2"/>
                </a:solidFill>
              </a:rPr>
              <a:t>Whether language helps them abstract relations</a:t>
            </a:r>
            <a:endParaRPr lang="en-US" sz="2000" dirty="0"/>
          </a:p>
        </p:txBody>
      </p:sp>
      <p:sp>
        <p:nvSpPr>
          <p:cNvPr id="110" name="Text 10"/>
          <p:cNvSpPr txBox="1"/>
          <p:nvPr/>
        </p:nvSpPr>
        <p:spPr>
          <a:xfrm>
            <a:off x="4597298" y="3200400"/>
            <a:ext cx="2997098" cy="2697480"/>
          </a:xfrm>
          <a:prstGeom prst="rect">
            <a:avLst/>
          </a:prstGeom>
          <a:noFill/>
          <a:ln/>
        </p:spPr>
        <p:txBody>
          <a:bodyPr wrap="square" lIns="0" tIns="0" rIns="0" bIns="0" rtlCol="0" anchor="t"/>
          <a:lstStyle/>
          <a:p>
            <a:pPr indent="0" marL="0">
              <a:spcAft>
                <a:spcPts val="600"/>
              </a:spcAft>
              <a:buNone/>
            </a:pPr>
            <a:r>
              <a:rPr lang="en-US" sz="1800" b="1" dirty="0">
                <a:solidFill>
                  <a:schemeClr val="accent3"/>
                </a:solidFill>
              </a:rPr>
              <a:t>How</a:t>
            </a:r>
            <a:endParaRPr lang="en-US" sz="1800" dirty="0"/>
          </a:p>
          <a:p>
            <a:pPr indent="0" marL="0">
              <a:spcAft>
                <a:spcPts val="600"/>
              </a:spcAft>
              <a:buNone/>
            </a:pPr>
            <a:r>
              <a:rPr lang="en-US" sz="1800" dirty="0">
                <a:solidFill>
                  <a:schemeClr val="tx1"/>
                </a:solidFill>
              </a:rPr>
              <a:t>Training with cues</a:t>
            </a:r>
            <a:endParaRPr lang="en-US" sz="1800" dirty="0"/>
          </a:p>
          <a:p>
            <a:pPr indent="0" marL="0">
              <a:spcAft>
                <a:spcPts val="600"/>
              </a:spcAft>
              <a:buNone/>
            </a:pPr>
            <a:r>
              <a:rPr lang="en-US" sz="1800" dirty="0">
                <a:solidFill>
                  <a:schemeClr val="tx1"/>
                </a:solidFill>
              </a:rPr>
              <a:t>Lexical: 切成两块</a:t>
            </a:r>
            <a:endParaRPr lang="en-US" sz="1800" dirty="0"/>
          </a:p>
          <a:p>
            <a:pPr indent="0" marL="0">
              <a:spcAft>
                <a:spcPts val="600"/>
              </a:spcAft>
              <a:buNone/>
            </a:pPr>
            <a:r>
              <a:rPr lang="en-US" sz="1800" dirty="0">
                <a:solidFill>
                  <a:schemeClr val="tx1"/>
                </a:solidFill>
              </a:rPr>
              <a:t>Predicate: 切开 vs. 切一切</a:t>
            </a:r>
            <a:endParaRPr lang="en-US" sz="1800" dirty="0"/>
          </a:p>
          <a:p>
            <a:pPr indent="0" marL="0">
              <a:spcAft>
                <a:spcPts val="600"/>
              </a:spcAft>
              <a:buNone/>
            </a:pPr>
            <a:r>
              <a:rPr lang="en-US" sz="1800" b="1" dirty="0">
                <a:solidFill>
                  <a:schemeClr val="accent2"/>
                </a:solidFill>
              </a:rPr>
              <a:t>Prediction</a:t>
            </a:r>
            <a:endParaRPr lang="en-US" sz="1800" dirty="0"/>
          </a:p>
          <a:p>
            <a:pPr indent="0" marL="0">
              <a:spcAft>
                <a:spcPts val="600"/>
              </a:spcAft>
              <a:buNone/>
            </a:pPr>
            <a:r>
              <a:rPr lang="en-US" sz="1800" dirty="0">
                <a:solidFill>
                  <a:schemeClr val="tx1"/>
                </a:solidFill>
              </a:rPr>
              <a:t>Lexical training shifts phases; predicate training, endpoints</a:t>
            </a:r>
            <a:endParaRPr lang="en-US" sz="1800" dirty="0"/>
          </a:p>
        </p:txBody>
      </p:sp>
      <p:sp>
        <p:nvSpPr>
          <p:cNvPr id="111" name="Shape 11"/>
          <p:cNvSpPr/>
          <p:nvPr/>
        </p:nvSpPr>
        <p:spPr>
          <a:xfrm>
            <a:off x="8188757" y="1234440"/>
            <a:ext cx="3454298" cy="4800600"/>
          </a:xfrm>
          <a:prstGeom prst="roundRect">
            <a:avLst>
              <a:gd name="adj" fmla="val 2647"/>
            </a:avLst>
          </a:prstGeom>
          <a:solidFill>
            <a:schemeClr val="bg2"/>
          </a:solidFill>
          <a:ln/>
        </p:spPr>
      </p:sp>
      <p:sp>
        <p:nvSpPr>
          <p:cNvPr id="112" name="Shape 12"/>
          <p:cNvSpPr/>
          <p:nvPr/>
        </p:nvSpPr>
        <p:spPr>
          <a:xfrm>
            <a:off x="8417357" y="1417320"/>
            <a:ext cx="548640" cy="548640"/>
          </a:xfrm>
          <a:prstGeom prst="ellipse">
            <a:avLst/>
          </a:prstGeom>
          <a:solidFill>
            <a:schemeClr val="accent2"/>
          </a:solidFill>
          <a:ln/>
        </p:spPr>
      </p:sp>
      <p:sp>
        <p:nvSpPr>
          <p:cNvPr id="113" name="Text 13"/>
          <p:cNvSpPr txBox="1"/>
          <p:nvPr/>
        </p:nvSpPr>
        <p:spPr>
          <a:xfrm>
            <a:off x="8417357" y="14173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14" name="Text 14"/>
          <p:cNvSpPr txBox="1"/>
          <p:nvPr/>
        </p:nvSpPr>
        <p:spPr>
          <a:xfrm>
            <a:off x="8417357" y="2057400"/>
            <a:ext cx="2997098" cy="1005840"/>
          </a:xfrm>
          <a:prstGeom prst="rect">
            <a:avLst/>
          </a:prstGeom>
          <a:noFill/>
          <a:ln/>
        </p:spPr>
        <p:txBody>
          <a:bodyPr wrap="square" lIns="0" tIns="0" rIns="0" bIns="0" rtlCol="0" anchor="t"/>
          <a:lstStyle/>
          <a:p>
            <a:pPr indent="0" marL="0">
              <a:buNone/>
            </a:pPr>
            <a:r>
              <a:rPr lang="en-US" sz="2000" b="1" dirty="0">
                <a:solidFill>
                  <a:schemeClr val="tx2"/>
                </a:solidFill>
              </a:rPr>
              <a:t>Whether language models capture these relations</a:t>
            </a:r>
            <a:endParaRPr lang="en-US" sz="2000" dirty="0"/>
          </a:p>
        </p:txBody>
      </p:sp>
      <p:sp>
        <p:nvSpPr>
          <p:cNvPr id="115" name="Text 15"/>
          <p:cNvSpPr txBox="1"/>
          <p:nvPr/>
        </p:nvSpPr>
        <p:spPr>
          <a:xfrm>
            <a:off x="8417357" y="3200400"/>
            <a:ext cx="2997098" cy="2697480"/>
          </a:xfrm>
          <a:prstGeom prst="rect">
            <a:avLst/>
          </a:prstGeom>
          <a:noFill/>
          <a:ln/>
        </p:spPr>
        <p:txBody>
          <a:bodyPr wrap="square" lIns="0" tIns="0" rIns="0" bIns="0" rtlCol="0" anchor="t"/>
          <a:lstStyle/>
          <a:p>
            <a:pPr indent="0" marL="0">
              <a:spcAft>
                <a:spcPts val="600"/>
              </a:spcAft>
              <a:buNone/>
            </a:pPr>
            <a:r>
              <a:rPr lang="en-US" sz="1800" b="1" dirty="0">
                <a:solidFill>
                  <a:schemeClr val="accent3"/>
                </a:solidFill>
              </a:rPr>
              <a:t>How</a:t>
            </a:r>
            <a:endParaRPr lang="en-US" sz="1800" dirty="0"/>
          </a:p>
          <a:p>
            <a:pPr indent="0" marL="0">
              <a:spcAft>
                <a:spcPts val="600"/>
              </a:spcAft>
              <a:buNone/>
            </a:pPr>
            <a:r>
              <a:rPr lang="en-US" sz="1800" dirty="0">
                <a:solidFill>
                  <a:schemeClr val="tx1"/>
                </a:solidFill>
              </a:rPr>
              <a:t>Video-language models describe my videos and judge each frame</a:t>
            </a:r>
            <a:endParaRPr lang="en-US" sz="1800" dirty="0"/>
          </a:p>
          <a:p>
            <a:pPr indent="0" marL="0">
              <a:spcAft>
                <a:spcPts val="600"/>
              </a:spcAft>
              <a:buNone/>
            </a:pPr>
            <a:r>
              <a:rPr lang="en-US" sz="1800" b="1" dirty="0">
                <a:solidFill>
                  <a:schemeClr val="accent2"/>
                </a:solidFill>
              </a:rPr>
              <a:t>Prediction</a:t>
            </a:r>
            <a:endParaRPr lang="en-US" sz="1800" dirty="0"/>
          </a:p>
          <a:p>
            <a:pPr indent="0" marL="0">
              <a:spcAft>
                <a:spcPts val="600"/>
              </a:spcAft>
              <a:buNone/>
            </a:pPr>
            <a:r>
              <a:rPr lang="en-US" sz="1800" dirty="0">
                <a:solidFill>
                  <a:schemeClr val="tx1"/>
                </a:solidFill>
              </a:rPr>
              <a:t>Lexical prompts shift phases; predicate prompts, endpoints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548640" y="365760"/>
            <a:ext cx="11094415" cy="731520"/>
          </a:xfrm>
          <a:prstGeom prst="rect">
            <a:avLst/>
          </a:prstGeom>
          <a:noFill/>
        </p:spPr>
        <p:txBody>
          <a:bodyPr wrap="square" lIns="0" tIns="0" rIns="0" bIns="0" rtlCol="0" anchor="ctr"/>
          <a:lstStyle/>
          <a:p>
            <a:pPr marL="0" indent="0" algn="l">
              <a:buNone/>
            </a:pPr>
            <a:r>
              <a:rPr lang="en-US" sz="3000" b="1" dirty="0">
                <a:solidFill>
                  <a:schemeClr val="tx2"/>
                </a:solidFill>
              </a:rPr>
              <a:t>A two-year plan</a:t>
            </a:r>
            <a:endParaRPr lang="en-US" sz="3000" dirty="0"/>
          </a:p>
        </p:txBody>
      </p:sp>
      <p:sp>
        <p:nvSpPr>
          <p:cNvPr id="4" name="Shape 1"/>
          <p:cNvSpPr/>
          <p:nvPr/>
        </p:nvSpPr>
        <p:spPr>
          <a:xfrm>
            <a:off x="777240" y="1463040"/>
            <a:ext cx="548640" cy="548640"/>
          </a:xfrm>
          <a:prstGeom prst="ellipse">
            <a:avLst/>
          </a:prstGeom>
          <a:solidFill>
            <a:schemeClr val="accent1"/>
          </a:solidFill>
        </p:spPr>
      </p:sp>
      <p:sp>
        <p:nvSpPr>
          <p:cNvPr id="5" name="Text 2"/>
          <p:cNvSpPr txBox="1"/>
          <p:nvPr/>
        </p:nvSpPr>
        <p:spPr>
          <a:xfrm>
            <a:off x="777240" y="1463040"/>
            <a:ext cx="548640" cy="548640"/>
          </a:xfrm>
          <a:prstGeom prst="rect">
            <a:avLst/>
          </a:prstGeom>
          <a:noFill/>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6" name="Shape 3"/>
          <p:cNvSpPr/>
          <p:nvPr/>
        </p:nvSpPr>
        <p:spPr>
          <a:xfrm>
            <a:off x="548640" y="2194560"/>
            <a:ext cx="3423818" cy="2377440"/>
          </a:xfrm>
          <a:prstGeom prst="roundRect">
            <a:avLst>
              <a:gd name="adj" fmla="val 3846"/>
            </a:avLst>
          </a:prstGeom>
          <a:solidFill>
            <a:schemeClr val="bg2"/>
          </a:solidFill>
        </p:spPr>
      </p:sp>
      <p:sp>
        <p:nvSpPr>
          <p:cNvPr id="7" name="Text 4"/>
          <p:cNvSpPr txBox="1"/>
          <p:nvPr/>
        </p:nvSpPr>
        <p:spPr>
          <a:xfrm>
            <a:off x="777240" y="2377440"/>
            <a:ext cx="2966618" cy="2011680"/>
          </a:xfrm>
          <a:prstGeom prst="rect">
            <a:avLst/>
          </a:prstGeom>
          <a:noFill/>
        </p:spPr>
        <p:txBody>
          <a:bodyPr wrap="square" lIns="0" tIns="0" rIns="0" bIns="0" rtlCol="0" anchor="t"/>
          <a:lstStyle/>
          <a:p>
            <a:pPr marL="0" indent="0">
              <a:spcAft>
                <a:spcPts val="600"/>
              </a:spcAft>
              <a:buNone/>
            </a:pPr>
            <a:r>
              <a:rPr lang="en-US" sz="2200" b="1" dirty="0">
                <a:solidFill>
                  <a:schemeClr val="tx2"/>
                </a:solidFill>
              </a:rPr>
              <a:t>Year 1</a:t>
            </a:r>
            <a:endParaRPr lang="en-US" sz="1800" dirty="0"/>
          </a:p>
          <a:p>
            <a:pPr marL="0" indent="0">
              <a:spcAft>
                <a:spcPts val="600"/>
              </a:spcAft>
              <a:buNone/>
            </a:pPr>
            <a:r>
              <a:rPr lang="en-US" sz="1800" dirty="0">
                <a:solidFill>
                  <a:schemeClr val="tx1"/>
                </a:solidFill>
              </a:rPr>
              <a:t>New events: adult replication</a:t>
            </a:r>
            <a:endParaRPr lang="en-US" sz="1800" dirty="0"/>
          </a:p>
          <a:p>
            <a:pPr marL="0" indent="0">
              <a:spcAft>
                <a:spcPts val="600"/>
              </a:spcAft>
              <a:buNone/>
            </a:pPr>
            <a:r>
              <a:rPr lang="en-US" sz="1800" dirty="0">
                <a:solidFill>
                  <a:schemeClr val="tx1"/>
                </a:solidFill>
              </a:rPr>
              <a:t>Direction 3: model study</a:t>
            </a:r>
            <a:endParaRPr lang="en-US" sz="1800" dirty="0"/>
          </a:p>
          <a:p>
            <a:pPr marL="0" indent="0">
              <a:spcAft>
                <a:spcPts val="600"/>
              </a:spcAft>
              <a:buNone/>
            </a:pPr>
            <a:r>
              <a:rPr lang="en-US" sz="1800" dirty="0">
                <a:solidFill>
                  <a:schemeClr val="tx1"/>
                </a:solidFill>
              </a:rPr>
              <a:t>Two papers</a:t>
            </a:r>
            <a:endParaRPr lang="en-US" sz="1800" dirty="0"/>
          </a:p>
        </p:txBody>
      </p:sp>
      <p:sp>
        <p:nvSpPr>
          <p:cNvPr id="8" name="Shape 5"/>
          <p:cNvSpPr/>
          <p:nvPr/>
        </p:nvSpPr>
        <p:spPr>
          <a:xfrm>
            <a:off x="4612538" y="1463040"/>
            <a:ext cx="548640" cy="548640"/>
          </a:xfrm>
          <a:prstGeom prst="ellipse">
            <a:avLst/>
          </a:prstGeom>
          <a:solidFill>
            <a:schemeClr val="accent1"/>
          </a:solidFill>
        </p:spPr>
      </p:sp>
      <p:sp>
        <p:nvSpPr>
          <p:cNvPr id="9" name="Text 6"/>
          <p:cNvSpPr txBox="1"/>
          <p:nvPr/>
        </p:nvSpPr>
        <p:spPr>
          <a:xfrm>
            <a:off x="4612538" y="1463040"/>
            <a:ext cx="548640" cy="548640"/>
          </a:xfrm>
          <a:prstGeom prst="rect">
            <a:avLst/>
          </a:prstGeom>
          <a:noFill/>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0" name="Shape 7"/>
          <p:cNvSpPr/>
          <p:nvPr/>
        </p:nvSpPr>
        <p:spPr>
          <a:xfrm>
            <a:off x="4383938" y="2194560"/>
            <a:ext cx="3423818" cy="2377440"/>
          </a:xfrm>
          <a:prstGeom prst="roundRect">
            <a:avLst>
              <a:gd name="adj" fmla="val 3846"/>
            </a:avLst>
          </a:prstGeom>
          <a:solidFill>
            <a:schemeClr val="bg2"/>
          </a:solidFill>
        </p:spPr>
      </p:sp>
      <p:sp>
        <p:nvSpPr>
          <p:cNvPr id="11" name="Text 8"/>
          <p:cNvSpPr txBox="1"/>
          <p:nvPr/>
        </p:nvSpPr>
        <p:spPr>
          <a:xfrm>
            <a:off x="4612538" y="2377440"/>
            <a:ext cx="2966618" cy="2011680"/>
          </a:xfrm>
          <a:prstGeom prst="rect">
            <a:avLst/>
          </a:prstGeom>
          <a:noFill/>
        </p:spPr>
        <p:txBody>
          <a:bodyPr wrap="square" lIns="0" tIns="0" rIns="0" bIns="0" rtlCol="0" anchor="t"/>
          <a:lstStyle/>
          <a:p>
            <a:pPr marL="0" indent="0">
              <a:spcAft>
                <a:spcPts val="600"/>
              </a:spcAft>
              <a:buNone/>
            </a:pPr>
            <a:r>
              <a:rPr lang="en-US" sz="2200" b="1" dirty="0">
                <a:solidFill>
                  <a:schemeClr val="tx2"/>
                </a:solidFill>
              </a:rPr>
              <a:t>Year 2</a:t>
            </a:r>
            <a:endParaRPr lang="en-US" sz="1800" dirty="0"/>
          </a:p>
          <a:p>
            <a:pPr marL="0" indent="0">
              <a:spcAft>
                <a:spcPts val="600"/>
              </a:spcAft>
              <a:buNone/>
            </a:pPr>
            <a:r>
              <a:rPr lang="en-US" sz="1800" dirty="0">
                <a:solidFill>
                  <a:schemeClr val="tx1"/>
                </a:solidFill>
              </a:rPr>
              <a:t>Direction 1: children</a:t>
            </a:r>
            <a:endParaRPr lang="en-US" sz="1800" dirty="0"/>
          </a:p>
          <a:p>
            <a:pPr marL="0" indent="0">
              <a:spcAft>
                <a:spcPts val="600"/>
              </a:spcAft>
              <a:buNone/>
            </a:pPr>
            <a:r>
              <a:rPr lang="en-US" sz="1800" dirty="0">
                <a:solidFill>
                  <a:schemeClr val="tx1"/>
                </a:solidFill>
              </a:rPr>
              <a:t>Direction 2: training study</a:t>
            </a:r>
            <a:endParaRPr lang="en-US" sz="1800" dirty="0"/>
          </a:p>
        </p:txBody>
      </p:sp>
      <p:sp>
        <p:nvSpPr>
          <p:cNvPr id="12" name="Shape 9"/>
          <p:cNvSpPr/>
          <p:nvPr/>
        </p:nvSpPr>
        <p:spPr>
          <a:xfrm>
            <a:off x="8447837" y="1463040"/>
            <a:ext cx="548640" cy="548640"/>
          </a:xfrm>
          <a:prstGeom prst="ellipse">
            <a:avLst/>
          </a:prstGeom>
          <a:solidFill>
            <a:schemeClr val="accent2"/>
          </a:solidFill>
        </p:spPr>
      </p:sp>
      <p:sp>
        <p:nvSpPr>
          <p:cNvPr id="13" name="Text 10"/>
          <p:cNvSpPr txBox="1"/>
          <p:nvPr/>
        </p:nvSpPr>
        <p:spPr>
          <a:xfrm>
            <a:off x="8447837" y="1463040"/>
            <a:ext cx="548640" cy="548640"/>
          </a:xfrm>
          <a:prstGeom prst="rect">
            <a:avLst/>
          </a:prstGeom>
          <a:noFill/>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4" name="Shape 11"/>
          <p:cNvSpPr/>
          <p:nvPr/>
        </p:nvSpPr>
        <p:spPr>
          <a:xfrm>
            <a:off x="8219237" y="2194560"/>
            <a:ext cx="3423818" cy="2377440"/>
          </a:xfrm>
          <a:prstGeom prst="roundRect">
            <a:avLst>
              <a:gd name="adj" fmla="val 3846"/>
            </a:avLst>
          </a:prstGeom>
          <a:solidFill>
            <a:schemeClr val="bg2"/>
          </a:solidFill>
        </p:spPr>
      </p:sp>
      <p:sp>
        <p:nvSpPr>
          <p:cNvPr id="15" name="Text 12"/>
          <p:cNvSpPr txBox="1"/>
          <p:nvPr/>
        </p:nvSpPr>
        <p:spPr>
          <a:xfrm>
            <a:off x="8447837" y="2377440"/>
            <a:ext cx="2966618" cy="2011680"/>
          </a:xfrm>
          <a:prstGeom prst="rect">
            <a:avLst/>
          </a:prstGeom>
          <a:noFill/>
        </p:spPr>
        <p:txBody>
          <a:bodyPr wrap="square" lIns="0" tIns="0" rIns="0" bIns="0" rtlCol="0" anchor="t"/>
          <a:lstStyle/>
          <a:p>
            <a:pPr marL="0" indent="0">
              <a:spcAft>
                <a:spcPts val="600"/>
              </a:spcAft>
              <a:buNone/>
            </a:pPr>
            <a:r>
              <a:rPr lang="en-US" sz="2200" b="1" dirty="0">
                <a:solidFill>
                  <a:schemeClr val="tx2"/>
                </a:solidFill>
              </a:rPr>
              <a:t>Throughout</a:t>
            </a:r>
            <a:endParaRPr lang="en-US" sz="1800" dirty="0"/>
          </a:p>
          <a:p>
            <a:pPr marL="0" indent="0">
              <a:spcAft>
                <a:spcPts val="600"/>
              </a:spcAft>
              <a:buNone/>
            </a:pPr>
            <a:r>
              <a:rPr lang="en-US" sz="1800" dirty="0">
                <a:solidFill>
                  <a:schemeClr val="tx1"/>
                </a:solidFill>
              </a:rPr>
              <a:t>Thesis papers</a:t>
            </a:r>
            <a:endParaRPr lang="en-US" sz="1800" dirty="0"/>
          </a:p>
          <a:p>
            <a:pPr marL="0" indent="0">
              <a:spcAft>
                <a:spcPts val="600"/>
              </a:spcAft>
              <a:buNone/>
            </a:pPr>
            <a:r>
              <a:rPr lang="en-US" sz="1800" dirty="0">
                <a:solidFill>
                  <a:schemeClr val="tx1"/>
                </a:solidFill>
              </a:rPr>
              <a:t>Grant applications</a:t>
            </a:r>
            <a:endParaRPr lang="en-US" sz="1800" dirty="0"/>
          </a:p>
          <a:p>
            <a:pPr marL="0" indent="0">
              <a:spcAft>
                <a:spcPts val="600"/>
              </a:spcAft>
              <a:buNone/>
            </a:pPr>
            <a:r>
              <a:rPr lang="en-US" sz="1800" dirty="0">
                <a:solidFill>
                  <a:schemeClr val="tx1"/>
                </a:solidFill>
              </a:rPr>
              <a:t>Mentoring students</a:t>
            </a:r>
            <a:endParaRPr lang="en-US" sz="1800" dirty="0"/>
          </a:p>
        </p:txBody>
      </p:sp>
      <p:sp>
        <p:nvSpPr>
          <p:cNvPr id="16" name="Shape 13"/>
          <p:cNvSpPr/>
          <p:nvPr/>
        </p:nvSpPr>
        <p:spPr>
          <a:xfrm>
            <a:off x="548640" y="4892040"/>
            <a:ext cx="11094415" cy="685800"/>
          </a:xfrm>
          <a:prstGeom prst="roundRect">
            <a:avLst>
              <a:gd name="adj" fmla="val 10667"/>
            </a:avLst>
          </a:prstGeom>
          <a:solidFill>
            <a:schemeClr val="bg2"/>
          </a:solidFill>
        </p:spPr>
      </p:sp>
      <p:sp>
        <p:nvSpPr>
          <p:cNvPr id="17" name="Text 14"/>
          <p:cNvSpPr txBox="1"/>
          <p:nvPr/>
        </p:nvSpPr>
        <p:spPr>
          <a:xfrm>
            <a:off x="777240" y="4892040"/>
            <a:ext cx="10637215" cy="685800"/>
          </a:xfrm>
          <a:prstGeom prst="rect">
            <a:avLst/>
          </a:prstGeom>
          <a:noFill/>
        </p:spPr>
        <p:txBody>
          <a:bodyPr wrap="square" lIns="0" tIns="0" rIns="0" bIns="0" rtlCol="0" anchor="ctr"/>
          <a:lstStyle/>
          <a:p>
            <a:pPr marL="0" indent="0">
              <a:buNone/>
            </a:pPr>
            <a:r>
              <a:rPr lang="en-US" sz="1800" b="1" dirty="0">
                <a:solidFill>
                  <a:schemeClr val="accent2"/>
                </a:solidFill>
              </a:rPr>
              <a:t>Takeaway   </a:t>
            </a:r>
            <a:r>
              <a:rPr lang="en-US" sz="1800" dirty="0">
                <a:solidFill>
                  <a:schemeClr val="tx1"/>
                </a:solidFill>
              </a:rPr>
              <a:t>From correspondence to development, learning and input.</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p:spPr>
        <p:txBody>
          <a:bodyPr/>
          <a:lstStyle>
            <a:lvl1pPr>
              <a:defRPr sz="1800">
                <a:solidFill>
                  <a:schemeClr val="accent3"/>
                </a:solidFill>
              </a:defRPr>
            </a:lvl1pPr>
          </a:lstStyle>
          <a:p>
            <a:pPr algn="r"/>
            <a:fld id="{F7021451-1387-4CA6-816F-3879F97B5CBC}" type="slidenum">
              <a:rPr lang="en-US" b="0"/>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txBox="1"/>
          <p:nvPr/>
        </p:nvSpPr>
        <p:spPr>
          <a:xfrm>
            <a:off x="548640" y="548640"/>
            <a:ext cx="11094415" cy="731520"/>
          </a:xfrm>
          <a:prstGeom prst="rect">
            <a:avLst/>
          </a:prstGeom>
          <a:noFill/>
        </p:spPr>
        <p:txBody>
          <a:bodyPr wrap="square" lIns="0" tIns="0" rIns="0" bIns="0" rtlCol="0" anchor="ctr"/>
          <a:lstStyle/>
          <a:p>
            <a:pPr marL="0" indent="0">
              <a:buNone/>
            </a:pPr>
            <a:r>
              <a:rPr lang="en-US" sz="3000" b="1" dirty="0">
                <a:solidFill>
                  <a:schemeClr val="bg1"/>
                </a:solidFill>
              </a:rPr>
              <a:t>What I would bring</a:t>
            </a:r>
            <a:endParaRPr lang="en-US" sz="3000" dirty="0"/>
          </a:p>
        </p:txBody>
      </p:sp>
      <p:sp>
        <p:nvSpPr>
          <p:cNvPr id="4" name="Text 1"/>
          <p:cNvSpPr txBox="1"/>
          <p:nvPr/>
        </p:nvSpPr>
        <p:spPr>
          <a:xfrm>
            <a:off x="548640" y="1600200"/>
            <a:ext cx="3423818" cy="2377440"/>
          </a:xfrm>
          <a:prstGeom prst="rect">
            <a:avLst/>
          </a:prstGeom>
          <a:noFill/>
        </p:spPr>
        <p:txBody>
          <a:bodyPr wrap="square" lIns="0" tIns="0" rIns="0" bIns="0" rtlCol="0" anchor="t"/>
          <a:lstStyle/>
          <a:p>
            <a:pPr marL="0" indent="0">
              <a:spcAft>
                <a:spcPts val="800"/>
              </a:spcAft>
              <a:buNone/>
            </a:pPr>
            <a:r>
              <a:rPr lang="en-US" sz="2200" b="1" dirty="0">
                <a:solidFill>
                  <a:schemeClr val="accent4"/>
                </a:solidFill>
              </a:rPr>
              <a:t>Methods</a:t>
            </a:r>
            <a:endParaRPr lang="en-US" sz="1800" dirty="0"/>
          </a:p>
          <a:p>
            <a:pPr marL="0" indent="0">
              <a:spcAft>
                <a:spcPts val="800"/>
              </a:spcAft>
              <a:buNone/>
            </a:pPr>
            <a:r>
              <a:rPr lang="en-US" sz="1800" dirty="0">
                <a:solidFill>
                  <a:schemeClr val="bg1"/>
                </a:solidFill>
              </a:rPr>
              <a:t>Video stimuli and norming</a:t>
            </a:r>
            <a:endParaRPr lang="en-US" sz="1800" dirty="0"/>
          </a:p>
          <a:p>
            <a:pPr marL="0" indent="0">
              <a:spcAft>
                <a:spcPts val="800"/>
              </a:spcAft>
              <a:buNone/>
            </a:pPr>
            <a:r>
              <a:rPr lang="en-US" sz="1800" dirty="0">
                <a:solidFill>
                  <a:schemeClr val="bg1"/>
                </a:solidFill>
              </a:rPr>
              <a:t>Child testing</a:t>
            </a:r>
            <a:endParaRPr lang="en-US" sz="1800" dirty="0"/>
          </a:p>
          <a:p>
            <a:pPr marL="0" indent="0">
              <a:spcAft>
                <a:spcPts val="800"/>
              </a:spcAft>
              <a:buNone/>
            </a:pPr>
            <a:r>
              <a:rPr lang="en-US" sz="1800" dirty="0">
                <a:solidFill>
                  <a:schemeClr val="bg1"/>
                </a:solidFill>
              </a:rPr>
              <a:t>Bayesian GLMMs, R, Python</a:t>
            </a:r>
            <a:endParaRPr lang="en-US" sz="1800" dirty="0"/>
          </a:p>
        </p:txBody>
      </p:sp>
      <p:sp>
        <p:nvSpPr>
          <p:cNvPr id="5" name="Text 2"/>
          <p:cNvSpPr txBox="1"/>
          <p:nvPr/>
        </p:nvSpPr>
        <p:spPr>
          <a:xfrm>
            <a:off x="4383938" y="1600200"/>
            <a:ext cx="3423818" cy="2377440"/>
          </a:xfrm>
          <a:prstGeom prst="rect">
            <a:avLst/>
          </a:prstGeom>
          <a:noFill/>
        </p:spPr>
        <p:txBody>
          <a:bodyPr wrap="square" lIns="0" tIns="0" rIns="0" bIns="0" rtlCol="0" anchor="t"/>
          <a:lstStyle/>
          <a:p>
            <a:pPr marL="0" indent="0">
              <a:spcAft>
                <a:spcPts val="800"/>
              </a:spcAft>
              <a:buNone/>
            </a:pPr>
            <a:r>
              <a:rPr lang="en-US" sz="2200" b="1" dirty="0">
                <a:solidFill>
                  <a:schemeClr val="accent4"/>
                </a:solidFill>
              </a:rPr>
              <a:t>Projects</a:t>
            </a:r>
            <a:endParaRPr lang="en-US" sz="1800" dirty="0"/>
          </a:p>
          <a:p>
            <a:pPr marL="0" indent="0">
              <a:spcAft>
                <a:spcPts val="800"/>
              </a:spcAft>
              <a:buNone/>
            </a:pPr>
            <a:r>
              <a:rPr lang="en-US" sz="1800" dirty="0">
                <a:solidFill>
                  <a:schemeClr val="bg1"/>
                </a:solidFill>
              </a:rPr>
              <a:t>Led a CAS field project</a:t>
            </a:r>
            <a:endParaRPr lang="en-US" sz="1800" dirty="0"/>
          </a:p>
          <a:p>
            <a:pPr marL="0" indent="0">
              <a:spcAft>
                <a:spcPts val="800"/>
              </a:spcAft>
              <a:buNone/>
            </a:pPr>
            <a:r>
              <a:rPr lang="en-US" sz="1800" dirty="0">
                <a:solidFill>
                  <a:schemeClr val="bg1"/>
                </a:solidFill>
              </a:rPr>
              <a:t>Preregistered experiments</a:t>
            </a:r>
            <a:endParaRPr lang="en-US" sz="1800" dirty="0"/>
          </a:p>
          <a:p>
            <a:pPr marL="0" indent="0">
              <a:spcAft>
                <a:spcPts val="800"/>
              </a:spcAft>
              <a:buNone/>
            </a:pPr>
            <a:r>
              <a:rPr lang="en-US" sz="1800" dirty="0">
                <a:solidFill>
                  <a:schemeClr val="bg1"/>
                </a:solidFill>
              </a:rPr>
              <a:t>Teaching research methods</a:t>
            </a:r>
            <a:endParaRPr lang="en-US" sz="1800" dirty="0"/>
          </a:p>
        </p:txBody>
      </p:sp>
      <p:sp>
        <p:nvSpPr>
          <p:cNvPr id="6" name="Text 3"/>
          <p:cNvSpPr txBox="1"/>
          <p:nvPr/>
        </p:nvSpPr>
        <p:spPr>
          <a:xfrm>
            <a:off x="8219237" y="1600200"/>
            <a:ext cx="3423818" cy="2377440"/>
          </a:xfrm>
          <a:prstGeom prst="rect">
            <a:avLst/>
          </a:prstGeom>
          <a:noFill/>
        </p:spPr>
        <p:txBody>
          <a:bodyPr wrap="square" lIns="0" tIns="0" rIns="0" bIns="0" rtlCol="0" anchor="t"/>
          <a:lstStyle/>
          <a:p>
            <a:pPr marL="0" indent="0">
              <a:spcAft>
                <a:spcPts val="800"/>
              </a:spcAft>
              <a:buNone/>
            </a:pPr>
            <a:r>
              <a:rPr lang="en-US" sz="2200" b="1" dirty="0">
                <a:solidFill>
                  <a:schemeClr val="accent4"/>
                </a:solidFill>
              </a:rPr>
              <a:t>Fit</a:t>
            </a:r>
            <a:endParaRPr lang="en-US" sz="1800" dirty="0"/>
          </a:p>
          <a:p>
            <a:pPr marL="0" indent="0">
              <a:spcAft>
                <a:spcPts val="800"/>
              </a:spcAft>
              <a:buNone/>
            </a:pPr>
            <a:r>
              <a:rPr lang="en-US" sz="1800" dirty="0">
                <a:solidFill>
                  <a:schemeClr val="bg1"/>
                </a:solidFill>
              </a:rPr>
              <a:t>Event language in development</a:t>
            </a:r>
            <a:endParaRPr lang="en-US" sz="1800" dirty="0"/>
          </a:p>
          <a:p>
            <a:pPr marL="0" indent="0">
              <a:spcAft>
                <a:spcPts val="800"/>
              </a:spcAft>
              <a:buNone/>
            </a:pPr>
            <a:r>
              <a:rPr lang="en-US" sz="1800" dirty="0">
                <a:solidFill>
                  <a:schemeClr val="bg1"/>
                </a:solidFill>
              </a:rPr>
              <a:t>Mandarin–English expertise</a:t>
            </a:r>
            <a:endParaRPr lang="en-US" sz="1800" dirty="0"/>
          </a:p>
          <a:p>
            <a:pPr marL="0" indent="0">
              <a:spcAft>
                <a:spcPts val="800"/>
              </a:spcAft>
              <a:buNone/>
            </a:pPr>
            <a:r>
              <a:rPr lang="en-US" sz="1800" dirty="0">
                <a:solidFill>
                  <a:schemeClr val="bg1"/>
                </a:solidFill>
              </a:rPr>
              <a:t>Experiments and models</a:t>
            </a:r>
            <a:endParaRPr lang="en-US" sz="1800" dirty="0"/>
          </a:p>
        </p:txBody>
      </p:sp>
      <p:sp>
        <p:nvSpPr>
          <p:cNvPr id="7" name="Text 4"/>
          <p:cNvSpPr txBox="1"/>
          <p:nvPr/>
        </p:nvSpPr>
        <p:spPr>
          <a:xfrm>
            <a:off x="548640" y="4480560"/>
            <a:ext cx="11094415" cy="1371600"/>
          </a:xfrm>
          <a:prstGeom prst="rect">
            <a:avLst/>
          </a:prstGeom>
          <a:noFill/>
        </p:spPr>
        <p:txBody>
          <a:bodyPr wrap="square" lIns="0" tIns="0" rIns="0" bIns="0" rtlCol="0" anchor="t"/>
          <a:lstStyle/>
          <a:p>
            <a:pPr marL="0" indent="0">
              <a:buNone/>
            </a:pPr>
            <a:r>
              <a:rPr lang="en-US" sz="3600" b="1" dirty="0">
                <a:solidFill>
                  <a:schemeClr val="bg1"/>
                </a:solidFill>
              </a:rPr>
              <a:t>Thank you</a:t>
            </a:r>
            <a:endParaRPr lang="en-US" sz="1800" dirty="0"/>
          </a:p>
          <a:p>
            <a:pPr marL="0" indent="0">
              <a:buNone/>
            </a:pPr>
            <a:r>
              <a:rPr lang="en-US" sz="1800" dirty="0">
                <a:solidFill>
                  <a:schemeClr val="accent5"/>
                </a:solidFill>
              </a:rPr>
              <a:t>xtliu0516@yeah.net  ·  xiaotaoliu.owlstown.net</a:t>
            </a:r>
            <a:endParaRPr lang="en-US" sz="1800" dirty="0"/>
          </a:p>
        </p:txBody>
      </p:sp>
      <p:sp>
        <p:nvSpPr>
          <p:cNvPr id="8" name="Text 0"/>
          <p:cNvSpPr/>
          <p:nvPr>
            <p:ph type="title" idx="100" hasCustomPrompt="1"/>
          </p:nvPr>
        </p:nvSpPr>
        <p:spPr>
          <a:xfrm>
            <a:off x="548640" y="1737360"/>
            <a:ext cx="11094415" cy="1188720"/>
          </a:xfrm>
          <a:prstGeom prst="rect">
            <a:avLst/>
          </a:prstGeom>
          <a:noFill/>
        </p:spPr>
        <p:txBody>
          <a:bodyPr wrap="square" lIns="0" tIns="0" rIns="0" bIns="0" rtlCol="0" anchor="b"/>
          <a:lstStyle/>
          <a:p>
            <a:pPr marL="0" indent="0" algn="l">
              <a:buNone/>
            </a:pPr>
            <a:endParaRPr lang="en-US" sz="3600" dirty="0"/>
          </a:p>
        </p:txBody>
      </p:sp>
      <p:sp>
        <p:nvSpPr>
          <p:cNvPr id="9" name="Text 0"/>
          <p:cNvSpPr/>
          <p:nvPr>
            <p:ph type="body" idx="101" hasCustomPrompt="1"/>
          </p:nvPr>
        </p:nvSpPr>
        <p:spPr>
          <a:xfrm>
            <a:off x="548640" y="3108960"/>
            <a:ext cx="11094415" cy="822960"/>
          </a:xfrm>
          <a:prstGeom prst="rect">
            <a:avLst/>
          </a:prstGeom>
          <a:noFill/>
        </p:spPr>
        <p:txBody>
          <a:bodyPr wrap="square" lIns="0" tIns="0" rIns="0" bIns="0" rtlCol="0" anchor="t"/>
          <a:lstStyle/>
          <a:p>
            <a:pPr marL="0" indent="0" algn="l">
              <a:buNone/>
            </a:pPr>
            <a:endParaRPr lang="en-US" sz="2200" dirty="0"/>
          </a:p>
        </p:txBody>
      </p:sp>
      <p:sp>
        <p:nvSpPr>
          <p:cNvPr id="10" name="Text 0"/>
          <p:cNvSpPr/>
          <p:nvPr>
            <p:ph type="body" idx="102" hasCustomPrompt="1"/>
          </p:nvPr>
        </p:nvSpPr>
        <p:spPr>
          <a:xfrm>
            <a:off x="548640" y="4663440"/>
            <a:ext cx="11094415" cy="1371600"/>
          </a:xfrm>
          <a:prstGeom prst="rect">
            <a:avLst/>
          </a:prstGeom>
          <a:noFill/>
        </p:spPr>
        <p:txBody>
          <a:bodyPr wrap="square" lIns="0" tIns="0" rIns="0" bIns="0" rtlCol="0" anchor="t"/>
          <a:lstStyle/>
          <a:p>
            <a:pPr marL="0" indent="0" algn="l">
              <a:buNone/>
            </a:pPr>
            <a:endParaRPr lang="en-US" sz="1800" dirty="0"/>
          </a:p>
        </p:txBody>
      </p:sp>
    </p:spTree>
  </p:cSld>
  <p:clrMapOvr>
    <a:masterClrMapping/>
  </p:clrMapOvr>
</p:sld>
</file>

<file path=ppt/tags/tag1.xml><?xml version="1.0" encoding="utf-8"?>
<p:tagLst xmlns:p="http://schemas.openxmlformats.org/presentationml/2006/main">
  <p:tag name="KSO_WM_DIAGRAM_VIRTUALLY_FRAME" val="{&quot;height&quot;:324,&quot;left&quot;:518.4,&quot;top&quot;:115.2,&quot;width&quot;:398.3759842519685}"/>
</p:tagLst>
</file>

<file path=ppt/tags/tag2.xml><?xml version="1.0" encoding="utf-8"?>
<p:tagLst xmlns:p="http://schemas.openxmlformats.org/presentationml/2006/main">
  <p:tag name="KSO_WM_DIAGRAM_VIRTUALLY_FRAME" val="{&quot;height&quot;:324,&quot;left&quot;:518.4,&quot;top&quot;:115.2,&quot;width&quot;:398.3759842519685}"/>
</p:tagLst>
</file>

<file path=ppt/tags/tag3.xml><?xml version="1.0" encoding="utf-8"?>
<p:tagLst xmlns:p="http://schemas.openxmlformats.org/presentationml/2006/main">
  <p:tag name="KSO_WM_DIAGRAM_VIRTUALLY_FRAME" val="{&quot;height&quot;:324,&quot;left&quot;:518.4,&quot;top&quot;:115.2,&quot;width&quot;:398.3759842519685}"/>
</p:tagLst>
</file>

<file path=ppt/tags/tag4.xml><?xml version="1.0" encoding="utf-8"?>
<p:tagLst xmlns:p="http://schemas.openxmlformats.org/presentationml/2006/main">
  <p:tag name="KSO_WM_DIAGRAM_VIRTUALLY_FRAME" val="{&quot;height&quot;:324,&quot;left&quot;:518.4,&quot;top&quot;:115.2,&quot;width&quot;:398.3759842519685}"/>
</p:tagLst>
</file>

<file path=ppt/tags/tag5.xml><?xml version="1.0" encoding="utf-8"?>
<p:tagLst xmlns:p="http://schemas.openxmlformats.org/presentationml/2006/main">
  <p:tag name="KSO_WM_DIAGRAM_VIRTUALLY_FRAME" val="{&quot;height&quot;:324,&quot;left&quot;:518.4,&quot;top&quot;:115.2,&quot;width&quot;:398.3759842519685}"/>
</p:tagLst>
</file>

<file path=ppt/tags/tag6.xml><?xml version="1.0" encoding="utf-8"?>
<p:tagLst xmlns:p="http://schemas.openxmlformats.org/presentationml/2006/main">
  <p:tag name="KSO_WM_DIAGRAM_VIRTUALLY_FRAME" val="{&quot;height&quot;:324,&quot;left&quot;:518.4,&quot;top&quot;:115.2,&quot;width&quot;:398.3759842519685}"/>
</p:tagLst>
</file>

<file path=ppt/tags/tag7.xml><?xml version="1.0" encoding="utf-8"?>
<p:tagLst xmlns:p="http://schemas.openxmlformats.org/presentationml/2006/main">
  <p:tag name="KSO_WM_DIAGRAM_VIRTUALLY_FRAME" val="{&quot;height&quot;:324,&quot;left&quot;:518.4,&quot;top&quot;:115.2,&quot;width&quot;:398.3759842519685}"/>
</p:tagLst>
</file>

<file path=ppt/tags/tag8.xml><?xml version="1.0" encoding="utf-8"?>
<p:tagLst xmlns:p="http://schemas.openxmlformats.org/presentationml/2006/main">
  <p:tag name="KSO_WM_DIAGRAM_VIRTUALLY_FRAME" val="{&quot;height&quot;:324,&quot;left&quot;:518.4,&quot;top&quot;:115.2,&quot;width&quot;:398.3759842519685}"/>
</p:tagLst>
</file>

<file path=ppt/tags/tag9.xml><?xml version="1.0" encoding="utf-8"?>
<p:tagLst xmlns:p="http://schemas.openxmlformats.org/presentationml/2006/main">
  <p:tag name="KSO_WM_DIAGRAM_VIRTUALLY_FRAME" val="{&quot;height&quot;:324,&quot;left&quot;:518.4,&quot;top&quot;:115.2,&quot;width&quot;:398.3759842519685}"/>
</p:tagLst>
</file>

<file path=ppt/theme/theme1.xml><?xml version="1.0" encoding="utf-8"?>
<a:theme xmlns:a="http://schemas.openxmlformats.org/drawingml/2006/main" name="Event Relations">
  <a:themeElements>
    <a:clrScheme name="Event Relations">
      <a:dk1>
        <a:srgbClr val="1F2A30"/>
      </a:dk1>
      <a:lt1>
        <a:srgbClr val="FFFFFF"/>
      </a:lt1>
      <a:dk2>
        <a:srgbClr val="1E4D4A"/>
      </a:dk2>
      <a:lt2>
        <a:srgbClr val="EEF3F2"/>
      </a:lt2>
      <a:accent1>
        <a:srgbClr val="1E4D4A"/>
      </a:accent1>
      <a:accent2>
        <a:srgbClr val="D9703A"/>
      </a:accent2>
      <a:accent3>
        <a:srgbClr val="5B7083"/>
      </a:accent3>
      <a:accent4>
        <a:srgbClr val="8FB8B0"/>
      </a:accent4>
      <a:accent5>
        <a:srgbClr val="C9D6D3"/>
      </a:accent5>
      <a:accent6>
        <a:srgbClr val="A44A3F"/>
      </a:accent6>
      <a:hlink>
        <a:srgbClr val="1E4D4A"/>
      </a:hlink>
      <a:folHlink>
        <a:srgbClr val="5B7083"/>
      </a:folHlink>
    </a:clrScheme>
    <a:fontScheme name="Event Relations">
      <a:majorFont>
        <a:latin typeface="Cambria"/>
        <a:ea typeface="SimSun"/>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mbria"/>
        <a:ea typeface="SimSun"/>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Event Relations">
  <a:themeElements>
    <a:clrScheme name="Event Relations">
      <a:dk1>
        <a:srgbClr val="1F2A30"/>
      </a:dk1>
      <a:lt1>
        <a:srgbClr val="FFFFFF"/>
      </a:lt1>
      <a:dk2>
        <a:srgbClr val="1E4D4A"/>
      </a:dk2>
      <a:lt2>
        <a:srgbClr val="EEF3F2"/>
      </a:lt2>
      <a:accent1>
        <a:srgbClr val="1E4D4A"/>
      </a:accent1>
      <a:accent2>
        <a:srgbClr val="D9703A"/>
      </a:accent2>
      <a:accent3>
        <a:srgbClr val="5B7083"/>
      </a:accent3>
      <a:accent4>
        <a:srgbClr val="8FB8B0"/>
      </a:accent4>
      <a:accent5>
        <a:srgbClr val="C9D6D3"/>
      </a:accent5>
      <a:accent6>
        <a:srgbClr val="A44A3F"/>
      </a:accent6>
      <a:hlink>
        <a:srgbClr val="1E4D4A"/>
      </a:hlink>
      <a:folHlink>
        <a:srgbClr val="5B7083"/>
      </a:folHlink>
    </a:clrScheme>
    <a:fontScheme name="Event Relations">
      <a:majorFont>
        <a:latin typeface="Cambria"/>
        <a:ea typeface="SimSun"/>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mbria"/>
        <a:ea typeface="SimSun"/>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4789</Words>
  <Application>WPS 演示</Application>
  <PresentationFormat>On-screen Show (16:9)</PresentationFormat>
  <Paragraphs>294</Paragraphs>
  <Slides>11</Slides>
  <Notes>11</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11</vt:i4>
      </vt:variant>
    </vt:vector>
  </HeadingPairs>
  <TitlesOfParts>
    <vt:vector size="20" baseType="lpstr">
      <vt:lpstr>Arial</vt:lpstr>
      <vt:lpstr>宋体</vt:lpstr>
      <vt:lpstr>Wingdings</vt:lpstr>
      <vt:lpstr>Cambria</vt:lpstr>
      <vt:lpstr>微软雅黑</vt:lpstr>
      <vt:lpstr>Arial Unicode MS</vt:lpstr>
      <vt:lpstr>等线 Light</vt:lpstr>
      <vt:lpstr>等线</vt:lpstr>
      <vt:lpstr>Event Relations</vt:lpstr>
      <vt:lpstr>From Event Language to Relational Learning</vt:lpstr>
      <vt:lpstr>One question across my work</vt:lpstr>
      <vt:lpstr>Study 1 (PhD): Event processing at two levels</vt:lpstr>
      <vt:lpstr>Study 2: Children’s action–result language (with Yue Ji)</vt:lpstr>
      <vt:lpstr>Study 3: A pragmatic account of superordinates in Mandarin</vt:lpstr>
      <vt:lpstr>From the thesis to three questions</vt:lpstr>
      <vt:lpstr>Direction 1: Two levels in children’s event processing</vt:lpstr>
      <vt:lpstr>Direction 2: Can sustained training shift each level?</vt:lpstr>
      <vt:lpstr>Direction 3: Do language models separate the two levels?</vt:lpstr>
      <vt:lpstr>A two-year plan</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Event Language to Relational Learning</dc:title>
  <dc:creator>Xiaotao Liu</dc:creator>
  <dc:subject>PptxGenJS Presentation</dc:subject>
  <cp:lastModifiedBy>荷味13762214268</cp:lastModifiedBy>
  <cp:revision>2</cp:revision>
  <dcterms:created xsi:type="dcterms:W3CDTF">2026-10-10T22:14:00Z</dcterms:created>
  <dcterms:modified xsi:type="dcterms:W3CDTF">2026-10-10T23:53:16Z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2052-12.1.0.28505</vt:lpwstr>
  </property>
  <property fmtid="{D5CDD505-2E9C-101B-9397-08002B2CF9AE}" pid="3" name="ICV">
    <vt:lpwstr>CD8CF85F5FF440A29D624C66C5364114_12</vt:lpwstr>
  </property>
</Properties>
</file>