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1F2A30"/>
                </a:solidFill>
                <a:latin typeface="+mn-lt"/>
              </a:defRPr>
            </a:pPr>
            <a:r>
              <a:rPr sz="1800" b="0" i="0" u="none" strike="noStrike">
                <a:solidFill>
                  <a:srgbClr val="1F2A30"/>
                </a:solidFill>
                <a:latin typeface="+mn-lt"/>
              </a:rPr>
              <a:t>Predicate level: telic descriptions</a:t>
            </a:r>
          </a:p>
        </c:rich>
      </c:tx>
      <c:layout/>
      <c:overlay val="0"/>
    </c:title>
    <c:autoTitleDeleted val="0"/>
    <c:plotArea>
      <c:layout/>
      <c:barChart>
        <c:barDir val="col"/>
        <c:grouping val="clustered"/>
        <c:varyColors val="0"/>
        <c:ser>
          <c:idx val="0"/>
          <c:order val="0"/>
          <c:tx>
            <c:strRef>
              <c:f>Sheet1!$B$1</c:f>
              <c:strCache>
                <c:ptCount val="1"/>
                <c:pt idx="0">
                  <c:v>English</c:v>
                </c:pt>
              </c:strCache>
            </c:strRef>
          </c:tx>
          <c:spPr>
            <a:solidFill>
              <a:srgbClr val="5B7083"/>
            </a:solidFill>
            <a:effectLst/>
          </c:spPr>
          <c:invertIfNegative val="0"/>
          <c:dLbls>
            <c:numFmt formatCode="0&quot;%&quot;" sourceLinked="0"/>
            <c:txPr>
              <a:bodyPr/>
              <a:lstStyle/>
              <a:p>
                <a:pPr>
                  <a:defRPr b="0" i="0" strike="noStrike" sz="18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Cutting</c:v>
                  </c:pt>
                  <c:pt idx="1">
                    <c:v>Blending</c:v>
                  </c:pt>
                </c:lvl>
              </c:multiLvlStrCache>
            </c:multiLvlStrRef>
          </c:cat>
          <c:val>
            <c:numRef>
              <c:f>Sheet1!$B$2:$B$3</c:f>
              <c:numCache>
                <c:formatCode>General</c:formatCode>
                <c:ptCount val="2"/>
                <c:pt idx="0">
                  <c:v>79.2</c:v>
                </c:pt>
                <c:pt idx="1">
                  <c:v>16.6</c:v>
                </c:pt>
              </c:numCache>
            </c:numRef>
          </c:val>
        </c:ser>
        <c:ser>
          <c:idx val="1"/>
          <c:order val="1"/>
          <c:tx>
            <c:strRef>
              <c:f>Sheet1!$C$1</c:f>
              <c:strCache>
                <c:ptCount val="1"/>
                <c:pt idx="0">
                  <c:v>Mandarin</c:v>
                </c:pt>
              </c:strCache>
            </c:strRef>
          </c:tx>
          <c:spPr>
            <a:solidFill>
              <a:srgbClr val="D9703A"/>
            </a:solidFill>
            <a:effectLst/>
          </c:spPr>
          <c:invertIfNegative val="0"/>
          <c:dLbls>
            <c:numFmt formatCode="0&quot;%&quot;" sourceLinked="0"/>
            <c:txPr>
              <a:bodyPr/>
              <a:lstStyle/>
              <a:p>
                <a:pPr>
                  <a:defRPr b="0" i="0" strike="noStrike" sz="18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Cutting</c:v>
                  </c:pt>
                  <c:pt idx="1">
                    <c:v>Blending</c:v>
                  </c:pt>
                </c:lvl>
              </c:multiLvlStrCache>
            </c:multiLvlStrRef>
          </c:cat>
          <c:val>
            <c:numRef>
              <c:f>Sheet1!$C$2:$C$3</c:f>
              <c:numCache>
                <c:formatCode>General</c:formatCode>
                <c:ptCount val="2"/>
                <c:pt idx="0">
                  <c:v>51.2</c:v>
                </c:pt>
                <c:pt idx="1">
                  <c:v>43.7</c:v>
                </c:pt>
              </c:numCache>
            </c:numRef>
          </c:val>
        </c:ser>
        <c:dLbls>
          <c:numFmt formatCode="0&quot;%&quot;" sourceLinked="0"/>
          <c:txPr>
            <a:bodyPr/>
            <a:lstStyle/>
            <a:p>
              <a:pPr>
                <a:defRPr b="0" i="0" strike="noStrike" sz="1800" u="none">
                  <a:solidFill>
                    <a:srgbClr val="1F2A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1F2A30"/>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1F2A30"/>
                </a:solidFill>
                <a:latin typeface="+mn-lt"/>
              </a:defRPr>
            </a:pPr>
            <a:r>
              <a:rPr sz="1800" b="0" i="0" u="none" strike="noStrike">
                <a:solidFill>
                  <a:srgbClr val="1F2A30"/>
                </a:solidFill>
                <a:latin typeface="+mn-lt"/>
              </a:rPr>
              <a:t>Exp 2: detecting interruptions in blending</a:t>
            </a:r>
          </a:p>
        </c:rich>
      </c:tx>
      <c:layout/>
      <c:overlay val="0"/>
    </c:title>
    <c:autoTitleDeleted val="0"/>
    <c:plotArea>
      <c:layout/>
      <c:barChart>
        <c:barDir val="col"/>
        <c:grouping val="clustered"/>
        <c:varyColors val="0"/>
        <c:ser>
          <c:idx val="0"/>
          <c:order val="0"/>
          <c:tx>
            <c:strRef>
              <c:f>Sheet1!$B$1</c:f>
              <c:strCache>
                <c:ptCount val="1"/>
                <c:pt idx="0">
                  <c:v>English</c:v>
                </c:pt>
              </c:strCache>
            </c:strRef>
          </c:tx>
          <c:spPr>
            <a:solidFill>
              <a:srgbClr val="5B7083"/>
            </a:solidFill>
            <a:effectLst/>
          </c:spPr>
          <c:invertIfNegative val="0"/>
          <c:dLbls>
            <c:numFmt formatCode="0&quot;%&quot;" sourceLinked="0"/>
            <c:txPr>
              <a:bodyPr/>
              <a:lstStyle/>
              <a:p>
                <a:pPr>
                  <a:defRPr b="0" i="0" strike="noStrike" sz="18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Early</c:v>
                  </c:pt>
                  <c:pt idx="1">
                    <c:v>Late</c:v>
                  </c:pt>
                </c:lvl>
              </c:multiLvlStrCache>
            </c:multiLvlStrRef>
          </c:cat>
          <c:val>
            <c:numRef>
              <c:f>Sheet1!$B$2:$B$3</c:f>
              <c:numCache>
                <c:formatCode>General</c:formatCode>
                <c:ptCount val="2"/>
                <c:pt idx="0">
                  <c:v>79.3</c:v>
                </c:pt>
                <c:pt idx="1">
                  <c:v>63.3</c:v>
                </c:pt>
              </c:numCache>
            </c:numRef>
          </c:val>
        </c:ser>
        <c:ser>
          <c:idx val="1"/>
          <c:order val="1"/>
          <c:tx>
            <c:strRef>
              <c:f>Sheet1!$C$1</c:f>
              <c:strCache>
                <c:ptCount val="1"/>
                <c:pt idx="0">
                  <c:v>Mandarin</c:v>
                </c:pt>
              </c:strCache>
            </c:strRef>
          </c:tx>
          <c:spPr>
            <a:solidFill>
              <a:srgbClr val="D9703A"/>
            </a:solidFill>
            <a:effectLst/>
          </c:spPr>
          <c:invertIfNegative val="0"/>
          <c:dLbls>
            <c:numFmt formatCode="0&quot;%&quot;" sourceLinked="0"/>
            <c:txPr>
              <a:bodyPr/>
              <a:lstStyle/>
              <a:p>
                <a:pPr>
                  <a:defRPr b="0" i="0" strike="noStrike" sz="1800" u="none">
                    <a:solidFill>
                      <a:srgbClr val="1F2A30"/>
                    </a:solidFill>
                    <a:latin typeface="+mn-lt"/>
                  </a:defRPr>
                </a:pPr>
              </a:p>
            </c:txPr>
            <c:showLegendKey val="0"/>
            <c:showVal val="1"/>
            <c:showCatName val="0"/>
            <c:showSerName val="0"/>
            <c:showPercent val="0"/>
            <c:showBubbleSize val="0"/>
            <c:showLeaderLines val="0"/>
          </c:dLbls>
          <c:cat>
            <c:multiLvlStrRef>
              <c:f>Sheet1!$A$2:$A$3</c:f>
              <c:multiLvlStrCache>
                <c:ptCount val="2"/>
                <c:lvl>
                  <c:pt idx="0">
                    <c:v>Early</c:v>
                  </c:pt>
                  <c:pt idx="1">
                    <c:v>Late</c:v>
                  </c:pt>
                </c:lvl>
              </c:multiLvlStrCache>
            </c:multiLvlStrRef>
          </c:cat>
          <c:val>
            <c:numRef>
              <c:f>Sheet1!$C$2:$C$3</c:f>
              <c:numCache>
                <c:formatCode>General</c:formatCode>
                <c:ptCount val="2"/>
                <c:pt idx="0">
                  <c:v>58.5</c:v>
                </c:pt>
                <c:pt idx="1">
                  <c:v>79.7</c:v>
                </c:pt>
              </c:numCache>
            </c:numRef>
          </c:val>
        </c:ser>
        <c:dLbls>
          <c:numFmt formatCode="0&quot;%&quot;" sourceLinked="0"/>
          <c:txPr>
            <a:bodyPr/>
            <a:lstStyle/>
            <a:p>
              <a:pPr>
                <a:defRPr b="0" i="0" strike="noStrike" sz="1800" u="none">
                  <a:solidFill>
                    <a:srgbClr val="1F2A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800" b="0" i="0" u="none" strike="noStrike">
                <a:solidFill>
                  <a:srgbClr val="1F2A30"/>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Thank you for having me.
2. I will show how my work on event language in adults and children leads to the question I want to pursue in your group.
3. That question is how language helps children learn relations.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Mandarin gives a clean contrast: cā names only the action; cā-gānjìng names the action and its result.
2. My work asks whether this kind of difference matters for cognition.
3. Part one: adults, in my PhD.
4. Part two: children, with Yue Ji. Part three: three directions that grow out of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Matched videos of the same object being cut or blended.
2. Cutting has a clear endpoint; blending does not. Norming confirmed this.
3. Step 1: how speakers describe the events (20 English, 20 Mandarin).
4. Step 2: whether processing differs in the same direction (interruption detection 64 + 64; boundary tapping 20 + 20). Step 3: whether brief language cues can shift it (60 + 60; 36 + 36).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Telicity shows a crossover: English is more telic for cutting (79% vs. 51%), Mandarin for blending (44% vs. 17%).
2. English speakers mark the object with quantized noun phrases (68% vs. 13%).
3. Mandarin speakers use resultatives for blending (44% vs. 17%).
4. So the languages differ at two levels: the lexical level and the whole predicate. This two-level distinction is the main contribution of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Interruption detection: English speakers caught early interruptions in blending better, Mandarin speakers late ones (χ²(2) = 6.46, p = .040).
2. This mirrors object marking versus result marking.
3. Boundary tapping: English speakers ended cutting events near the physical endpoint, Mandarin speakers almost a second later (95% CI [−1455, −268] ms).
4. This matches the stronger English telicity for cutting.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Part of the cross-linguistic pattern replicated.
2. The preregistered priming predictions were not supported; the Bayes factor favours the null for the key interaction.
3. So the link is real, but a one-off cue does not produce it.
4. If language shapes event representation, it more likely does so over time, through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Children often reject “she peeled the lychee” when it is not open, more than adults do.
2. We propose this depends on the specific action–result relation: peeling very likely opens a lychee, squeezing less so.
3. Ten matched pairs, 40 videos; 32 four-year-olds, 32 five-year-olds and 40 adults per experiment; adult ratings of likelihood and typicality as predictors.
4. [Main result here, or: data are collected and analysis is in progress.] So I already test children on action–result events, with videos and ratings I can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thesis shows a correspondence between language and event processing in adults, but not where it comes from.
2. Question 1: when do these differences emerge in development? That is Direction 1.
3. Question 2: brief primes did not work, so can sustained language change processing? That is Direction 2.
4. Question 3: does text alone yield both levels of event encoding? Language models let us test that, Direction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Mandarin- and English-speaking children aged 3–6 see the same cutting and blending videos as the adults in my thesis; the English sample can build on the center’s cross-cultural partners.
2. Each child first describes the events, which gives an individual encoding profile: resultatives, quantized nouns, telic descriptions.
3. Processing is measured with a child-friendly boundary task (“tap when it’s done”) and anticipatory looking to the end state, which also works for the youngest children.
4. Key tests: the age at which group differences appear; whether a child’s own resultative use predicts endpoint placement beyond age and vocabulary; and a 6-month follow-up with a cross-lagged model to see whether language change comes before processing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 the thesis, brief lexical and phrasal primes did not shift processing (BF₀₁ ≈ 1000). My own conclusion was to test sustained, task-relevant language instead.
2. Design: pre-test, three training sessions, post-test. Mandarin children watch events described with result language (切开了, 搅碎了), action language (切一切, 搅一搅), or no language.
3. Tests: boundary tapping and interruption detection on new videos, plus transfer to new event types such as peeling and folding.
4. Prediction: result training moves endpoints toward the result state. Transfer to new event types would show that children learned “result” as a relation across events, which links to your work on relational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main contribution of my thesis is separating two levels of event encoding: local lexical cues (quantized nouns, resultatives) and whole-predicate telicity. Direction 3 asks whether language models separate them too.
2. Following Rognan, Grigoroglou and Bhattasali (CogSci 2026), I would treat matched monolingual models, English BERT and Chinese BERT, as test subjects in cloze tasks built from my stimuli, then extend to multilingual models and larger LLMs.
3. Lexical level: which determiner the model predicts in “She cut [MASK] orange”, and which result complement in 他把橙子搅[MASK]了, for cutting versus blending verbs. Predicate level: “in” versus “for” in “cut an orange [MASK] two seconds”, and whether the model allows cancellation in 他切了橙子，但是[MASK].
4. Key test: does the predicate-level choice flip when the lexical cue flips (an orange vs. oranges; 切开 vs. 切)? If models match humans at the lexical level but not the predicate level, they rely on surface statistics rather than event structure. Model scores are compared with my Exp 1 descriptions and the adult and child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Year 1: the model study, which is fast and builds on existing stimuli, and the Mandarin child sample for Direction 1.
2. Year 2: the English sample and follow-up for Direction 1, and the training study for Direction 2.
3. Throughout: publish the thesis papers, apply for funding, and mentor students.
4. Together these move from correspondence to development, learning and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Methods: video stimuli, child testing, Bayesian modelling.
2. Projects: I led a field project at CAS and ran a preregistered multi-experiment thesis.
3. Fit: event language in development, Mandarin–English expertise, and both experiments and models.
4.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11094415" cy="11887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3108960"/>
            <a:ext cx="11094415" cy="822960"/>
          </a:xfrm>
          <a:prstGeom prst="rect">
            <a:avLst/>
          </a:prstGeom>
          <a:noFill/>
          <a:ln/>
        </p:spPr>
        <p:txBody>
          <a:bodyPr wrap="square" rtlCol="0"/>
          <a:lstStyle>
            <a:lvl1pPr algn="l" indent="0" marL="0">
              <a:buNone/>
              <a:defRPr lang="en-US" sz="2200" dirty="0">
                <a:solidFill>
                  <a:schemeClr val="accent5"/>
                </a:solidFill>
              </a:defRPr>
            </a:lvl1pPr>
          </a:lstStyle>
          <a:p>
            <a:pPr algn="l" indent="0" marL="0">
              <a:buNone/>
            </a:pPr>
            <a:endParaRPr lang="en-US" sz="2200" dirty="0"/>
          </a:p>
        </p:txBody>
      </p:sp>
      <p:sp>
        <p:nvSpPr>
          <p:cNvPr id="4" name="Text 0"/>
          <p:cNvSpPr/>
          <p:nvPr>
            <p:ph idx="102" type="body" hasCustomPrompt="1"/>
          </p:nvPr>
        </p:nvSpPr>
        <p:spPr>
          <a:xfrm>
            <a:off x="548640" y="4663440"/>
            <a:ext cx="11094415" cy="1371600"/>
          </a:xfrm>
          <a:prstGeom prst="rect">
            <a:avLst/>
          </a:prstGeom>
          <a:noFill/>
          <a:ln/>
        </p:spPr>
        <p:txBody>
          <a:bodyPr wrap="square" rtlCol="0"/>
          <a:lstStyle>
            <a:lvl1pPr algn="l" indent="0" marL="0">
              <a:buNone/>
              <a:defRPr lang="en-US" sz="1800" dirty="0">
                <a:solidFill>
                  <a:schemeClr val="bg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548640" y="1737360"/>
            <a:ext cx="11094415" cy="1188720"/>
          </a:xfrm>
          <a:prstGeom prst="rect">
            <a:avLst/>
          </a:prstGeom>
          <a:noFill/>
          <a:ln/>
        </p:spPr>
        <p:txBody>
          <a:bodyPr wrap="square" lIns="0" tIns="0" rIns="0" bIns="0" rtlCol="0" anchor="b"/>
          <a:lstStyle/>
          <a:p>
            <a:pPr algn="l" indent="0" marL="0">
              <a:buNone/>
            </a:pPr>
            <a:r>
              <a:rPr lang="en-US" sz="3600" b="1" dirty="0">
                <a:solidFill>
                  <a:schemeClr val="bg1"/>
                </a:solidFill>
              </a:rPr>
              <a:t>From Event Language to Relational Learning</a:t>
            </a:r>
            <a:endParaRPr lang="en-US" sz="3600" dirty="0"/>
          </a:p>
        </p:txBody>
      </p:sp>
      <p:sp>
        <p:nvSpPr>
          <p:cNvPr id="4" name="Text 0"/>
          <p:cNvSpPr/>
          <p:nvPr>
            <p:ph idx="101" type="body" hasCustomPrompt="1"/>
          </p:nvPr>
        </p:nvSpPr>
        <p:spPr>
          <a:xfrm>
            <a:off x="548640" y="3108960"/>
            <a:ext cx="11094415" cy="822960"/>
          </a:xfrm>
          <a:prstGeom prst="rect">
            <a:avLst/>
          </a:prstGeom>
          <a:noFill/>
          <a:ln/>
        </p:spPr>
        <p:txBody>
          <a:bodyPr wrap="square" lIns="0" tIns="0" rIns="0" bIns="0" rtlCol="0" anchor="t"/>
          <a:lstStyle/>
          <a:p>
            <a:pPr algn="l" indent="0" marL="0">
              <a:buNone/>
            </a:pPr>
            <a:r>
              <a:rPr lang="en-US" sz="2200" dirty="0">
                <a:solidFill>
                  <a:schemeClr val="accent5"/>
                </a:solidFill>
              </a:rPr>
              <a:t>How language packages action–result relations in adults and children</a:t>
            </a:r>
            <a:endParaRPr lang="en-US" sz="2200" dirty="0"/>
          </a:p>
        </p:txBody>
      </p:sp>
      <p:sp>
        <p:nvSpPr>
          <p:cNvPr id="5" name="Text 0"/>
          <p:cNvSpPr/>
          <p:nvPr>
            <p:ph idx="102" type="body" hasCustomPrompt="1"/>
          </p:nvPr>
        </p:nvSpPr>
        <p:spPr>
          <a:xfrm>
            <a:off x="548640" y="4663440"/>
            <a:ext cx="11094415" cy="1371600"/>
          </a:xfrm>
          <a:prstGeom prst="rect">
            <a:avLst/>
          </a:prstGeom>
          <a:noFill/>
          <a:ln/>
        </p:spPr>
        <p:txBody>
          <a:bodyPr wrap="square" lIns="0" tIns="0" rIns="0" bIns="0" rtlCol="0" anchor="t"/>
          <a:lstStyle/>
          <a:p>
            <a:pPr algn="l" indent="0" marL="0">
              <a:buNone/>
            </a:pPr>
            <a:r>
              <a:rPr lang="en-US" sz="1800" b="1" dirty="0">
                <a:solidFill>
                  <a:schemeClr val="bg1"/>
                </a:solidFill>
              </a:rPr>
              <a:t>Xiaotao Liu</a:t>
            </a:r>
            <a:endParaRPr lang="en-US" sz="1800" dirty="0"/>
          </a:p>
          <a:p>
            <a:pPr algn="l" indent="0" marL="0">
              <a:buNone/>
            </a:pPr>
            <a:r>
              <a:rPr lang="en-US" sz="1800" dirty="0">
                <a:solidFill>
                  <a:schemeClr val="bg1"/>
                </a:solidFill>
              </a:rPr>
              <a:t>PhD candidate, Applied Linguistics, University of Auckland</a:t>
            </a:r>
            <a:endParaRPr lang="en-US" sz="1800" dirty="0"/>
          </a:p>
          <a:p>
            <a:pPr algn="l" indent="0" marL="0">
              <a:buNone/>
            </a:pPr>
            <a:r>
              <a:rPr lang="en-US" sz="1800" dirty="0">
                <a:solidFill>
                  <a:schemeClr val="bg1"/>
                </a:solidFill>
              </a:rPr>
              <a:t>Tsinghua Child Cognition Center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One question across my work</a:t>
            </a:r>
            <a:endParaRPr lang="en-US" sz="3000" dirty="0"/>
          </a:p>
        </p:txBody>
      </p:sp>
      <p:sp>
        <p:nvSpPr>
          <p:cNvPr id="4" name="Shape 1"/>
          <p:cNvSpPr/>
          <p:nvPr/>
        </p:nvSpPr>
        <p:spPr>
          <a:xfrm>
            <a:off x="548640" y="1371600"/>
            <a:ext cx="5486400" cy="4480560"/>
          </a:xfrm>
          <a:prstGeom prst="roundRect">
            <a:avLst>
              <a:gd name="adj" fmla="val 2041"/>
            </a:avLst>
          </a:prstGeom>
          <a:solidFill>
            <a:schemeClr val="bg2"/>
          </a:solidFill>
          <a:ln/>
        </p:spPr>
      </p:sp>
      <p:sp>
        <p:nvSpPr>
          <p:cNvPr id="5" name="Text 2"/>
          <p:cNvSpPr txBox="1"/>
          <p:nvPr/>
        </p:nvSpPr>
        <p:spPr>
          <a:xfrm>
            <a:off x="822960" y="1600200"/>
            <a:ext cx="4937760" cy="411480"/>
          </a:xfrm>
          <a:prstGeom prst="rect">
            <a:avLst/>
          </a:prstGeom>
          <a:noFill/>
          <a:ln/>
        </p:spPr>
        <p:txBody>
          <a:bodyPr wrap="square" lIns="0" tIns="0" rIns="0" bIns="0" rtlCol="0" anchor="t"/>
          <a:lstStyle/>
          <a:p>
            <a:pPr indent="0" marL="0">
              <a:buNone/>
            </a:pPr>
            <a:r>
              <a:rPr lang="en-US" sz="2200" b="1" dirty="0">
                <a:solidFill>
                  <a:schemeClr val="tx2"/>
                </a:solidFill>
              </a:rPr>
              <a:t>The same event, two descriptions</a:t>
            </a:r>
            <a:endParaRPr lang="en-US" sz="2200" dirty="0"/>
          </a:p>
        </p:txBody>
      </p:sp>
      <p:sp>
        <p:nvSpPr>
          <p:cNvPr id="6" name="Text 3"/>
          <p:cNvSpPr txBox="1"/>
          <p:nvPr/>
        </p:nvSpPr>
        <p:spPr>
          <a:xfrm>
            <a:off x="822960" y="2194560"/>
            <a:ext cx="4937760" cy="1005840"/>
          </a:xfrm>
          <a:prstGeom prst="rect">
            <a:avLst/>
          </a:prstGeom>
          <a:noFill/>
          <a:ln/>
        </p:spPr>
        <p:txBody>
          <a:bodyPr wrap="square" lIns="0" tIns="0" rIns="0" bIns="0" rtlCol="0" anchor="t"/>
          <a:lstStyle/>
          <a:p>
            <a:pPr indent="0" marL="0">
              <a:buNone/>
            </a:pPr>
            <a:r>
              <a:rPr lang="en-US" sz="3200" b="1" dirty="0">
                <a:solidFill>
                  <a:schemeClr val="accent3"/>
                </a:solidFill>
              </a:rPr>
              <a:t>擦  cā</a:t>
            </a:r>
            <a:endParaRPr lang="en-US" sz="1800" dirty="0"/>
          </a:p>
          <a:p>
            <a:pPr indent="0" marL="0">
              <a:buNone/>
            </a:pPr>
            <a:r>
              <a:rPr lang="en-US" sz="1800" dirty="0">
                <a:solidFill>
                  <a:schemeClr val="tx1"/>
                </a:solidFill>
              </a:rPr>
              <a:t>“wipe”: action only</a:t>
            </a:r>
            <a:endParaRPr lang="en-US" sz="1800" dirty="0"/>
          </a:p>
        </p:txBody>
      </p:sp>
      <p:sp>
        <p:nvSpPr>
          <p:cNvPr id="7" name="Text 4"/>
          <p:cNvSpPr txBox="1"/>
          <p:nvPr/>
        </p:nvSpPr>
        <p:spPr>
          <a:xfrm>
            <a:off x="822960" y="3337560"/>
            <a:ext cx="4937760" cy="1005840"/>
          </a:xfrm>
          <a:prstGeom prst="rect">
            <a:avLst/>
          </a:prstGeom>
          <a:noFill/>
          <a:ln/>
        </p:spPr>
        <p:txBody>
          <a:bodyPr wrap="square" lIns="0" tIns="0" rIns="0" bIns="0" rtlCol="0" anchor="t"/>
          <a:lstStyle/>
          <a:p>
            <a:pPr indent="0" marL="0">
              <a:buNone/>
            </a:pPr>
            <a:r>
              <a:rPr lang="en-US" sz="3200" b="1" dirty="0">
                <a:solidFill>
                  <a:schemeClr val="accent2"/>
                </a:solidFill>
              </a:rPr>
              <a:t>擦干净  cā-gānjìng</a:t>
            </a:r>
            <a:endParaRPr lang="en-US" sz="1800" dirty="0"/>
          </a:p>
          <a:p>
            <a:pPr indent="0" marL="0">
              <a:buNone/>
            </a:pPr>
            <a:r>
              <a:rPr lang="en-US" sz="1800" dirty="0">
                <a:solidFill>
                  <a:schemeClr val="tx1"/>
                </a:solidFill>
              </a:rPr>
              <a:t>“wipe clean”: action + result</a:t>
            </a:r>
            <a:endParaRPr lang="en-US" sz="1800" dirty="0"/>
          </a:p>
        </p:txBody>
      </p:sp>
      <p:sp>
        <p:nvSpPr>
          <p:cNvPr id="8" name="Text 5"/>
          <p:cNvSpPr txBox="1"/>
          <p:nvPr/>
        </p:nvSpPr>
        <p:spPr>
          <a:xfrm>
            <a:off x="822960" y="4572000"/>
            <a:ext cx="4937760" cy="1005840"/>
          </a:xfrm>
          <a:prstGeom prst="rect">
            <a:avLst/>
          </a:prstGeom>
          <a:noFill/>
          <a:ln/>
        </p:spPr>
        <p:txBody>
          <a:bodyPr wrap="square" lIns="0" tIns="0" rIns="0" bIns="0" rtlCol="0" anchor="t"/>
          <a:lstStyle/>
          <a:p>
            <a:pPr indent="0" marL="0">
              <a:buNone/>
            </a:pPr>
            <a:r>
              <a:rPr lang="en-US" sz="1800" i="1" dirty="0">
                <a:solidFill>
                  <a:schemeClr val="tx1"/>
                </a:solidFill>
              </a:rPr>
              <a:t>Does this shape what speakers attend to, and what children learn?</a:t>
            </a:r>
            <a:endParaRPr lang="en-US" sz="1800" dirty="0"/>
          </a:p>
        </p:txBody>
      </p:sp>
      <p:sp>
        <p:nvSpPr>
          <p:cNvPr id="9" name="Shape 6"/>
          <p:cNvSpPr/>
          <p:nvPr/>
        </p:nvSpPr>
        <p:spPr>
          <a:xfrm>
            <a:off x="6583680" y="1508760"/>
            <a:ext cx="548640" cy="548640"/>
          </a:xfrm>
          <a:prstGeom prst="ellipse">
            <a:avLst/>
          </a:prstGeom>
          <a:solidFill>
            <a:schemeClr val="accent1"/>
          </a:solidFill>
          <a:ln/>
        </p:spPr>
      </p:sp>
      <p:sp>
        <p:nvSpPr>
          <p:cNvPr id="10" name="Text 7"/>
          <p:cNvSpPr txBox="1"/>
          <p:nvPr/>
        </p:nvSpPr>
        <p:spPr>
          <a:xfrm>
            <a:off x="6583680" y="1508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1" name="Text 8"/>
          <p:cNvSpPr txBox="1"/>
          <p:nvPr/>
        </p:nvSpPr>
        <p:spPr>
          <a:xfrm>
            <a:off x="7360920" y="1463040"/>
            <a:ext cx="4282135" cy="1188720"/>
          </a:xfrm>
          <a:prstGeom prst="rect">
            <a:avLst/>
          </a:prstGeom>
          <a:noFill/>
          <a:ln/>
        </p:spPr>
        <p:txBody>
          <a:bodyPr wrap="square" lIns="0" tIns="0" rIns="0" bIns="0" rtlCol="0" anchor="t"/>
          <a:lstStyle/>
          <a:p>
            <a:pPr indent="0" marL="0">
              <a:buNone/>
            </a:pPr>
            <a:r>
              <a:rPr lang="en-US" sz="2200" b="1" dirty="0">
                <a:solidFill>
                  <a:schemeClr val="tx2"/>
                </a:solidFill>
              </a:rPr>
              <a:t>Adults (PhD)</a:t>
            </a:r>
            <a:endParaRPr lang="en-US" sz="1800" dirty="0"/>
          </a:p>
          <a:p>
            <a:pPr indent="0" marL="0">
              <a:buNone/>
            </a:pPr>
            <a:r>
              <a:rPr lang="en-US" sz="1800" dirty="0">
                <a:solidFill>
                  <a:schemeClr val="tx1"/>
                </a:solidFill>
              </a:rPr>
              <a:t>English vs. Mandarin event processing</a:t>
            </a:r>
            <a:endParaRPr lang="en-US" sz="1800" dirty="0"/>
          </a:p>
        </p:txBody>
      </p:sp>
      <p:sp>
        <p:nvSpPr>
          <p:cNvPr id="12" name="Shape 9"/>
          <p:cNvSpPr/>
          <p:nvPr/>
        </p:nvSpPr>
        <p:spPr>
          <a:xfrm>
            <a:off x="6583680" y="2971800"/>
            <a:ext cx="548640" cy="548640"/>
          </a:xfrm>
          <a:prstGeom prst="ellipse">
            <a:avLst/>
          </a:prstGeom>
          <a:solidFill>
            <a:schemeClr val="accent1"/>
          </a:solidFill>
          <a:ln/>
        </p:spPr>
      </p:sp>
      <p:sp>
        <p:nvSpPr>
          <p:cNvPr id="13" name="Text 10"/>
          <p:cNvSpPr txBox="1"/>
          <p:nvPr/>
        </p:nvSpPr>
        <p:spPr>
          <a:xfrm>
            <a:off x="6583680" y="2971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7360920" y="2926080"/>
            <a:ext cx="4282135" cy="1188720"/>
          </a:xfrm>
          <a:prstGeom prst="rect">
            <a:avLst/>
          </a:prstGeom>
          <a:noFill/>
          <a:ln/>
        </p:spPr>
        <p:txBody>
          <a:bodyPr wrap="square" lIns="0" tIns="0" rIns="0" bIns="0" rtlCol="0" anchor="t"/>
          <a:lstStyle/>
          <a:p>
            <a:pPr indent="0" marL="0">
              <a:buNone/>
            </a:pPr>
            <a:r>
              <a:rPr lang="en-US" sz="2200" b="1" dirty="0">
                <a:solidFill>
                  <a:schemeClr val="tx2"/>
                </a:solidFill>
              </a:rPr>
              <a:t>Children (with Yue Ji)</a:t>
            </a:r>
            <a:endParaRPr lang="en-US" sz="1800" dirty="0"/>
          </a:p>
          <a:p>
            <a:pPr indent="0" marL="0">
              <a:buNone/>
            </a:pPr>
            <a:r>
              <a:rPr lang="en-US" sz="1800" dirty="0">
                <a:solidFill>
                  <a:schemeClr val="tx1"/>
                </a:solidFill>
              </a:rPr>
              <a:t>Interpreting and describing results</a:t>
            </a:r>
            <a:endParaRPr lang="en-US" sz="1800" dirty="0"/>
          </a:p>
        </p:txBody>
      </p:sp>
      <p:sp>
        <p:nvSpPr>
          <p:cNvPr id="15" name="Shape 12"/>
          <p:cNvSpPr/>
          <p:nvPr/>
        </p:nvSpPr>
        <p:spPr>
          <a:xfrm>
            <a:off x="6583680" y="4434840"/>
            <a:ext cx="548640" cy="548640"/>
          </a:xfrm>
          <a:prstGeom prst="ellipse">
            <a:avLst/>
          </a:prstGeom>
          <a:solidFill>
            <a:schemeClr val="accent2"/>
          </a:solidFill>
          <a:ln/>
        </p:spPr>
      </p:sp>
      <p:sp>
        <p:nvSpPr>
          <p:cNvPr id="16" name="Text 13"/>
          <p:cNvSpPr txBox="1"/>
          <p:nvPr/>
        </p:nvSpPr>
        <p:spPr>
          <a:xfrm>
            <a:off x="6583680" y="44348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4"/>
          <p:cNvSpPr txBox="1"/>
          <p:nvPr/>
        </p:nvSpPr>
        <p:spPr>
          <a:xfrm>
            <a:off x="7360920" y="4389120"/>
            <a:ext cx="4282135" cy="1188720"/>
          </a:xfrm>
          <a:prstGeom prst="rect">
            <a:avLst/>
          </a:prstGeom>
          <a:noFill/>
          <a:ln/>
        </p:spPr>
        <p:txBody>
          <a:bodyPr wrap="square" lIns="0" tIns="0" rIns="0" bIns="0" rtlCol="0" anchor="t"/>
          <a:lstStyle/>
          <a:p>
            <a:pPr indent="0" marL="0">
              <a:buNone/>
            </a:pPr>
            <a:r>
              <a:rPr lang="en-US" sz="2200" b="1" dirty="0">
                <a:solidFill>
                  <a:schemeClr val="tx2"/>
                </a:solidFill>
              </a:rPr>
              <a:t>Next: three directions</a:t>
            </a:r>
            <a:endParaRPr lang="en-US" sz="1800" dirty="0"/>
          </a:p>
          <a:p>
            <a:pPr indent="0" marL="0">
              <a:buNone/>
            </a:pPr>
            <a:r>
              <a:rPr lang="en-US" sz="1800" dirty="0">
                <a:solidFill>
                  <a:schemeClr val="tx1"/>
                </a:solidFill>
              </a:rPr>
              <a:t>Development, training, models</a:t>
            </a:r>
            <a:endParaRPr lang="en-US" sz="1800" dirty="0"/>
          </a:p>
        </p:txBody>
      </p:sp>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PhD: Does encoding align with event processing?</a:t>
            </a:r>
            <a:endParaRPr lang="en-US" sz="3000" dirty="0"/>
          </a:p>
        </p:txBody>
      </p:sp>
      <p:pic>
        <p:nvPicPr>
          <p:cNvPr id="4" name="Image 0" descr="/tmp/claude-0/-home-user-claude/12fa8dee-b419-5de1-b9d8-ad8a73869b32/scratchpad/frames.jpg">    </p:cNvPr>
          <p:cNvPicPr>
            <a:picLocks noChangeAspect="1"/>
          </p:cNvPicPr>
          <p:nvPr/>
        </p:nvPicPr>
        <p:blipFill>
          <a:blip r:embed="rId1"/>
          <a:stretch>
            <a:fillRect/>
          </a:stretch>
        </p:blipFill>
        <p:spPr>
          <a:xfrm>
            <a:off x="548640" y="1325880"/>
            <a:ext cx="6583680" cy="1141171"/>
          </a:xfrm>
          <a:prstGeom prst="rect">
            <a:avLst/>
          </a:prstGeom>
        </p:spPr>
      </p:pic>
      <p:sp>
        <p:nvSpPr>
          <p:cNvPr id="5" name="Text 1"/>
          <p:cNvSpPr txBox="1"/>
          <p:nvPr/>
        </p:nvSpPr>
        <p:spPr>
          <a:xfrm>
            <a:off x="548640" y="2558491"/>
            <a:ext cx="6583680" cy="365760"/>
          </a:xfrm>
          <a:prstGeom prst="rect">
            <a:avLst/>
          </a:prstGeom>
          <a:noFill/>
          <a:ln/>
        </p:spPr>
        <p:txBody>
          <a:bodyPr wrap="square" lIns="0" tIns="0" rIns="0" bIns="0" rtlCol="0" anchor="t"/>
          <a:lstStyle/>
          <a:p>
            <a:pPr indent="0" marL="0">
              <a:buNone/>
            </a:pPr>
            <a:r>
              <a:rPr lang="en-US" sz="1800" dirty="0">
                <a:solidFill>
                  <a:schemeClr val="accent3"/>
                </a:solidFill>
              </a:rPr>
              <a:t>44 matched videos: each object cut or blended</a:t>
            </a:r>
            <a:endParaRPr lang="en-US" sz="1800" dirty="0"/>
          </a:p>
        </p:txBody>
      </p:sp>
      <p:sp>
        <p:nvSpPr>
          <p:cNvPr id="6" name="Text 2"/>
          <p:cNvSpPr txBox="1"/>
          <p:nvPr/>
        </p:nvSpPr>
        <p:spPr>
          <a:xfrm>
            <a:off x="7498080" y="1325880"/>
            <a:ext cx="4144975" cy="155448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Cutting: </a:t>
            </a:r>
            <a:pPr indent="0" marL="0">
              <a:spcAft>
                <a:spcPts val="800"/>
              </a:spcAft>
              <a:buNone/>
            </a:pPr>
            <a:r>
              <a:rPr lang="en-US" sz="1800" dirty="0">
                <a:solidFill>
                  <a:schemeClr val="tx1"/>
                </a:solidFill>
              </a:rPr>
              <a:t>clear endpoint</a:t>
            </a:r>
            <a:endParaRPr lang="en-US" sz="1800" dirty="0"/>
          </a:p>
          <a:p>
            <a:pPr indent="0" marL="0">
              <a:spcAft>
                <a:spcPts val="800"/>
              </a:spcAft>
              <a:buNone/>
            </a:pPr>
            <a:r>
              <a:rPr lang="en-US" sz="1800" b="1" dirty="0">
                <a:solidFill>
                  <a:schemeClr val="tx2"/>
                </a:solidFill>
              </a:rPr>
              <a:t>Blending: </a:t>
            </a:r>
            <a:pPr indent="0" marL="0">
              <a:spcAft>
                <a:spcPts val="800"/>
              </a:spcAft>
              <a:buNone/>
            </a:pPr>
            <a:r>
              <a:rPr lang="en-US" sz="1800" dirty="0">
                <a:solidFill>
                  <a:schemeClr val="tx1"/>
                </a:solidFill>
              </a:rPr>
              <a:t>endpoint depends on the goal</a:t>
            </a:r>
            <a:endParaRPr lang="en-US" sz="1800" dirty="0"/>
          </a:p>
        </p:txBody>
      </p:sp>
      <p:sp>
        <p:nvSpPr>
          <p:cNvPr id="7" name="Shape 3"/>
          <p:cNvSpPr/>
          <p:nvPr/>
        </p:nvSpPr>
        <p:spPr>
          <a:xfrm>
            <a:off x="548640" y="3291840"/>
            <a:ext cx="3362858" cy="2377440"/>
          </a:xfrm>
          <a:prstGeom prst="roundRect">
            <a:avLst>
              <a:gd name="adj" fmla="val 3846"/>
            </a:avLst>
          </a:prstGeom>
          <a:solidFill>
            <a:schemeClr val="bg2"/>
          </a:solidFill>
          <a:ln/>
        </p:spPr>
      </p:sp>
      <p:sp>
        <p:nvSpPr>
          <p:cNvPr id="8" name="Text 4"/>
          <p:cNvSpPr txBox="1"/>
          <p:nvPr/>
        </p:nvSpPr>
        <p:spPr>
          <a:xfrm>
            <a:off x="777240" y="3474720"/>
            <a:ext cx="2905658" cy="201168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Encoding</a:t>
            </a:r>
            <a:endParaRPr lang="en-US" sz="1800" dirty="0"/>
          </a:p>
          <a:p>
            <a:pPr indent="0" marL="0">
              <a:spcAft>
                <a:spcPts val="600"/>
              </a:spcAft>
              <a:buNone/>
            </a:pPr>
            <a:r>
              <a:rPr lang="en-US" sz="1800" dirty="0">
                <a:solidFill>
                  <a:schemeClr val="tx1"/>
                </a:solidFill>
              </a:rPr>
              <a:t>Exp 1: describe</a:t>
            </a:r>
            <a:endParaRPr lang="en-US" sz="1800" dirty="0"/>
          </a:p>
          <a:p>
            <a:pPr indent="0" marL="0">
              <a:spcAft>
                <a:spcPts val="600"/>
              </a:spcAft>
              <a:buNone/>
            </a:pPr>
            <a:r>
              <a:rPr lang="en-US" sz="1800" dirty="0">
                <a:solidFill>
                  <a:schemeClr val="tx1"/>
                </a:solidFill>
              </a:rPr>
              <a:t>the videos</a:t>
            </a:r>
            <a:endParaRPr lang="en-US" sz="1800" dirty="0"/>
          </a:p>
        </p:txBody>
      </p:sp>
      <p:sp>
        <p:nvSpPr>
          <p:cNvPr id="9" name="Shape 5"/>
          <p:cNvSpPr/>
          <p:nvPr/>
        </p:nvSpPr>
        <p:spPr>
          <a:xfrm>
            <a:off x="4002938" y="4297680"/>
            <a:ext cx="320040" cy="365760"/>
          </a:xfrm>
          <a:prstGeom prst="rightArrow">
            <a:avLst/>
          </a:prstGeom>
          <a:solidFill>
            <a:schemeClr val="accent2"/>
          </a:solidFill>
          <a:ln/>
        </p:spPr>
      </p:sp>
      <p:sp>
        <p:nvSpPr>
          <p:cNvPr id="10" name="Shape 6"/>
          <p:cNvSpPr/>
          <p:nvPr/>
        </p:nvSpPr>
        <p:spPr>
          <a:xfrm>
            <a:off x="4414418" y="3291840"/>
            <a:ext cx="3362858" cy="2377440"/>
          </a:xfrm>
          <a:prstGeom prst="roundRect">
            <a:avLst>
              <a:gd name="adj" fmla="val 3846"/>
            </a:avLst>
          </a:prstGeom>
          <a:solidFill>
            <a:schemeClr val="bg2"/>
          </a:solidFill>
          <a:ln/>
        </p:spPr>
      </p:sp>
      <p:sp>
        <p:nvSpPr>
          <p:cNvPr id="11" name="Text 7"/>
          <p:cNvSpPr txBox="1"/>
          <p:nvPr/>
        </p:nvSpPr>
        <p:spPr>
          <a:xfrm>
            <a:off x="4643018" y="3474720"/>
            <a:ext cx="2905658" cy="201168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Processing</a:t>
            </a:r>
            <a:endParaRPr lang="en-US" sz="1800" dirty="0"/>
          </a:p>
          <a:p>
            <a:pPr indent="0" marL="0">
              <a:spcAft>
                <a:spcPts val="600"/>
              </a:spcAft>
              <a:buNone/>
            </a:pPr>
            <a:r>
              <a:rPr lang="en-US" sz="1800" dirty="0">
                <a:solidFill>
                  <a:schemeClr val="tx1"/>
                </a:solidFill>
              </a:rPr>
              <a:t>Exp 2: interruption</a:t>
            </a:r>
            <a:endParaRPr lang="en-US" sz="1800" dirty="0"/>
          </a:p>
          <a:p>
            <a:pPr indent="0" marL="0">
              <a:spcAft>
                <a:spcPts val="600"/>
              </a:spcAft>
              <a:buNone/>
            </a:pPr>
            <a:r>
              <a:rPr lang="en-US" sz="1800" dirty="0">
                <a:solidFill>
                  <a:schemeClr val="tx1"/>
                </a:solidFill>
              </a:rPr>
              <a:t>detection</a:t>
            </a:r>
            <a:endParaRPr lang="en-US" sz="1800" dirty="0"/>
          </a:p>
          <a:p>
            <a:pPr indent="0" marL="0">
              <a:spcAft>
                <a:spcPts val="600"/>
              </a:spcAft>
              <a:buNone/>
            </a:pPr>
            <a:r>
              <a:rPr lang="en-US" sz="1800" dirty="0">
                <a:solidFill>
                  <a:schemeClr val="tx1"/>
                </a:solidFill>
              </a:rPr>
              <a:t>Exp 3: boundary tapping</a:t>
            </a:r>
            <a:endParaRPr lang="en-US" sz="1800" dirty="0"/>
          </a:p>
        </p:txBody>
      </p:sp>
      <p:sp>
        <p:nvSpPr>
          <p:cNvPr id="12" name="Shape 8"/>
          <p:cNvSpPr/>
          <p:nvPr/>
        </p:nvSpPr>
        <p:spPr>
          <a:xfrm>
            <a:off x="7868717" y="4297680"/>
            <a:ext cx="320040" cy="365760"/>
          </a:xfrm>
          <a:prstGeom prst="rightArrow">
            <a:avLst/>
          </a:prstGeom>
          <a:solidFill>
            <a:schemeClr val="accent2"/>
          </a:solidFill>
          <a:ln/>
        </p:spPr>
      </p:sp>
      <p:sp>
        <p:nvSpPr>
          <p:cNvPr id="13" name="Shape 9"/>
          <p:cNvSpPr/>
          <p:nvPr/>
        </p:nvSpPr>
        <p:spPr>
          <a:xfrm>
            <a:off x="8280197" y="3291840"/>
            <a:ext cx="3362858" cy="2377440"/>
          </a:xfrm>
          <a:prstGeom prst="roundRect">
            <a:avLst>
              <a:gd name="adj" fmla="val 3846"/>
            </a:avLst>
          </a:prstGeom>
          <a:solidFill>
            <a:schemeClr val="bg2"/>
          </a:solidFill>
          <a:ln/>
        </p:spPr>
      </p:sp>
      <p:sp>
        <p:nvSpPr>
          <p:cNvPr id="14" name="Text 10"/>
          <p:cNvSpPr txBox="1"/>
          <p:nvPr/>
        </p:nvSpPr>
        <p:spPr>
          <a:xfrm>
            <a:off x="8508797" y="3474720"/>
            <a:ext cx="2905658" cy="201168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Malleability</a:t>
            </a:r>
            <a:endParaRPr lang="en-US" sz="1800" dirty="0"/>
          </a:p>
          <a:p>
            <a:pPr indent="0" marL="0">
              <a:spcAft>
                <a:spcPts val="600"/>
              </a:spcAft>
              <a:buNone/>
            </a:pPr>
            <a:r>
              <a:rPr lang="en-US" sz="1800" dirty="0">
                <a:solidFill>
                  <a:schemeClr val="tx1"/>
                </a:solidFill>
              </a:rPr>
              <a:t>Exp 4–5: lexical and</a:t>
            </a:r>
            <a:endParaRPr lang="en-US" sz="1800" dirty="0"/>
          </a:p>
          <a:p>
            <a:pPr indent="0" marL="0">
              <a:spcAft>
                <a:spcPts val="600"/>
              </a:spcAft>
              <a:buNone/>
            </a:pPr>
            <a:r>
              <a:rPr lang="en-US" sz="1800" dirty="0">
                <a:solidFill>
                  <a:schemeClr val="tx1"/>
                </a:solidFill>
              </a:rPr>
              <a:t>phrasal priming</a:t>
            </a:r>
            <a:endParaRPr lang="en-US" sz="1800" dirty="0"/>
          </a:p>
        </p:txBody>
      </p:sp>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Exp 1: Languages differ at the lexical and predicate levels</a:t>
            </a:r>
            <a:endParaRPr lang="en-US" sz="3000" dirty="0"/>
          </a:p>
        </p:txBody>
      </p:sp>
      <p:graphicFrame>
        <p:nvGraphicFramePr>
          <p:cNvPr id="4" name="Chart 0" descr=""/>
          <p:cNvGraphicFramePr/>
          <p:nvPr/>
        </p:nvGraphicFramePr>
        <p:xfrm>
          <a:off x="548640" y="1280160"/>
          <a:ext cx="6035040" cy="37490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914400" y="5120640"/>
            <a:ext cx="228600" cy="228600"/>
          </a:xfrm>
          <a:prstGeom prst="rect">
            <a:avLst/>
          </a:prstGeom>
          <a:solidFill>
            <a:schemeClr val="accent3"/>
          </a:solidFill>
          <a:ln/>
        </p:spPr>
      </p:sp>
      <p:sp>
        <p:nvSpPr>
          <p:cNvPr id="6" name="Text 2"/>
          <p:cNvSpPr txBox="1"/>
          <p:nvPr/>
        </p:nvSpPr>
        <p:spPr>
          <a:xfrm>
            <a:off x="1234440" y="5029200"/>
            <a:ext cx="1371600" cy="411480"/>
          </a:xfrm>
          <a:prstGeom prst="rect">
            <a:avLst/>
          </a:prstGeom>
          <a:noFill/>
          <a:ln/>
        </p:spPr>
        <p:txBody>
          <a:bodyPr wrap="square" lIns="0" tIns="0" rIns="0" bIns="0" rtlCol="0" anchor="ctr"/>
          <a:lstStyle/>
          <a:p>
            <a:pPr indent="0" marL="0">
              <a:buNone/>
            </a:pPr>
            <a:r>
              <a:rPr lang="en-US" sz="1800" dirty="0">
                <a:solidFill>
                  <a:schemeClr val="tx1"/>
                </a:solidFill>
              </a:rPr>
              <a:t>English</a:t>
            </a:r>
            <a:endParaRPr lang="en-US" sz="1800" dirty="0"/>
          </a:p>
        </p:txBody>
      </p:sp>
      <p:sp>
        <p:nvSpPr>
          <p:cNvPr id="7" name="Shape 3"/>
          <p:cNvSpPr/>
          <p:nvPr/>
        </p:nvSpPr>
        <p:spPr>
          <a:xfrm>
            <a:off x="2651760" y="5120640"/>
            <a:ext cx="228600" cy="228600"/>
          </a:xfrm>
          <a:prstGeom prst="rect">
            <a:avLst/>
          </a:prstGeom>
          <a:solidFill>
            <a:schemeClr val="accent2"/>
          </a:solidFill>
          <a:ln/>
        </p:spPr>
      </p:sp>
      <p:sp>
        <p:nvSpPr>
          <p:cNvPr id="8" name="Text 4"/>
          <p:cNvSpPr txBox="1"/>
          <p:nvPr/>
        </p:nvSpPr>
        <p:spPr>
          <a:xfrm>
            <a:off x="2971800" y="5029200"/>
            <a:ext cx="1371600" cy="411480"/>
          </a:xfrm>
          <a:prstGeom prst="rect">
            <a:avLst/>
          </a:prstGeom>
          <a:noFill/>
          <a:ln/>
        </p:spPr>
        <p:txBody>
          <a:bodyPr wrap="square" lIns="0" tIns="0" rIns="0" bIns="0" rtlCol="0" anchor="ctr"/>
          <a:lstStyle/>
          <a:p>
            <a:pPr indent="0" marL="0">
              <a:buNone/>
            </a:pPr>
            <a:r>
              <a:rPr lang="en-US" sz="1800" dirty="0">
                <a:solidFill>
                  <a:schemeClr val="tx1"/>
                </a:solidFill>
              </a:rPr>
              <a:t>Mandarin</a:t>
            </a:r>
            <a:endParaRPr lang="en-US" sz="1800" dirty="0"/>
          </a:p>
        </p:txBody>
      </p:sp>
      <p:sp>
        <p:nvSpPr>
          <p:cNvPr id="9" name="Shape 5"/>
          <p:cNvSpPr/>
          <p:nvPr/>
        </p:nvSpPr>
        <p:spPr>
          <a:xfrm>
            <a:off x="6949440" y="1371600"/>
            <a:ext cx="4693615" cy="1783080"/>
          </a:xfrm>
          <a:prstGeom prst="roundRect">
            <a:avLst>
              <a:gd name="adj" fmla="val 5128"/>
            </a:avLst>
          </a:prstGeom>
          <a:solidFill>
            <a:schemeClr val="bg2"/>
          </a:solidFill>
          <a:ln/>
        </p:spPr>
      </p:sp>
      <p:sp>
        <p:nvSpPr>
          <p:cNvPr id="10" name="Text 6"/>
          <p:cNvSpPr txBox="1"/>
          <p:nvPr/>
        </p:nvSpPr>
        <p:spPr>
          <a:xfrm>
            <a:off x="7178040" y="1554480"/>
            <a:ext cx="4236415" cy="141732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Lexical: quantized NPs</a:t>
            </a:r>
            <a:endParaRPr lang="en-US" sz="1800" dirty="0"/>
          </a:p>
          <a:p>
            <a:pPr indent="0" marL="0">
              <a:spcAft>
                <a:spcPts val="600"/>
              </a:spcAft>
              <a:buNone/>
            </a:pPr>
            <a:r>
              <a:rPr lang="en-US" sz="1800" dirty="0">
                <a:solidFill>
                  <a:schemeClr val="tx1"/>
                </a:solidFill>
              </a:rPr>
              <a:t>English 68% vs. Mandarin 13%</a:t>
            </a:r>
            <a:endParaRPr lang="en-US" sz="1800" dirty="0"/>
          </a:p>
        </p:txBody>
      </p:sp>
      <p:sp>
        <p:nvSpPr>
          <p:cNvPr id="11" name="Shape 7"/>
          <p:cNvSpPr/>
          <p:nvPr/>
        </p:nvSpPr>
        <p:spPr>
          <a:xfrm>
            <a:off x="6949440" y="3337560"/>
            <a:ext cx="4693615" cy="1783080"/>
          </a:xfrm>
          <a:prstGeom prst="roundRect">
            <a:avLst>
              <a:gd name="adj" fmla="val 5128"/>
            </a:avLst>
          </a:prstGeom>
          <a:solidFill>
            <a:schemeClr val="bg2"/>
          </a:solidFill>
          <a:ln/>
        </p:spPr>
      </p:sp>
      <p:sp>
        <p:nvSpPr>
          <p:cNvPr id="12" name="Text 8"/>
          <p:cNvSpPr txBox="1"/>
          <p:nvPr/>
        </p:nvSpPr>
        <p:spPr>
          <a:xfrm>
            <a:off x="7178040" y="3520440"/>
            <a:ext cx="4236415" cy="141732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Lexical: resultatives (blending)</a:t>
            </a:r>
            <a:endParaRPr lang="en-US" sz="1800" dirty="0"/>
          </a:p>
          <a:p>
            <a:pPr indent="0" marL="0">
              <a:spcAft>
                <a:spcPts val="600"/>
              </a:spcAft>
              <a:buNone/>
            </a:pPr>
            <a:r>
              <a:rPr lang="en-US" sz="1800" dirty="0">
                <a:solidFill>
                  <a:schemeClr val="tx1"/>
                </a:solidFill>
              </a:rPr>
              <a:t>English 17% vs. Mandarin 44%</a:t>
            </a:r>
            <a:endParaRPr lang="en-US" sz="1800" dirty="0"/>
          </a:p>
        </p:txBody>
      </p:sp>
      <p:sp>
        <p:nvSpPr>
          <p:cNvPr id="13" name="Shape 9"/>
          <p:cNvSpPr/>
          <p:nvPr/>
        </p:nvSpPr>
        <p:spPr>
          <a:xfrm>
            <a:off x="548640" y="5577840"/>
            <a:ext cx="11094415" cy="685800"/>
          </a:xfrm>
          <a:prstGeom prst="roundRect">
            <a:avLst>
              <a:gd name="adj" fmla="val 10667"/>
            </a:avLst>
          </a:prstGeom>
          <a:solidFill>
            <a:schemeClr val="bg2"/>
          </a:solidFill>
          <a:ln/>
        </p:spPr>
      </p:sp>
      <p:sp>
        <p:nvSpPr>
          <p:cNvPr id="14" name="Text 10"/>
          <p:cNvSpPr txBox="1"/>
          <p:nvPr/>
        </p:nvSpPr>
        <p:spPr>
          <a:xfrm>
            <a:off x="777240" y="5577840"/>
            <a:ext cx="10637215" cy="685800"/>
          </a:xfrm>
          <a:prstGeom prst="rect">
            <a:avLst/>
          </a:prstGeom>
          <a:noFill/>
          <a:ln/>
        </p:spPr>
        <p:txBody>
          <a:bodyPr wrap="square" lIns="0" tIns="0" rIns="0" bIns="0" rtlCol="0" anchor="ctr"/>
          <a:lstStyle/>
          <a:p>
            <a:pPr indent="0" marL="0">
              <a:buNone/>
            </a:pPr>
            <a:r>
              <a:rPr lang="en-US" sz="1800" b="1" dirty="0">
                <a:solidFill>
                  <a:schemeClr val="accent2"/>
                </a:solidFill>
              </a:rPr>
              <a:t>Takeaway   </a:t>
            </a:r>
            <a:pPr indent="0" marL="0">
              <a:buNone/>
            </a:pPr>
            <a:r>
              <a:rPr lang="en-US" sz="1800" dirty="0">
                <a:solidFill>
                  <a:schemeClr val="tx1"/>
                </a:solidFill>
              </a:rPr>
              <a:t>The two languages differ at both levels, in different ways.</a:t>
            </a:r>
            <a:endParaRPr lang="en-US" sz="1800" dirty="0"/>
          </a:p>
        </p:txBody>
      </p:sp>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Exp 2–3: Processing lines up with encoding</a:t>
            </a:r>
            <a:endParaRPr lang="en-US" sz="3000" dirty="0"/>
          </a:p>
        </p:txBody>
      </p:sp>
      <p:graphicFrame>
        <p:nvGraphicFramePr>
          <p:cNvPr id="4" name="Chart 0" descr=""/>
          <p:cNvGraphicFramePr/>
          <p:nvPr/>
        </p:nvGraphicFramePr>
        <p:xfrm>
          <a:off x="548640" y="1280160"/>
          <a:ext cx="6035040" cy="37490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914400" y="5120640"/>
            <a:ext cx="228600" cy="228600"/>
          </a:xfrm>
          <a:prstGeom prst="rect">
            <a:avLst/>
          </a:prstGeom>
          <a:solidFill>
            <a:schemeClr val="accent3"/>
          </a:solidFill>
          <a:ln/>
        </p:spPr>
      </p:sp>
      <p:sp>
        <p:nvSpPr>
          <p:cNvPr id="6" name="Text 2"/>
          <p:cNvSpPr txBox="1"/>
          <p:nvPr/>
        </p:nvSpPr>
        <p:spPr>
          <a:xfrm>
            <a:off x="1234440" y="5029200"/>
            <a:ext cx="1371600" cy="411480"/>
          </a:xfrm>
          <a:prstGeom prst="rect">
            <a:avLst/>
          </a:prstGeom>
          <a:noFill/>
          <a:ln/>
        </p:spPr>
        <p:txBody>
          <a:bodyPr wrap="square" lIns="0" tIns="0" rIns="0" bIns="0" rtlCol="0" anchor="ctr"/>
          <a:lstStyle/>
          <a:p>
            <a:pPr indent="0" marL="0">
              <a:buNone/>
            </a:pPr>
            <a:r>
              <a:rPr lang="en-US" sz="1800" dirty="0">
                <a:solidFill>
                  <a:schemeClr val="tx1"/>
                </a:solidFill>
              </a:rPr>
              <a:t>English</a:t>
            </a:r>
            <a:endParaRPr lang="en-US" sz="1800" dirty="0"/>
          </a:p>
        </p:txBody>
      </p:sp>
      <p:sp>
        <p:nvSpPr>
          <p:cNvPr id="7" name="Shape 3"/>
          <p:cNvSpPr/>
          <p:nvPr/>
        </p:nvSpPr>
        <p:spPr>
          <a:xfrm>
            <a:off x="2651760" y="5120640"/>
            <a:ext cx="228600" cy="228600"/>
          </a:xfrm>
          <a:prstGeom prst="rect">
            <a:avLst/>
          </a:prstGeom>
          <a:solidFill>
            <a:schemeClr val="accent2"/>
          </a:solidFill>
          <a:ln/>
        </p:spPr>
      </p:sp>
      <p:sp>
        <p:nvSpPr>
          <p:cNvPr id="8" name="Text 4"/>
          <p:cNvSpPr txBox="1"/>
          <p:nvPr/>
        </p:nvSpPr>
        <p:spPr>
          <a:xfrm>
            <a:off x="2971800" y="5029200"/>
            <a:ext cx="1371600" cy="411480"/>
          </a:xfrm>
          <a:prstGeom prst="rect">
            <a:avLst/>
          </a:prstGeom>
          <a:noFill/>
          <a:ln/>
        </p:spPr>
        <p:txBody>
          <a:bodyPr wrap="square" lIns="0" tIns="0" rIns="0" bIns="0" rtlCol="0" anchor="ctr"/>
          <a:lstStyle/>
          <a:p>
            <a:pPr indent="0" marL="0">
              <a:buNone/>
            </a:pPr>
            <a:r>
              <a:rPr lang="en-US" sz="1800" dirty="0">
                <a:solidFill>
                  <a:schemeClr val="tx1"/>
                </a:solidFill>
              </a:rPr>
              <a:t>Mandarin</a:t>
            </a:r>
            <a:endParaRPr lang="en-US" sz="1800" dirty="0"/>
          </a:p>
        </p:txBody>
      </p:sp>
      <p:sp>
        <p:nvSpPr>
          <p:cNvPr id="9" name="Text 5"/>
          <p:cNvSpPr txBox="1"/>
          <p:nvPr/>
        </p:nvSpPr>
        <p:spPr>
          <a:xfrm>
            <a:off x="6949440" y="1371600"/>
            <a:ext cx="4693615" cy="411480"/>
          </a:xfrm>
          <a:prstGeom prst="rect">
            <a:avLst/>
          </a:prstGeom>
          <a:noFill/>
          <a:ln/>
        </p:spPr>
        <p:txBody>
          <a:bodyPr wrap="square" lIns="0" tIns="0" rIns="0" bIns="0" rtlCol="0" anchor="t"/>
          <a:lstStyle/>
          <a:p>
            <a:pPr indent="0" marL="0">
              <a:buNone/>
            </a:pPr>
            <a:r>
              <a:rPr lang="en-US" sz="2200" b="1" dirty="0">
                <a:solidFill>
                  <a:schemeClr val="tx2"/>
                </a:solidFill>
              </a:rPr>
              <a:t>Exp 3: where does cutting end?</a:t>
            </a:r>
            <a:endParaRPr lang="en-US" sz="2200" dirty="0"/>
          </a:p>
        </p:txBody>
      </p:sp>
      <p:sp>
        <p:nvSpPr>
          <p:cNvPr id="10" name="Text 6"/>
          <p:cNvSpPr txBox="1"/>
          <p:nvPr/>
        </p:nvSpPr>
        <p:spPr>
          <a:xfrm>
            <a:off x="6949440" y="1828800"/>
            <a:ext cx="4693615" cy="411480"/>
          </a:xfrm>
          <a:prstGeom prst="rect">
            <a:avLst/>
          </a:prstGeom>
          <a:noFill/>
          <a:ln/>
        </p:spPr>
        <p:txBody>
          <a:bodyPr wrap="square" lIns="0" tIns="0" rIns="0" bIns="0" rtlCol="0" anchor="t"/>
          <a:lstStyle/>
          <a:p>
            <a:pPr indent="0" marL="0">
              <a:buNone/>
            </a:pPr>
            <a:r>
              <a:rPr lang="en-US" sz="1800" dirty="0">
                <a:solidFill>
                  <a:schemeClr val="accent3"/>
                </a:solidFill>
              </a:rPr>
              <a:t>End tap after the physical endpoint</a:t>
            </a:r>
            <a:endParaRPr lang="en-US" sz="1800" dirty="0"/>
          </a:p>
        </p:txBody>
      </p:sp>
      <p:sp>
        <p:nvSpPr>
          <p:cNvPr id="11" name="Text 7"/>
          <p:cNvSpPr txBox="1"/>
          <p:nvPr/>
        </p:nvSpPr>
        <p:spPr>
          <a:xfrm>
            <a:off x="6949440" y="2377440"/>
            <a:ext cx="2651760" cy="822960"/>
          </a:xfrm>
          <a:prstGeom prst="rect">
            <a:avLst/>
          </a:prstGeom>
          <a:noFill/>
          <a:ln/>
        </p:spPr>
        <p:txBody>
          <a:bodyPr wrap="square" lIns="0" tIns="0" rIns="0" bIns="0" rtlCol="0" anchor="ctr"/>
          <a:lstStyle/>
          <a:p>
            <a:pPr indent="0" marL="0">
              <a:buNone/>
            </a:pPr>
            <a:r>
              <a:rPr lang="en-US" sz="4000" b="1" dirty="0">
                <a:solidFill>
                  <a:schemeClr val="accent3"/>
                </a:solidFill>
              </a:rPr>
              <a:t>+25 ms</a:t>
            </a:r>
            <a:endParaRPr lang="en-US" sz="4000" dirty="0"/>
          </a:p>
        </p:txBody>
      </p:sp>
      <p:sp>
        <p:nvSpPr>
          <p:cNvPr id="12" name="Text 8"/>
          <p:cNvSpPr txBox="1"/>
          <p:nvPr/>
        </p:nvSpPr>
        <p:spPr>
          <a:xfrm>
            <a:off x="9692640" y="2377440"/>
            <a:ext cx="1950415" cy="822960"/>
          </a:xfrm>
          <a:prstGeom prst="rect">
            <a:avLst/>
          </a:prstGeom>
          <a:noFill/>
          <a:ln/>
        </p:spPr>
        <p:txBody>
          <a:bodyPr wrap="square" lIns="0" tIns="0" rIns="0" bIns="0" rtlCol="0" anchor="ctr"/>
          <a:lstStyle/>
          <a:p>
            <a:pPr indent="0" marL="0">
              <a:buNone/>
            </a:pPr>
            <a:r>
              <a:rPr lang="en-US" sz="1800" dirty="0">
                <a:solidFill>
                  <a:schemeClr val="tx1"/>
                </a:solidFill>
              </a:rPr>
              <a:t>English</a:t>
            </a:r>
            <a:endParaRPr lang="en-US" sz="1800" dirty="0"/>
          </a:p>
        </p:txBody>
      </p:sp>
      <p:sp>
        <p:nvSpPr>
          <p:cNvPr id="13" name="Text 9"/>
          <p:cNvSpPr txBox="1"/>
          <p:nvPr/>
        </p:nvSpPr>
        <p:spPr>
          <a:xfrm>
            <a:off x="6949440" y="3383280"/>
            <a:ext cx="2651760" cy="822960"/>
          </a:xfrm>
          <a:prstGeom prst="rect">
            <a:avLst/>
          </a:prstGeom>
          <a:noFill/>
          <a:ln/>
        </p:spPr>
        <p:txBody>
          <a:bodyPr wrap="square" lIns="0" tIns="0" rIns="0" bIns="0" rtlCol="0" anchor="ctr"/>
          <a:lstStyle/>
          <a:p>
            <a:pPr indent="0" marL="0">
              <a:buNone/>
            </a:pPr>
            <a:r>
              <a:rPr lang="en-US" sz="4000" b="1" dirty="0">
                <a:solidFill>
                  <a:schemeClr val="accent2"/>
                </a:solidFill>
              </a:rPr>
              <a:t>+887 ms</a:t>
            </a:r>
            <a:endParaRPr lang="en-US" sz="4000" dirty="0"/>
          </a:p>
        </p:txBody>
      </p:sp>
      <p:sp>
        <p:nvSpPr>
          <p:cNvPr id="14" name="Text 10"/>
          <p:cNvSpPr txBox="1"/>
          <p:nvPr/>
        </p:nvSpPr>
        <p:spPr>
          <a:xfrm>
            <a:off x="9692640" y="3383280"/>
            <a:ext cx="1950415" cy="822960"/>
          </a:xfrm>
          <a:prstGeom prst="rect">
            <a:avLst/>
          </a:prstGeom>
          <a:noFill/>
          <a:ln/>
        </p:spPr>
        <p:txBody>
          <a:bodyPr wrap="square" lIns="0" tIns="0" rIns="0" bIns="0" rtlCol="0" anchor="ctr"/>
          <a:lstStyle/>
          <a:p>
            <a:pPr indent="0" marL="0">
              <a:buNone/>
            </a:pPr>
            <a:r>
              <a:rPr lang="en-US" sz="1800" dirty="0">
                <a:solidFill>
                  <a:schemeClr val="tx1"/>
                </a:solidFill>
              </a:rPr>
              <a:t>Mandarin</a:t>
            </a:r>
            <a:endParaRPr lang="en-US" sz="1800" dirty="0"/>
          </a:p>
        </p:txBody>
      </p:sp>
      <p:sp>
        <p:nvSpPr>
          <p:cNvPr id="15" name="Text 11"/>
          <p:cNvSpPr txBox="1"/>
          <p:nvPr/>
        </p:nvSpPr>
        <p:spPr>
          <a:xfrm>
            <a:off x="6949440" y="4480560"/>
            <a:ext cx="4693615" cy="411480"/>
          </a:xfrm>
          <a:prstGeom prst="rect">
            <a:avLst/>
          </a:prstGeom>
          <a:noFill/>
          <a:ln/>
        </p:spPr>
        <p:txBody>
          <a:bodyPr wrap="square" lIns="0" tIns="0" rIns="0" bIns="0" rtlCol="0" anchor="t"/>
          <a:lstStyle/>
          <a:p>
            <a:pPr indent="0" marL="0">
              <a:buNone/>
            </a:pPr>
            <a:r>
              <a:rPr lang="en-US" sz="1800" dirty="0">
                <a:solidFill>
                  <a:schemeClr val="accent3"/>
                </a:solidFill>
              </a:rPr>
              <a:t>Difference: 862 ms, p = .005</a:t>
            </a:r>
            <a:endParaRPr lang="en-US" sz="1800" dirty="0"/>
          </a:p>
        </p:txBody>
      </p:sp>
      <p:sp>
        <p:nvSpPr>
          <p:cNvPr id="16" name="Shape 12"/>
          <p:cNvSpPr/>
          <p:nvPr/>
        </p:nvSpPr>
        <p:spPr>
          <a:xfrm>
            <a:off x="548640" y="5577840"/>
            <a:ext cx="11094415" cy="685800"/>
          </a:xfrm>
          <a:prstGeom prst="roundRect">
            <a:avLst>
              <a:gd name="adj" fmla="val 10667"/>
            </a:avLst>
          </a:prstGeom>
          <a:solidFill>
            <a:schemeClr val="bg2"/>
          </a:solidFill>
          <a:ln/>
        </p:spPr>
      </p:sp>
      <p:sp>
        <p:nvSpPr>
          <p:cNvPr id="17" name="Text 13"/>
          <p:cNvSpPr txBox="1"/>
          <p:nvPr/>
        </p:nvSpPr>
        <p:spPr>
          <a:xfrm>
            <a:off x="777240" y="5577840"/>
            <a:ext cx="10637215" cy="685800"/>
          </a:xfrm>
          <a:prstGeom prst="rect">
            <a:avLst/>
          </a:prstGeom>
          <a:noFill/>
          <a:ln/>
        </p:spPr>
        <p:txBody>
          <a:bodyPr wrap="square" lIns="0" tIns="0" rIns="0" bIns="0" rtlCol="0" anchor="ctr"/>
          <a:lstStyle/>
          <a:p>
            <a:pPr indent="0" marL="0">
              <a:buNone/>
            </a:pPr>
            <a:r>
              <a:rPr lang="en-US" sz="1800" b="1" dirty="0">
                <a:solidFill>
                  <a:schemeClr val="accent2"/>
                </a:solidFill>
              </a:rPr>
              <a:t>Takeaway   </a:t>
            </a:r>
            <a:pPr indent="0" marL="0">
              <a:buNone/>
            </a:pPr>
            <a:r>
              <a:rPr lang="en-US" sz="1800" dirty="0">
                <a:solidFill>
                  <a:schemeClr val="tx1"/>
                </a:solidFill>
              </a:rPr>
              <a:t>Lexical level matches event phases; predicate level matches endpoints.</a:t>
            </a:r>
            <a:endParaRPr lang="en-US" sz="1800" dirty="0"/>
          </a:p>
        </p:txBody>
      </p:sp>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Exp 4–5: Patterns recurred; primes did not shift them</a:t>
            </a:r>
            <a:endParaRPr lang="en-US" sz="3000" dirty="0"/>
          </a:p>
        </p:txBody>
      </p:sp>
      <p:sp>
        <p:nvSpPr>
          <p:cNvPr id="4" name="Shape 1"/>
          <p:cNvSpPr/>
          <p:nvPr/>
        </p:nvSpPr>
        <p:spPr>
          <a:xfrm>
            <a:off x="548640" y="1371600"/>
            <a:ext cx="5318608" cy="3017520"/>
          </a:xfrm>
          <a:prstGeom prst="roundRect">
            <a:avLst>
              <a:gd name="adj" fmla="val 3030"/>
            </a:avLst>
          </a:prstGeom>
          <a:solidFill>
            <a:schemeClr val="bg2"/>
          </a:solidFill>
          <a:ln/>
        </p:spPr>
      </p:sp>
      <p:sp>
        <p:nvSpPr>
          <p:cNvPr id="5" name="Text 2"/>
          <p:cNvSpPr txBox="1"/>
          <p:nvPr/>
        </p:nvSpPr>
        <p:spPr>
          <a:xfrm>
            <a:off x="777240" y="1554480"/>
            <a:ext cx="4861408" cy="265176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What recurred</a:t>
            </a:r>
            <a:endParaRPr lang="en-US" sz="1800" dirty="0"/>
          </a:p>
          <a:p>
            <a:pPr indent="0" marL="0">
              <a:spcAft>
                <a:spcPts val="600"/>
              </a:spcAft>
              <a:buNone/>
            </a:pPr>
            <a:r>
              <a:rPr lang="en-US" sz="1800" dirty="0">
                <a:solidFill>
                  <a:schemeClr val="tx1"/>
                </a:solidFill>
              </a:rPr>
              <a:t>English early-blending advantage</a:t>
            </a:r>
            <a:endParaRPr lang="en-US" sz="1800" dirty="0"/>
          </a:p>
          <a:p>
            <a:pPr indent="0" marL="0">
              <a:spcAft>
                <a:spcPts val="600"/>
              </a:spcAft>
              <a:buNone/>
            </a:pPr>
            <a:r>
              <a:rPr lang="en-US" sz="1800" dirty="0">
                <a:solidFill>
                  <a:schemeClr val="tx1"/>
                </a:solidFill>
              </a:rPr>
              <a:t>English earlier cutting endpoints in every context</a:t>
            </a:r>
            <a:endParaRPr lang="en-US" sz="1800" dirty="0"/>
          </a:p>
          <a:p>
            <a:pPr indent="0" marL="0">
              <a:spcAft>
                <a:spcPts val="600"/>
              </a:spcAft>
              <a:buNone/>
            </a:pPr>
            <a:r>
              <a:rPr lang="en-US" sz="1800" dirty="0">
                <a:solidFill>
                  <a:schemeClr val="tx1"/>
                </a:solidFill>
              </a:rPr>
              <a:t>Wider Mandarin start-to-end intervals (exploratory)</a:t>
            </a:r>
            <a:endParaRPr lang="en-US" sz="1800" dirty="0"/>
          </a:p>
        </p:txBody>
      </p:sp>
      <p:sp>
        <p:nvSpPr>
          <p:cNvPr id="6" name="Shape 3"/>
          <p:cNvSpPr/>
          <p:nvPr/>
        </p:nvSpPr>
        <p:spPr>
          <a:xfrm>
            <a:off x="6324448" y="1371600"/>
            <a:ext cx="5318608" cy="3017520"/>
          </a:xfrm>
          <a:prstGeom prst="roundRect">
            <a:avLst>
              <a:gd name="adj" fmla="val 3030"/>
            </a:avLst>
          </a:prstGeom>
          <a:solidFill>
            <a:schemeClr val="bg2"/>
          </a:solidFill>
          <a:ln/>
        </p:spPr>
      </p:sp>
      <p:sp>
        <p:nvSpPr>
          <p:cNvPr id="7" name="Text 4"/>
          <p:cNvSpPr txBox="1"/>
          <p:nvPr/>
        </p:nvSpPr>
        <p:spPr>
          <a:xfrm>
            <a:off x="6553048" y="1554480"/>
            <a:ext cx="4861408" cy="2651760"/>
          </a:xfrm>
          <a:prstGeom prst="rect">
            <a:avLst/>
          </a:prstGeom>
          <a:noFill/>
          <a:ln/>
        </p:spPr>
        <p:txBody>
          <a:bodyPr wrap="square" lIns="0" tIns="0" rIns="0" bIns="0" rtlCol="0" anchor="t"/>
          <a:lstStyle/>
          <a:p>
            <a:pPr indent="0" marL="0">
              <a:spcAft>
                <a:spcPts val="600"/>
              </a:spcAft>
              <a:buNone/>
            </a:pPr>
            <a:r>
              <a:rPr lang="en-US" sz="2200" b="1" dirty="0">
                <a:solidFill>
                  <a:schemeClr val="accent2"/>
                </a:solidFill>
              </a:rPr>
              <a:t>What did not happen</a:t>
            </a:r>
            <a:endParaRPr lang="en-US" sz="1800" dirty="0"/>
          </a:p>
          <a:p>
            <a:pPr indent="0" marL="0">
              <a:spcAft>
                <a:spcPts val="600"/>
              </a:spcAft>
              <a:buNone/>
            </a:pPr>
            <a:r>
              <a:rPr lang="en-US" sz="1800" dirty="0">
                <a:solidFill>
                  <a:schemeClr val="tx1"/>
                </a:solidFill>
              </a:rPr>
              <a:t>Predicted priming effects (BF₀₁ ≈ 1000)</a:t>
            </a:r>
            <a:endParaRPr lang="en-US" sz="1800" dirty="0"/>
          </a:p>
          <a:p>
            <a:pPr indent="0" marL="0">
              <a:spcAft>
                <a:spcPts val="600"/>
              </a:spcAft>
              <a:buNone/>
            </a:pPr>
            <a:r>
              <a:rPr lang="en-US" sz="1800" dirty="0">
                <a:solidFill>
                  <a:schemeClr val="tx1"/>
                </a:solidFill>
              </a:rPr>
              <a:t>Telic phrases moving endpoints</a:t>
            </a:r>
            <a:endParaRPr lang="en-US" sz="1800" dirty="0"/>
          </a:p>
          <a:p>
            <a:pPr indent="0" marL="0">
              <a:spcAft>
                <a:spcPts val="600"/>
              </a:spcAft>
              <a:buNone/>
            </a:pPr>
            <a:r>
              <a:rPr lang="en-US" sz="1800" dirty="0">
                <a:solidFill>
                  <a:schemeClr val="tx1"/>
                </a:solidFill>
              </a:rPr>
              <a:t>Mandarin late-blending advantage</a:t>
            </a:r>
            <a:endParaRPr lang="en-US" sz="1800" dirty="0"/>
          </a:p>
        </p:txBody>
      </p:sp>
      <p:sp>
        <p:nvSpPr>
          <p:cNvPr id="8" name="Shape 5"/>
          <p:cNvSpPr/>
          <p:nvPr/>
        </p:nvSpPr>
        <p:spPr>
          <a:xfrm>
            <a:off x="548640" y="4754880"/>
            <a:ext cx="11094415" cy="685800"/>
          </a:xfrm>
          <a:prstGeom prst="roundRect">
            <a:avLst>
              <a:gd name="adj" fmla="val 10667"/>
            </a:avLst>
          </a:prstGeom>
          <a:solidFill>
            <a:schemeClr val="bg2"/>
          </a:solidFill>
          <a:ln/>
        </p:spPr>
      </p:sp>
      <p:sp>
        <p:nvSpPr>
          <p:cNvPr id="9" name="Text 6"/>
          <p:cNvSpPr txBox="1"/>
          <p:nvPr/>
        </p:nvSpPr>
        <p:spPr>
          <a:xfrm>
            <a:off x="777240" y="4754880"/>
            <a:ext cx="10637215" cy="685800"/>
          </a:xfrm>
          <a:prstGeom prst="rect">
            <a:avLst/>
          </a:prstGeom>
          <a:noFill/>
          <a:ln/>
        </p:spPr>
        <p:txBody>
          <a:bodyPr wrap="square" lIns="0" tIns="0" rIns="0" bIns="0" rtlCol="0" anchor="ctr"/>
          <a:lstStyle/>
          <a:p>
            <a:pPr indent="0" marL="0">
              <a:buNone/>
            </a:pPr>
            <a:r>
              <a:rPr lang="en-US" sz="1800" b="1" dirty="0">
                <a:solidFill>
                  <a:schemeClr val="accent2"/>
                </a:solidFill>
              </a:rPr>
              <a:t>Takeaway   </a:t>
            </a:r>
            <a:pPr indent="0" marL="0">
              <a:buNone/>
            </a:pPr>
            <a:r>
              <a:rPr lang="en-US" sz="1800" dirty="0">
                <a:solidFill>
                  <a:schemeClr val="tx1"/>
                </a:solidFill>
              </a:rPr>
              <a:t>Stable language–processing links, but not caused by one brief cue.</a:t>
            </a:r>
            <a:endParaRPr lang="en-US" sz="1800" dirty="0"/>
          </a:p>
        </p:txBody>
      </p:sp>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Children: “Did she peel it?” (with Yue Ji)</a:t>
            </a:r>
            <a:endParaRPr lang="en-US" sz="3000" dirty="0"/>
          </a:p>
        </p:txBody>
      </p:sp>
      <p:sp>
        <p:nvSpPr>
          <p:cNvPr id="4" name="Text 1"/>
          <p:cNvSpPr txBox="1"/>
          <p:nvPr/>
        </p:nvSpPr>
        <p:spPr>
          <a:xfrm>
            <a:off x="548640" y="1371600"/>
            <a:ext cx="576072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10 action pairs, result attained or not</a:t>
            </a:r>
            <a:endParaRPr lang="en-US" sz="1800" dirty="0"/>
          </a:p>
          <a:p>
            <a:pPr marL="342900" indent="-342900">
              <a:spcAft>
                <a:spcPts val="1000"/>
              </a:spcAft>
              <a:buSzPct val="100000"/>
              <a:buChar char="•"/>
            </a:pPr>
            <a:r>
              <a:rPr lang="en-US" sz="1800" dirty="0">
                <a:solidFill>
                  <a:schemeClr val="tx1"/>
                </a:solidFill>
              </a:rPr>
              <a:t>4-year-olds, 5-year-olds, adults</a:t>
            </a:r>
            <a:endParaRPr lang="en-US" sz="1800" dirty="0"/>
          </a:p>
          <a:p>
            <a:pPr marL="342900" indent="-342900">
              <a:spcAft>
                <a:spcPts val="1000"/>
              </a:spcAft>
              <a:buSzPct val="100000"/>
              <a:buChar char="•"/>
            </a:pPr>
            <a:r>
              <a:rPr lang="en-US" sz="1800" dirty="0">
                <a:solidFill>
                  <a:schemeClr val="tx1"/>
                </a:solidFill>
              </a:rPr>
              <a:t>Judge: “Tā bāo-le lìzhī ma?”</a:t>
            </a:r>
            <a:endParaRPr lang="en-US" sz="1800" dirty="0"/>
          </a:p>
          <a:p>
            <a:pPr marL="342900" indent="-342900">
              <a:spcAft>
                <a:spcPts val="1000"/>
              </a:spcAft>
              <a:buSzPct val="100000"/>
              <a:buChar char="•"/>
            </a:pPr>
            <a:r>
              <a:rPr lang="en-US" sz="1800" dirty="0">
                <a:solidFill>
                  <a:schemeClr val="tx1"/>
                </a:solidFill>
              </a:rPr>
              <a:t>Describe: “What happened?”</a:t>
            </a:r>
            <a:endParaRPr lang="en-US" sz="1800" dirty="0"/>
          </a:p>
        </p:txBody>
      </p:sp>
      <p:sp>
        <p:nvSpPr>
          <p:cNvPr id="5" name="Text 2"/>
          <p:cNvSpPr txBox="1"/>
          <p:nvPr/>
        </p:nvSpPr>
        <p:spPr>
          <a:xfrm>
            <a:off x="548640" y="3886200"/>
            <a:ext cx="5760720" cy="411480"/>
          </a:xfrm>
          <a:prstGeom prst="rect">
            <a:avLst/>
          </a:prstGeom>
          <a:noFill/>
          <a:ln/>
        </p:spPr>
        <p:txBody>
          <a:bodyPr wrap="square" lIns="0" tIns="0" rIns="0" bIns="0" rtlCol="0" anchor="t"/>
          <a:lstStyle/>
          <a:p>
            <a:pPr indent="0" marL="0">
              <a:buNone/>
            </a:pPr>
            <a:r>
              <a:rPr lang="en-US" sz="1800" b="1" dirty="0">
                <a:solidFill>
                  <a:schemeClr val="tx2"/>
                </a:solidFill>
              </a:rPr>
              <a:t>Lychee open: result likelihood</a:t>
            </a:r>
            <a:endParaRPr lang="en-US" sz="1800" dirty="0"/>
          </a:p>
        </p:txBody>
      </p:sp>
      <p:sp>
        <p:nvSpPr>
          <p:cNvPr id="6" name="Text 3"/>
          <p:cNvSpPr txBox="1"/>
          <p:nvPr/>
        </p:nvSpPr>
        <p:spPr>
          <a:xfrm>
            <a:off x="548640" y="4389120"/>
            <a:ext cx="2743200" cy="1371600"/>
          </a:xfrm>
          <a:prstGeom prst="rect">
            <a:avLst/>
          </a:prstGeom>
          <a:noFill/>
          <a:ln/>
        </p:spPr>
        <p:txBody>
          <a:bodyPr wrap="square" lIns="0" tIns="0" rIns="0" bIns="0" rtlCol="0" anchor="t"/>
          <a:lstStyle/>
          <a:p>
            <a:pPr indent="0" marL="0">
              <a:buNone/>
            </a:pPr>
            <a:r>
              <a:rPr lang="en-US" sz="4000" b="1" dirty="0">
                <a:solidFill>
                  <a:schemeClr val="accent1"/>
                </a:solidFill>
              </a:rPr>
              <a:t>93</a:t>
            </a:r>
            <a:endParaRPr lang="en-US" sz="1800" dirty="0"/>
          </a:p>
          <a:p>
            <a:pPr indent="0" marL="0">
              <a:buNone/>
            </a:pPr>
            <a:r>
              <a:rPr lang="en-US" sz="1800" dirty="0">
                <a:solidFill>
                  <a:schemeClr val="tx1"/>
                </a:solidFill>
              </a:rPr>
              <a:t>剥 bāo “peel”</a:t>
            </a:r>
            <a:endParaRPr lang="en-US" sz="1800" dirty="0"/>
          </a:p>
        </p:txBody>
      </p:sp>
      <p:sp>
        <p:nvSpPr>
          <p:cNvPr id="7" name="Text 4"/>
          <p:cNvSpPr txBox="1"/>
          <p:nvPr/>
        </p:nvSpPr>
        <p:spPr>
          <a:xfrm>
            <a:off x="3383280" y="4389120"/>
            <a:ext cx="2743200" cy="1371600"/>
          </a:xfrm>
          <a:prstGeom prst="rect">
            <a:avLst/>
          </a:prstGeom>
          <a:noFill/>
          <a:ln/>
        </p:spPr>
        <p:txBody>
          <a:bodyPr wrap="square" lIns="0" tIns="0" rIns="0" bIns="0" rtlCol="0" anchor="t"/>
          <a:lstStyle/>
          <a:p>
            <a:pPr indent="0" marL="0">
              <a:buNone/>
            </a:pPr>
            <a:r>
              <a:rPr lang="en-US" sz="4000" b="1" dirty="0">
                <a:solidFill>
                  <a:schemeClr val="accent3"/>
                </a:solidFill>
              </a:rPr>
              <a:t>65</a:t>
            </a:r>
            <a:endParaRPr lang="en-US" sz="1800" dirty="0"/>
          </a:p>
          <a:p>
            <a:pPr indent="0" marL="0">
              <a:buNone/>
            </a:pPr>
            <a:r>
              <a:rPr lang="en-US" sz="1800" dirty="0">
                <a:solidFill>
                  <a:schemeClr val="tx1"/>
                </a:solidFill>
              </a:rPr>
              <a:t>捏 niē “squeeze”</a:t>
            </a:r>
            <a:endParaRPr lang="en-US" sz="1800" dirty="0"/>
          </a:p>
        </p:txBody>
      </p:sp>
      <p:sp>
        <p:nvSpPr>
          <p:cNvPr id="8" name="Shape 5"/>
          <p:cNvSpPr/>
          <p:nvPr/>
        </p:nvSpPr>
        <p:spPr>
          <a:xfrm>
            <a:off x="6675120" y="1371600"/>
            <a:ext cx="4967935" cy="2057400"/>
          </a:xfrm>
          <a:prstGeom prst="roundRect">
            <a:avLst>
              <a:gd name="adj" fmla="val 4444"/>
            </a:avLst>
          </a:prstGeom>
          <a:solidFill>
            <a:schemeClr val="bg2"/>
          </a:solidFill>
          <a:ln/>
        </p:spPr>
      </p:sp>
      <p:sp>
        <p:nvSpPr>
          <p:cNvPr id="9" name="Text 6"/>
          <p:cNvSpPr txBox="1"/>
          <p:nvPr/>
        </p:nvSpPr>
        <p:spPr>
          <a:xfrm>
            <a:off x="6903720" y="1554480"/>
            <a:ext cx="4510735" cy="169164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Key idea</a:t>
            </a:r>
            <a:endParaRPr lang="en-US" sz="1800" dirty="0"/>
          </a:p>
          <a:p>
            <a:pPr indent="0" marL="0">
              <a:spcAft>
                <a:spcPts val="600"/>
              </a:spcAft>
              <a:buNone/>
            </a:pPr>
            <a:r>
              <a:rPr lang="en-US" sz="1800" dirty="0">
                <a:solidFill>
                  <a:schemeClr val="tx1"/>
                </a:solidFill>
              </a:rPr>
              <a:t>Result strength belongs to the action–object–result relation, not only the verb.</a:t>
            </a:r>
            <a:endParaRPr lang="en-US" sz="1800" dirty="0"/>
          </a:p>
        </p:txBody>
      </p:sp>
      <p:sp>
        <p:nvSpPr>
          <p:cNvPr id="10" name="Shape 7"/>
          <p:cNvSpPr/>
          <p:nvPr/>
        </p:nvSpPr>
        <p:spPr>
          <a:xfrm>
            <a:off x="6675120" y="3657600"/>
            <a:ext cx="4967935" cy="2057400"/>
          </a:xfrm>
          <a:prstGeom prst="roundRect">
            <a:avLst>
              <a:gd name="adj" fmla="val 4444"/>
            </a:avLst>
          </a:prstGeom>
          <a:solidFill>
            <a:schemeClr val="bg2"/>
          </a:solidFill>
          <a:ln/>
        </p:spPr>
      </p:sp>
      <p:sp>
        <p:nvSpPr>
          <p:cNvPr id="11" name="Text 8"/>
          <p:cNvSpPr txBox="1"/>
          <p:nvPr/>
        </p:nvSpPr>
        <p:spPr>
          <a:xfrm>
            <a:off x="6903720" y="3840480"/>
            <a:ext cx="4510735" cy="1691640"/>
          </a:xfrm>
          <a:prstGeom prst="rect">
            <a:avLst/>
          </a:prstGeom>
          <a:noFill/>
          <a:ln/>
        </p:spPr>
        <p:txBody>
          <a:bodyPr wrap="square" lIns="0" tIns="0" rIns="0" bIns="0" rtlCol="0" anchor="t"/>
          <a:lstStyle/>
          <a:p>
            <a:pPr indent="0" marL="0">
              <a:spcAft>
                <a:spcPts val="600"/>
              </a:spcAft>
              <a:buNone/>
            </a:pPr>
            <a:r>
              <a:rPr lang="en-US" sz="2200" b="1" dirty="0">
                <a:solidFill>
                  <a:schemeClr val="accent2"/>
                </a:solidFill>
              </a:rPr>
              <a:t>Test</a:t>
            </a:r>
            <a:endParaRPr lang="en-US" sz="1800" dirty="0"/>
          </a:p>
          <a:p>
            <a:pPr indent="0" marL="0">
              <a:spcAft>
                <a:spcPts val="600"/>
              </a:spcAft>
              <a:buNone/>
            </a:pPr>
            <a:r>
              <a:rPr lang="en-US" sz="1800" dirty="0">
                <a:solidFill>
                  <a:schemeClr val="tx1"/>
                </a:solidFill>
              </a:rPr>
              <a:t>Higher likelihood, more rejection of “bāo” when the lychee stays closed.</a:t>
            </a:r>
            <a:endParaRPr lang="en-US" sz="1800" dirty="0"/>
          </a:p>
        </p:txBody>
      </p:sp>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From the thesis to three questions</a:t>
            </a:r>
            <a:endParaRPr lang="en-US" sz="3000" dirty="0"/>
          </a:p>
        </p:txBody>
      </p:sp>
      <p:sp>
        <p:nvSpPr>
          <p:cNvPr id="4" name="Text 1"/>
          <p:cNvSpPr txBox="1"/>
          <p:nvPr/>
        </p:nvSpPr>
        <p:spPr>
          <a:xfrm>
            <a:off x="1325880" y="1325880"/>
            <a:ext cx="6035040" cy="411480"/>
          </a:xfrm>
          <a:prstGeom prst="rect">
            <a:avLst/>
          </a:prstGeom>
          <a:noFill/>
          <a:ln/>
        </p:spPr>
        <p:txBody>
          <a:bodyPr wrap="square" lIns="0" tIns="0" rIns="0" bIns="0" rtlCol="0" anchor="t"/>
          <a:lstStyle/>
          <a:p>
            <a:pPr indent="0" marL="0">
              <a:buNone/>
            </a:pPr>
            <a:r>
              <a:rPr lang="en-US" sz="1800" b="1" dirty="0">
                <a:solidFill>
                  <a:schemeClr val="accent3"/>
                </a:solidFill>
              </a:rPr>
              <a:t>Open question</a:t>
            </a:r>
            <a:endParaRPr lang="en-US" sz="1800" dirty="0"/>
          </a:p>
        </p:txBody>
      </p:sp>
      <p:sp>
        <p:nvSpPr>
          <p:cNvPr id="5" name="Text 2"/>
          <p:cNvSpPr txBox="1"/>
          <p:nvPr/>
        </p:nvSpPr>
        <p:spPr>
          <a:xfrm>
            <a:off x="7863840" y="1325880"/>
            <a:ext cx="3749040" cy="411480"/>
          </a:xfrm>
          <a:prstGeom prst="rect">
            <a:avLst/>
          </a:prstGeom>
          <a:noFill/>
          <a:ln/>
        </p:spPr>
        <p:txBody>
          <a:bodyPr wrap="square" lIns="0" tIns="0" rIns="0" bIns="0" rtlCol="0" anchor="t"/>
          <a:lstStyle/>
          <a:p>
            <a:pPr indent="0" marL="0">
              <a:buNone/>
            </a:pPr>
            <a:r>
              <a:rPr lang="en-US" sz="1800" b="1" dirty="0">
                <a:solidFill>
                  <a:schemeClr val="accent3"/>
                </a:solidFill>
              </a:rPr>
              <a:t>Approach</a:t>
            </a:r>
            <a:endParaRPr lang="en-US" sz="1800" dirty="0"/>
          </a:p>
        </p:txBody>
      </p:sp>
      <p:sp>
        <p:nvSpPr>
          <p:cNvPr id="6" name="Shape 3"/>
          <p:cNvSpPr/>
          <p:nvPr/>
        </p:nvSpPr>
        <p:spPr>
          <a:xfrm>
            <a:off x="548640" y="1984248"/>
            <a:ext cx="548640" cy="548640"/>
          </a:xfrm>
          <a:prstGeom prst="ellipse">
            <a:avLst/>
          </a:prstGeom>
          <a:solidFill>
            <a:schemeClr val="accent1"/>
          </a:solidFill>
          <a:ln/>
        </p:spPr>
      </p:sp>
      <p:sp>
        <p:nvSpPr>
          <p:cNvPr id="7" name="Text 4"/>
          <p:cNvSpPr txBox="1"/>
          <p:nvPr/>
        </p:nvSpPr>
        <p:spPr>
          <a:xfrm>
            <a:off x="548640" y="1984248"/>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1325880" y="1874520"/>
            <a:ext cx="6400800" cy="777240"/>
          </a:xfrm>
          <a:prstGeom prst="rect">
            <a:avLst/>
          </a:prstGeom>
          <a:noFill/>
          <a:ln/>
        </p:spPr>
        <p:txBody>
          <a:bodyPr wrap="square" lIns="0" tIns="0" rIns="0" bIns="0" rtlCol="0" anchor="ctr"/>
          <a:lstStyle/>
          <a:p>
            <a:pPr indent="0" marL="0">
              <a:buNone/>
            </a:pPr>
            <a:r>
              <a:rPr lang="en-US" sz="2200" b="1" dirty="0">
                <a:solidFill>
                  <a:schemeClr val="tx2"/>
                </a:solidFill>
              </a:rPr>
              <a:t>When do these differences emerge?</a:t>
            </a:r>
            <a:endParaRPr lang="en-US" sz="2200" dirty="0"/>
          </a:p>
        </p:txBody>
      </p:sp>
      <p:sp>
        <p:nvSpPr>
          <p:cNvPr id="9" name="Shape 6"/>
          <p:cNvSpPr/>
          <p:nvPr/>
        </p:nvSpPr>
        <p:spPr>
          <a:xfrm>
            <a:off x="7863840" y="1874520"/>
            <a:ext cx="3779215" cy="777240"/>
          </a:xfrm>
          <a:prstGeom prst="roundRect">
            <a:avLst>
              <a:gd name="adj" fmla="val 11765"/>
            </a:avLst>
          </a:prstGeom>
          <a:solidFill>
            <a:schemeClr val="bg2"/>
          </a:solidFill>
          <a:ln/>
        </p:spPr>
      </p:sp>
      <p:sp>
        <p:nvSpPr>
          <p:cNvPr id="10" name="Text 7"/>
          <p:cNvSpPr txBox="1"/>
          <p:nvPr/>
        </p:nvSpPr>
        <p:spPr>
          <a:xfrm>
            <a:off x="8046720" y="1874520"/>
            <a:ext cx="3413455" cy="777240"/>
          </a:xfrm>
          <a:prstGeom prst="rect">
            <a:avLst/>
          </a:prstGeom>
          <a:noFill/>
          <a:ln/>
        </p:spPr>
        <p:txBody>
          <a:bodyPr wrap="square" lIns="0" tIns="0" rIns="0" bIns="0" rtlCol="0" anchor="ctr"/>
          <a:lstStyle/>
          <a:p>
            <a:pPr indent="0" marL="0">
              <a:buNone/>
            </a:pPr>
            <a:r>
              <a:rPr lang="en-US" sz="1800" b="1" dirty="0">
                <a:solidFill>
                  <a:schemeClr val="accent2"/>
                </a:solidFill>
              </a:rPr>
              <a:t>Direction 1: </a:t>
            </a:r>
            <a:pPr indent="0" marL="0">
              <a:buNone/>
            </a:pPr>
            <a:r>
              <a:rPr lang="en-US" sz="1800" dirty="0">
                <a:solidFill>
                  <a:schemeClr val="tx1"/>
                </a:solidFill>
              </a:rPr>
              <a:t>Development</a:t>
            </a:r>
            <a:endParaRPr lang="en-US" sz="1800" dirty="0"/>
          </a:p>
        </p:txBody>
      </p:sp>
      <p:sp>
        <p:nvSpPr>
          <p:cNvPr id="11" name="Shape 8"/>
          <p:cNvSpPr/>
          <p:nvPr/>
        </p:nvSpPr>
        <p:spPr>
          <a:xfrm>
            <a:off x="548640" y="3035808"/>
            <a:ext cx="548640" cy="548640"/>
          </a:xfrm>
          <a:prstGeom prst="ellipse">
            <a:avLst/>
          </a:prstGeom>
          <a:solidFill>
            <a:schemeClr val="accent1"/>
          </a:solidFill>
          <a:ln/>
        </p:spPr>
      </p:sp>
      <p:sp>
        <p:nvSpPr>
          <p:cNvPr id="12" name="Text 9"/>
          <p:cNvSpPr txBox="1"/>
          <p:nvPr/>
        </p:nvSpPr>
        <p:spPr>
          <a:xfrm>
            <a:off x="548640" y="3035808"/>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 10"/>
          <p:cNvSpPr txBox="1"/>
          <p:nvPr/>
        </p:nvSpPr>
        <p:spPr>
          <a:xfrm>
            <a:off x="1325880" y="2926080"/>
            <a:ext cx="6400800" cy="777240"/>
          </a:xfrm>
          <a:prstGeom prst="rect">
            <a:avLst/>
          </a:prstGeom>
          <a:noFill/>
          <a:ln/>
        </p:spPr>
        <p:txBody>
          <a:bodyPr wrap="square" lIns="0" tIns="0" rIns="0" bIns="0" rtlCol="0" anchor="ctr"/>
          <a:lstStyle/>
          <a:p>
            <a:pPr indent="0" marL="0">
              <a:buNone/>
            </a:pPr>
            <a:r>
              <a:rPr lang="en-US" sz="2200" b="1" dirty="0">
                <a:solidFill>
                  <a:schemeClr val="tx2"/>
                </a:solidFill>
              </a:rPr>
              <a:t>Can sustained language change processing?</a:t>
            </a:r>
            <a:endParaRPr lang="en-US" sz="2200" dirty="0"/>
          </a:p>
        </p:txBody>
      </p:sp>
      <p:sp>
        <p:nvSpPr>
          <p:cNvPr id="14" name="Shape 11"/>
          <p:cNvSpPr/>
          <p:nvPr/>
        </p:nvSpPr>
        <p:spPr>
          <a:xfrm>
            <a:off x="7863840" y="2926080"/>
            <a:ext cx="3779215" cy="777240"/>
          </a:xfrm>
          <a:prstGeom prst="roundRect">
            <a:avLst>
              <a:gd name="adj" fmla="val 11765"/>
            </a:avLst>
          </a:prstGeom>
          <a:solidFill>
            <a:schemeClr val="bg2"/>
          </a:solidFill>
          <a:ln/>
        </p:spPr>
      </p:sp>
      <p:sp>
        <p:nvSpPr>
          <p:cNvPr id="15" name="Text 12"/>
          <p:cNvSpPr txBox="1"/>
          <p:nvPr/>
        </p:nvSpPr>
        <p:spPr>
          <a:xfrm>
            <a:off x="8046720" y="2926080"/>
            <a:ext cx="3413455" cy="777240"/>
          </a:xfrm>
          <a:prstGeom prst="rect">
            <a:avLst/>
          </a:prstGeom>
          <a:noFill/>
          <a:ln/>
        </p:spPr>
        <p:txBody>
          <a:bodyPr wrap="square" lIns="0" tIns="0" rIns="0" bIns="0" rtlCol="0" anchor="ctr"/>
          <a:lstStyle/>
          <a:p>
            <a:pPr indent="0" marL="0">
              <a:buNone/>
            </a:pPr>
            <a:r>
              <a:rPr lang="en-US" sz="1800" b="1" dirty="0">
                <a:solidFill>
                  <a:schemeClr val="accent2"/>
                </a:solidFill>
              </a:rPr>
              <a:t>Direction 2: </a:t>
            </a:r>
            <a:pPr indent="0" marL="0">
              <a:buNone/>
            </a:pPr>
            <a:r>
              <a:rPr lang="en-US" sz="1800" dirty="0">
                <a:solidFill>
                  <a:schemeClr val="tx1"/>
                </a:solidFill>
              </a:rPr>
              <a:t>Training</a:t>
            </a:r>
            <a:endParaRPr lang="en-US" sz="1800" dirty="0"/>
          </a:p>
        </p:txBody>
      </p:sp>
      <p:sp>
        <p:nvSpPr>
          <p:cNvPr id="16" name="Shape 13"/>
          <p:cNvSpPr/>
          <p:nvPr/>
        </p:nvSpPr>
        <p:spPr>
          <a:xfrm>
            <a:off x="548640" y="4087368"/>
            <a:ext cx="548640" cy="548640"/>
          </a:xfrm>
          <a:prstGeom prst="ellipse">
            <a:avLst/>
          </a:prstGeom>
          <a:solidFill>
            <a:schemeClr val="accent1"/>
          </a:solidFill>
          <a:ln/>
        </p:spPr>
      </p:sp>
      <p:sp>
        <p:nvSpPr>
          <p:cNvPr id="17" name="Text 14"/>
          <p:cNvSpPr txBox="1"/>
          <p:nvPr/>
        </p:nvSpPr>
        <p:spPr>
          <a:xfrm>
            <a:off x="548640" y="4087368"/>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8" name="Text 15"/>
          <p:cNvSpPr txBox="1"/>
          <p:nvPr/>
        </p:nvSpPr>
        <p:spPr>
          <a:xfrm>
            <a:off x="1325880" y="3977640"/>
            <a:ext cx="6400800" cy="777240"/>
          </a:xfrm>
          <a:prstGeom prst="rect">
            <a:avLst/>
          </a:prstGeom>
          <a:noFill/>
          <a:ln/>
        </p:spPr>
        <p:txBody>
          <a:bodyPr wrap="square" lIns="0" tIns="0" rIns="0" bIns="0" rtlCol="0" anchor="ctr"/>
          <a:lstStyle/>
          <a:p>
            <a:pPr indent="0" marL="0">
              <a:buNone/>
            </a:pPr>
            <a:r>
              <a:rPr lang="en-US" sz="2200" b="1" dirty="0">
                <a:solidFill>
                  <a:schemeClr val="tx2"/>
                </a:solidFill>
              </a:rPr>
              <a:t>Does text alone yield both levels?</a:t>
            </a:r>
            <a:endParaRPr lang="en-US" sz="2200" dirty="0"/>
          </a:p>
        </p:txBody>
      </p:sp>
      <p:sp>
        <p:nvSpPr>
          <p:cNvPr id="19" name="Shape 16"/>
          <p:cNvSpPr/>
          <p:nvPr/>
        </p:nvSpPr>
        <p:spPr>
          <a:xfrm>
            <a:off x="7863840" y="3977640"/>
            <a:ext cx="3779215" cy="777240"/>
          </a:xfrm>
          <a:prstGeom prst="roundRect">
            <a:avLst>
              <a:gd name="adj" fmla="val 11765"/>
            </a:avLst>
          </a:prstGeom>
          <a:solidFill>
            <a:schemeClr val="bg2"/>
          </a:solidFill>
          <a:ln/>
        </p:spPr>
      </p:sp>
      <p:sp>
        <p:nvSpPr>
          <p:cNvPr id="20" name="Text 17"/>
          <p:cNvSpPr txBox="1"/>
          <p:nvPr/>
        </p:nvSpPr>
        <p:spPr>
          <a:xfrm>
            <a:off x="8046720" y="3977640"/>
            <a:ext cx="3413455" cy="777240"/>
          </a:xfrm>
          <a:prstGeom prst="rect">
            <a:avLst/>
          </a:prstGeom>
          <a:noFill/>
          <a:ln/>
        </p:spPr>
        <p:txBody>
          <a:bodyPr wrap="square" lIns="0" tIns="0" rIns="0" bIns="0" rtlCol="0" anchor="ctr"/>
          <a:lstStyle/>
          <a:p>
            <a:pPr indent="0" marL="0">
              <a:buNone/>
            </a:pPr>
            <a:r>
              <a:rPr lang="en-US" sz="1800" b="1" dirty="0">
                <a:solidFill>
                  <a:schemeClr val="accent2"/>
                </a:solidFill>
              </a:rPr>
              <a:t>Direction 3: </a:t>
            </a:r>
            <a:pPr indent="0" marL="0">
              <a:buNone/>
            </a:pPr>
            <a:r>
              <a:rPr lang="en-US" sz="1800" dirty="0">
                <a:solidFill>
                  <a:schemeClr val="tx1"/>
                </a:solidFill>
              </a:rPr>
              <a:t>Language models</a:t>
            </a:r>
            <a:endParaRPr lang="en-US" sz="1800" dirty="0"/>
          </a:p>
        </p:txBody>
      </p:sp>
      <p:sp>
        <p:nvSpPr>
          <p:cNvPr id="21" name="Shape 18"/>
          <p:cNvSpPr/>
          <p:nvPr/>
        </p:nvSpPr>
        <p:spPr>
          <a:xfrm>
            <a:off x="548640" y="5257800"/>
            <a:ext cx="11094415" cy="685800"/>
          </a:xfrm>
          <a:prstGeom prst="roundRect">
            <a:avLst>
              <a:gd name="adj" fmla="val 10667"/>
            </a:avLst>
          </a:prstGeom>
          <a:solidFill>
            <a:schemeClr val="bg2"/>
          </a:solidFill>
          <a:ln/>
        </p:spPr>
      </p:sp>
      <p:sp>
        <p:nvSpPr>
          <p:cNvPr id="22" name="Text 19"/>
          <p:cNvSpPr txBox="1"/>
          <p:nvPr/>
        </p:nvSpPr>
        <p:spPr>
          <a:xfrm>
            <a:off x="777240" y="5257800"/>
            <a:ext cx="10637215" cy="685800"/>
          </a:xfrm>
          <a:prstGeom prst="rect">
            <a:avLst/>
          </a:prstGeom>
          <a:noFill/>
          <a:ln/>
        </p:spPr>
        <p:txBody>
          <a:bodyPr wrap="square" lIns="0" tIns="0" rIns="0" bIns="0" rtlCol="0" anchor="ctr"/>
          <a:lstStyle/>
          <a:p>
            <a:pPr indent="0" marL="0">
              <a:buNone/>
            </a:pPr>
            <a:r>
              <a:rPr lang="en-US" sz="1800" b="1" dirty="0">
                <a:solidFill>
                  <a:schemeClr val="accent2"/>
                </a:solidFill>
              </a:rPr>
              <a:t>Takeaway   </a:t>
            </a:r>
            <a:pPr indent="0" marL="0">
              <a:buNone/>
            </a:pPr>
            <a:r>
              <a:rPr lang="en-US" sz="1800" dirty="0">
                <a:solidFill>
                  <a:schemeClr val="tx1"/>
                </a:solidFill>
              </a:rPr>
              <a:t>The limits of the thesis become the research plan.</a:t>
            </a:r>
            <a:endParaRPr lang="en-US" sz="1800" dirty="0"/>
          </a:p>
        </p:txBody>
      </p:sp>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Direction 1: When does language shape event processing?</a:t>
            </a:r>
            <a:endParaRPr lang="en-US" sz="3000" dirty="0"/>
          </a:p>
        </p:txBody>
      </p:sp>
      <p:sp>
        <p:nvSpPr>
          <p:cNvPr id="4" name="Text 1"/>
          <p:cNvSpPr txBox="1"/>
          <p:nvPr/>
        </p:nvSpPr>
        <p:spPr>
          <a:xfrm>
            <a:off x="548640" y="1280160"/>
            <a:ext cx="6309360" cy="411480"/>
          </a:xfrm>
          <a:prstGeom prst="rect">
            <a:avLst/>
          </a:prstGeom>
          <a:noFill/>
          <a:ln/>
        </p:spPr>
        <p:txBody>
          <a:bodyPr wrap="square" lIns="0" tIns="0" rIns="0" bIns="0" rtlCol="0" anchor="t"/>
          <a:lstStyle/>
          <a:p>
            <a:pPr indent="0" marL="0">
              <a:buNone/>
            </a:pPr>
            <a:r>
              <a:rPr lang="en-US" sz="2200" b="1" dirty="0">
                <a:solidFill>
                  <a:schemeClr val="tx2"/>
                </a:solidFill>
              </a:rPr>
              <a:t>Design</a:t>
            </a:r>
            <a:endParaRPr lang="en-US" sz="2200" dirty="0"/>
          </a:p>
        </p:txBody>
      </p:sp>
      <p:sp>
        <p:nvSpPr>
          <p:cNvPr id="5" name="Shape 2"/>
          <p:cNvSpPr/>
          <p:nvPr/>
        </p:nvSpPr>
        <p:spPr>
          <a:xfrm>
            <a:off x="548640" y="1828800"/>
            <a:ext cx="548640" cy="548640"/>
          </a:xfrm>
          <a:prstGeom prst="ellipse">
            <a:avLst/>
          </a:prstGeom>
          <a:solidFill>
            <a:schemeClr val="accent1"/>
          </a:solidFill>
          <a:ln/>
        </p:spPr>
      </p:sp>
      <p:sp>
        <p:nvSpPr>
          <p:cNvPr id="6" name="Text 3"/>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1280160" y="1828800"/>
            <a:ext cx="5577840" cy="548640"/>
          </a:xfrm>
          <a:prstGeom prst="rect">
            <a:avLst/>
          </a:prstGeom>
          <a:noFill/>
          <a:ln/>
        </p:spPr>
        <p:txBody>
          <a:bodyPr wrap="square" lIns="0" tIns="0" rIns="0" bIns="0" rtlCol="0" anchor="ctr"/>
          <a:lstStyle/>
          <a:p>
            <a:pPr indent="0" marL="0">
              <a:buNone/>
            </a:pPr>
            <a:r>
              <a:rPr lang="en-US" sz="1800" dirty="0">
                <a:solidFill>
                  <a:schemeClr val="tx1"/>
                </a:solidFill>
              </a:rPr>
              <a:t>Mandarin and English children, ages 3–6</a:t>
            </a:r>
            <a:endParaRPr lang="en-US" sz="1800" dirty="0"/>
          </a:p>
        </p:txBody>
      </p:sp>
      <p:sp>
        <p:nvSpPr>
          <p:cNvPr id="8" name="Shape 5"/>
          <p:cNvSpPr/>
          <p:nvPr/>
        </p:nvSpPr>
        <p:spPr>
          <a:xfrm>
            <a:off x="548640" y="2606040"/>
            <a:ext cx="548640" cy="548640"/>
          </a:xfrm>
          <a:prstGeom prst="ellipse">
            <a:avLst/>
          </a:prstGeom>
          <a:solidFill>
            <a:schemeClr val="accent1"/>
          </a:solidFill>
          <a:ln/>
        </p:spPr>
      </p:sp>
      <p:sp>
        <p:nvSpPr>
          <p:cNvPr id="9" name="Text 6"/>
          <p:cNvSpPr txBox="1"/>
          <p:nvPr/>
        </p:nvSpPr>
        <p:spPr>
          <a:xfrm>
            <a:off x="548640" y="2606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7"/>
          <p:cNvSpPr txBox="1"/>
          <p:nvPr/>
        </p:nvSpPr>
        <p:spPr>
          <a:xfrm>
            <a:off x="1280160" y="2606040"/>
            <a:ext cx="5577840" cy="548640"/>
          </a:xfrm>
          <a:prstGeom prst="rect">
            <a:avLst/>
          </a:prstGeom>
          <a:noFill/>
          <a:ln/>
        </p:spPr>
        <p:txBody>
          <a:bodyPr wrap="square" lIns="0" tIns="0" rIns="0" bIns="0" rtlCol="0" anchor="ctr"/>
          <a:lstStyle/>
          <a:p>
            <a:pPr indent="0" marL="0">
              <a:buNone/>
            </a:pPr>
            <a:r>
              <a:rPr lang="en-US" sz="1800" dirty="0">
                <a:solidFill>
                  <a:schemeClr val="tx1"/>
                </a:solidFill>
              </a:rPr>
              <a:t>Same cutting and blending videos</a:t>
            </a:r>
            <a:endParaRPr lang="en-US" sz="1800" dirty="0"/>
          </a:p>
        </p:txBody>
      </p:sp>
      <p:sp>
        <p:nvSpPr>
          <p:cNvPr id="11" name="Shape 8"/>
          <p:cNvSpPr/>
          <p:nvPr/>
        </p:nvSpPr>
        <p:spPr>
          <a:xfrm>
            <a:off x="548640" y="3383280"/>
            <a:ext cx="548640" cy="548640"/>
          </a:xfrm>
          <a:prstGeom prst="ellipse">
            <a:avLst/>
          </a:prstGeom>
          <a:solidFill>
            <a:schemeClr val="accent1"/>
          </a:solidFill>
          <a:ln/>
        </p:spPr>
      </p:sp>
      <p:sp>
        <p:nvSpPr>
          <p:cNvPr id="12" name="Text 9"/>
          <p:cNvSpPr txBox="1"/>
          <p:nvPr/>
        </p:nvSpPr>
        <p:spPr>
          <a:xfrm>
            <a:off x="548640" y="33832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3" name="Text 10"/>
          <p:cNvSpPr txBox="1"/>
          <p:nvPr/>
        </p:nvSpPr>
        <p:spPr>
          <a:xfrm>
            <a:off x="1280160" y="3383280"/>
            <a:ext cx="5577840" cy="548640"/>
          </a:xfrm>
          <a:prstGeom prst="rect">
            <a:avLst/>
          </a:prstGeom>
          <a:noFill/>
          <a:ln/>
        </p:spPr>
        <p:txBody>
          <a:bodyPr wrap="square" lIns="0" tIns="0" rIns="0" bIns="0" rtlCol="0" anchor="ctr"/>
          <a:lstStyle/>
          <a:p>
            <a:pPr indent="0" marL="0">
              <a:buNone/>
            </a:pPr>
            <a:r>
              <a:rPr lang="en-US" sz="1800" dirty="0">
                <a:solidFill>
                  <a:schemeClr val="tx1"/>
                </a:solidFill>
              </a:rPr>
              <a:t>Describe the events: each child’s encoding</a:t>
            </a:r>
            <a:endParaRPr lang="en-US" sz="1800" dirty="0"/>
          </a:p>
        </p:txBody>
      </p:sp>
      <p:sp>
        <p:nvSpPr>
          <p:cNvPr id="14" name="Shape 11"/>
          <p:cNvSpPr/>
          <p:nvPr/>
        </p:nvSpPr>
        <p:spPr>
          <a:xfrm>
            <a:off x="548640" y="4160520"/>
            <a:ext cx="548640" cy="548640"/>
          </a:xfrm>
          <a:prstGeom prst="ellipse">
            <a:avLst/>
          </a:prstGeom>
          <a:solidFill>
            <a:schemeClr val="accent1"/>
          </a:solidFill>
          <a:ln/>
        </p:spPr>
      </p:sp>
      <p:sp>
        <p:nvSpPr>
          <p:cNvPr id="15" name="Text 12"/>
          <p:cNvSpPr txBox="1"/>
          <p:nvPr/>
        </p:nvSpPr>
        <p:spPr>
          <a:xfrm>
            <a:off x="548640" y="41605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6" name="Text 13"/>
          <p:cNvSpPr txBox="1"/>
          <p:nvPr/>
        </p:nvSpPr>
        <p:spPr>
          <a:xfrm>
            <a:off x="1280160" y="4160520"/>
            <a:ext cx="5577840" cy="548640"/>
          </a:xfrm>
          <a:prstGeom prst="rect">
            <a:avLst/>
          </a:prstGeom>
          <a:noFill/>
          <a:ln/>
        </p:spPr>
        <p:txBody>
          <a:bodyPr wrap="square" lIns="0" tIns="0" rIns="0" bIns="0" rtlCol="0" anchor="ctr"/>
          <a:lstStyle/>
          <a:p>
            <a:pPr indent="0" marL="0">
              <a:buNone/>
            </a:pPr>
            <a:r>
              <a:rPr lang="en-US" sz="1800" dirty="0">
                <a:solidFill>
                  <a:schemeClr val="tx1"/>
                </a:solidFill>
              </a:rPr>
              <a:t>Tap “when it’s done” and anticipatory looking</a:t>
            </a:r>
            <a:endParaRPr lang="en-US" sz="1800" dirty="0"/>
          </a:p>
        </p:txBody>
      </p:sp>
      <p:sp>
        <p:nvSpPr>
          <p:cNvPr id="17" name="Shape 14"/>
          <p:cNvSpPr/>
          <p:nvPr/>
        </p:nvSpPr>
        <p:spPr>
          <a:xfrm>
            <a:off x="7223760" y="1371600"/>
            <a:ext cx="4419295" cy="3566160"/>
          </a:xfrm>
          <a:prstGeom prst="roundRect">
            <a:avLst>
              <a:gd name="adj" fmla="val 2564"/>
            </a:avLst>
          </a:prstGeom>
          <a:solidFill>
            <a:schemeClr val="bg2"/>
          </a:solidFill>
          <a:ln/>
        </p:spPr>
      </p:sp>
      <p:sp>
        <p:nvSpPr>
          <p:cNvPr id="18" name="Text 15"/>
          <p:cNvSpPr txBox="1"/>
          <p:nvPr/>
        </p:nvSpPr>
        <p:spPr>
          <a:xfrm>
            <a:off x="7452360" y="1554480"/>
            <a:ext cx="3962095" cy="3200400"/>
          </a:xfrm>
          <a:prstGeom prst="rect">
            <a:avLst/>
          </a:prstGeom>
          <a:noFill/>
          <a:ln/>
        </p:spPr>
        <p:txBody>
          <a:bodyPr wrap="square" lIns="0" tIns="0" rIns="0" bIns="0" rtlCol="0" anchor="t"/>
          <a:lstStyle/>
          <a:p>
            <a:pPr indent="0" marL="0">
              <a:spcAft>
                <a:spcPts val="600"/>
              </a:spcAft>
              <a:buNone/>
            </a:pPr>
            <a:r>
              <a:rPr lang="en-US" sz="2200" b="1" dirty="0">
                <a:solidFill>
                  <a:schemeClr val="accent2"/>
                </a:solidFill>
              </a:rPr>
              <a:t>Key tests</a:t>
            </a:r>
            <a:endParaRPr lang="en-US" sz="1800" dirty="0"/>
          </a:p>
          <a:p>
            <a:pPr indent="0" marL="0">
              <a:spcAft>
                <a:spcPts val="600"/>
              </a:spcAft>
              <a:buNone/>
            </a:pPr>
            <a:r>
              <a:rPr lang="en-US" sz="1800" dirty="0">
                <a:solidFill>
                  <a:schemeClr val="tx1"/>
                </a:solidFill>
              </a:rPr>
              <a:t>Age when group differences appear</a:t>
            </a:r>
            <a:endParaRPr lang="en-US" sz="1800" dirty="0"/>
          </a:p>
          <a:p>
            <a:pPr indent="0" marL="0">
              <a:spcAft>
                <a:spcPts val="600"/>
              </a:spcAft>
              <a:buNone/>
            </a:pPr>
            <a:r>
              <a:rPr lang="en-US" sz="1800" dirty="0">
                <a:solidFill>
                  <a:schemeClr val="tx1"/>
                </a:solidFill>
              </a:rPr>
              <a:t>Does a child’s own resultative use predict endpoints?</a:t>
            </a:r>
            <a:endParaRPr lang="en-US" sz="1800" dirty="0"/>
          </a:p>
          <a:p>
            <a:pPr indent="0" marL="0">
              <a:spcAft>
                <a:spcPts val="600"/>
              </a:spcAft>
              <a:buNone/>
            </a:pPr>
            <a:r>
              <a:rPr lang="en-US" sz="1800" dirty="0">
                <a:solidFill>
                  <a:schemeClr val="tx1"/>
                </a:solidFill>
              </a:rPr>
              <a:t>6-month follow-up: does language come first?</a:t>
            </a:r>
            <a:endParaRPr lang="en-US" sz="1800" dirty="0"/>
          </a:p>
        </p:txBody>
      </p:sp>
      <p:sp>
        <p:nvSpPr>
          <p:cNvPr id="19" name="Shape 16"/>
          <p:cNvSpPr/>
          <p:nvPr/>
        </p:nvSpPr>
        <p:spPr>
          <a:xfrm>
            <a:off x="548640" y="5257800"/>
            <a:ext cx="11094415" cy="685800"/>
          </a:xfrm>
          <a:prstGeom prst="roundRect">
            <a:avLst>
              <a:gd name="adj" fmla="val 10667"/>
            </a:avLst>
          </a:prstGeom>
          <a:solidFill>
            <a:schemeClr val="bg2"/>
          </a:solidFill>
          <a:ln/>
        </p:spPr>
      </p:sp>
      <p:sp>
        <p:nvSpPr>
          <p:cNvPr id="20" name="Text 17"/>
          <p:cNvSpPr txBox="1"/>
          <p:nvPr/>
        </p:nvSpPr>
        <p:spPr>
          <a:xfrm>
            <a:off x="777240" y="5257800"/>
            <a:ext cx="10637215" cy="685800"/>
          </a:xfrm>
          <a:prstGeom prst="rect">
            <a:avLst/>
          </a:prstGeom>
          <a:noFill/>
          <a:ln/>
        </p:spPr>
        <p:txBody>
          <a:bodyPr wrap="square" lIns="0" tIns="0" rIns="0" bIns="0" rtlCol="0" anchor="ctr"/>
          <a:lstStyle/>
          <a:p>
            <a:pPr indent="0" marL="0">
              <a:buNone/>
            </a:pPr>
            <a:r>
              <a:rPr lang="en-US" sz="1800" b="1" dirty="0">
                <a:solidFill>
                  <a:schemeClr val="accent2"/>
                </a:solidFill>
              </a:rPr>
              <a:t>Takeaway   </a:t>
            </a:r>
            <a:pPr indent="0" marL="0">
              <a:buNone/>
            </a:pPr>
            <a:r>
              <a:rPr lang="en-US" sz="1800" dirty="0">
                <a:solidFill>
                  <a:schemeClr val="tx1"/>
                </a:solidFill>
              </a:rPr>
              <a:t>Developmental timing tests the causal role that brief primes could not.</a:t>
            </a:r>
            <a:endParaRPr lang="en-US" sz="1800" dirty="0"/>
          </a:p>
        </p:txBody>
      </p:sp>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Direction 2: Can sustained language change processing?</a:t>
            </a:r>
            <a:endParaRPr lang="en-US" sz="3000" dirty="0"/>
          </a:p>
        </p:txBody>
      </p:sp>
      <p:sp>
        <p:nvSpPr>
          <p:cNvPr id="4" name="Text 1"/>
          <p:cNvSpPr txBox="1"/>
          <p:nvPr/>
        </p:nvSpPr>
        <p:spPr>
          <a:xfrm>
            <a:off x="548640" y="1280160"/>
            <a:ext cx="6309360" cy="411480"/>
          </a:xfrm>
          <a:prstGeom prst="rect">
            <a:avLst/>
          </a:prstGeom>
          <a:noFill/>
          <a:ln/>
        </p:spPr>
        <p:txBody>
          <a:bodyPr wrap="square" lIns="0" tIns="0" rIns="0" bIns="0" rtlCol="0" anchor="t"/>
          <a:lstStyle/>
          <a:p>
            <a:pPr indent="0" marL="0">
              <a:buNone/>
            </a:pPr>
            <a:r>
              <a:rPr lang="en-US" sz="2200" b="1" dirty="0">
                <a:solidFill>
                  <a:schemeClr val="tx2"/>
                </a:solidFill>
              </a:rPr>
              <a:t>Pre-test  ·  3 training sessions  ·  Post-test</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6309360" cy="914400"/>
        </p:xfrm>
        <a:graphic>
          <a:graphicData uri="http://schemas.openxmlformats.org/drawingml/2006/table">
            <a:tbl>
              <a:tblPr/>
              <a:tblGrid>
                <a:gridCol w="2377440"/>
                <a:gridCol w="3931920"/>
              </a:tblGrid>
              <a:tr h="457200">
                <a:tc>
                  <a:txBody>
                    <a:bodyPr/>
                    <a:lstStyle/>
                    <a:p>
                      <a:pPr indent="0" marL="0">
                        <a:buNone/>
                      </a:pPr>
                      <a:r>
                        <a:rPr lang="en-US" sz="1800" b="1" dirty="0">
                          <a:solidFill>
                            <a:schemeClr val="bg1"/>
                          </a:solidFill>
                        </a:rPr>
                        <a:t>Training language</a:t>
                      </a:r>
                      <a:endParaRPr lang="en-US" sz="1800" dirty="0"/>
                    </a:p>
                  </a:txBody>
                  <a:tcPr marL="73152" marR="73152" marT="73152" marB="73152" anchor="ctr">
                    <a:lnL w="12700" cap="flat" cmpd="sng" algn="ctr">
                      <a:solidFill>
                        <a:srgbClr val="C9D6D3"/>
                      </a:solidFill>
                      <a:prstDash val="solid"/>
                      <a:round/>
                      <a:headEnd type="none" w="med" len="med"/>
                      <a:tailEnd type="none" w="med" len="med"/>
                    </a:lnL>
                    <a:lnR w="12700" cap="flat" cmpd="sng" algn="ctr">
                      <a:solidFill>
                        <a:srgbClr val="C9D6D3"/>
                      </a:solidFill>
                      <a:prstDash val="solid"/>
                      <a:round/>
                      <a:headEnd type="none" w="med" len="med"/>
                      <a:tailEnd type="none" w="med" len="med"/>
                    </a:lnR>
                    <a:lnT w="12700" cap="flat" cmpd="sng" algn="ctr">
                      <a:solidFill>
                        <a:srgbClr val="C9D6D3"/>
                      </a:solidFill>
                      <a:prstDash val="solid"/>
                      <a:round/>
                      <a:headEnd type="none" w="med" len="med"/>
                      <a:tailEnd type="none" w="med" len="med"/>
                    </a:lnT>
                    <a:lnB w="12700" cap="flat" cmpd="sng" algn="ctr">
                      <a:solidFill>
                        <a:srgbClr val="C9D6D3"/>
                      </a:solidFill>
                      <a:prstDash val="solid"/>
                      <a:round/>
                      <a:headEnd type="none" w="med" len="med"/>
                      <a:tailEnd type="none" w="med" len="med"/>
                    </a:lnB>
                    <a:solidFill>
                      <a:schemeClr val="accent1"/>
                    </a:solidFill>
                  </a:tcPr>
                </a:tc>
                <a:tc>
                  <a:txBody>
                    <a:bodyPr/>
                    <a:lstStyle/>
                    <a:p>
                      <a:pPr indent="0" marL="0">
                        <a:buNone/>
                      </a:pPr>
                      <a:r>
                        <a:rPr lang="en-US" sz="1800" b="1" dirty="0">
                          <a:solidFill>
                            <a:schemeClr val="bg1"/>
                          </a:solidFill>
                        </a:rPr>
                        <a:t>Example</a:t>
                      </a:r>
                      <a:endParaRPr lang="en-US" sz="1800" dirty="0"/>
                    </a:p>
                  </a:txBody>
                  <a:tcPr marL="73152" marR="73152" marT="73152" marB="73152" anchor="ctr">
                    <a:lnL w="12700" cap="flat" cmpd="sng" algn="ctr">
                      <a:solidFill>
                        <a:srgbClr val="C9D6D3"/>
                      </a:solidFill>
                      <a:prstDash val="solid"/>
                      <a:round/>
                      <a:headEnd type="none" w="med" len="med"/>
                      <a:tailEnd type="none" w="med" len="med"/>
                    </a:lnL>
                    <a:lnR w="12700" cap="flat" cmpd="sng" algn="ctr">
                      <a:solidFill>
                        <a:srgbClr val="C9D6D3"/>
                      </a:solidFill>
                      <a:prstDash val="solid"/>
                      <a:round/>
                      <a:headEnd type="none" w="med" len="med"/>
                      <a:tailEnd type="none" w="med" len="med"/>
                    </a:lnR>
                    <a:lnT w="12700" cap="flat" cmpd="sng" algn="ctr">
                      <a:solidFill>
                        <a:srgbClr val="C9D6D3"/>
                      </a:solidFill>
                      <a:prstDash val="solid"/>
                      <a:round/>
                      <a:headEnd type="none" w="med" len="med"/>
                      <a:tailEnd type="none" w="med" len="med"/>
                    </a:lnT>
                    <a:lnB w="12700" cap="flat" cmpd="sng" algn="ctr">
                      <a:solidFill>
                        <a:srgbClr val="C9D6D3"/>
                      </a:solidFill>
                      <a:prstDash val="solid"/>
                      <a:round/>
                      <a:headEnd type="none" w="med" len="med"/>
                      <a:tailEnd type="none" w="med" len="med"/>
                    </a:lnB>
                    <a:solidFill>
                      <a:schemeClr val="accent1"/>
                    </a:solidFill>
                  </a:tcPr>
                </a:tc>
              </a:tr>
              <a:tr h="457200">
                <a:tc>
                  <a:txBody>
                    <a:bodyPr/>
                    <a:lstStyle/>
                    <a:p>
                      <a:pPr indent="0" marL="0">
                        <a:buNone/>
                      </a:pPr>
                      <a:r>
                        <a:rPr lang="en-US" sz="1800" b="1" dirty="0">
                          <a:solidFill>
                            <a:schemeClr val="tx1"/>
                          </a:solidFill>
                        </a:rPr>
                        <a:t>Result</a:t>
                      </a:r>
                      <a:endParaRPr lang="en-US" sz="1800" dirty="0"/>
                    </a:p>
                  </a:txBody>
                  <a:tcPr marL="73152" marR="73152" marT="73152" marB="73152" anchor="ctr">
                    <a:lnL w="12700" cap="flat" cmpd="sng" algn="ctr">
                      <a:solidFill>
                        <a:srgbClr val="C9D6D3"/>
                      </a:solidFill>
                      <a:prstDash val="solid"/>
                      <a:round/>
                      <a:headEnd type="none" w="med" len="med"/>
                      <a:tailEnd type="none" w="med" len="med"/>
                    </a:lnL>
                    <a:lnR w="12700" cap="flat" cmpd="sng" algn="ctr">
                      <a:solidFill>
                        <a:srgbClr val="C9D6D3"/>
                      </a:solidFill>
                      <a:prstDash val="solid"/>
                      <a:round/>
                      <a:headEnd type="none" w="med" len="med"/>
                      <a:tailEnd type="none" w="med" len="med"/>
                    </a:lnR>
                    <a:lnT w="12700" cap="flat" cmpd="sng" algn="ctr">
                      <a:solidFill>
                        <a:srgbClr val="C9D6D3"/>
                      </a:solidFill>
                      <a:prstDash val="solid"/>
                      <a:round/>
                      <a:headEnd type="none" w="med" len="med"/>
                      <a:tailEnd type="none" w="med" len="med"/>
                    </a:lnT>
                    <a:lnB w="12700" cap="flat" cmpd="sng" algn="ctr">
                      <a:solidFill>
                        <a:srgbClr val="C9D6D3"/>
                      </a:solidFill>
                      <a:prstDash val="solid"/>
                      <a:round/>
                      <a:headEnd type="none" w="med" len="med"/>
                      <a:tailEnd type="none" w="med" len="med"/>
                    </a:lnB>
                  </a:tcPr>
                </a:tc>
                <a:tc>
                  <a:txBody>
                    <a:bodyPr/>
                    <a:lstStyle/>
                    <a:p>
                      <a:pPr indent="0" marL="0">
                        <a:buNone/>
                      </a:pPr>
                      <a:r>
                        <a:rPr lang="en-US" sz="1800" dirty="0">
                          <a:solidFill>
                            <a:schemeClr val="tx1"/>
                          </a:solidFill>
                        </a:rPr>
                        <a:t>切开了 · 搅碎了</a:t>
                      </a:r>
                      <a:endParaRPr lang="en-US" sz="1800" dirty="0"/>
                    </a:p>
                  </a:txBody>
                  <a:tcPr marL="73152" marR="73152" marT="73152" marB="73152" anchor="ctr">
                    <a:lnL w="12700" cap="flat" cmpd="sng" algn="ctr">
                      <a:solidFill>
                        <a:srgbClr val="C9D6D3"/>
                      </a:solidFill>
                      <a:prstDash val="solid"/>
                      <a:round/>
                      <a:headEnd type="none" w="med" len="med"/>
                      <a:tailEnd type="none" w="med" len="med"/>
                    </a:lnL>
                    <a:lnR w="12700" cap="flat" cmpd="sng" algn="ctr">
                      <a:solidFill>
                        <a:srgbClr val="C9D6D3"/>
                      </a:solidFill>
                      <a:prstDash val="solid"/>
                      <a:round/>
                      <a:headEnd type="none" w="med" len="med"/>
                      <a:tailEnd type="none" w="med" len="med"/>
                    </a:lnR>
                    <a:lnT w="12700" cap="flat" cmpd="sng" algn="ctr">
                      <a:solidFill>
                        <a:srgbClr val="C9D6D3"/>
                      </a:solidFill>
                      <a:prstDash val="solid"/>
                      <a:round/>
                      <a:headEnd type="none" w="med" len="med"/>
                      <a:tailEnd type="none" w="med" len="med"/>
                    </a:lnT>
                    <a:lnB w="12700" cap="flat" cmpd="sng" algn="ctr">
                      <a:solidFill>
                        <a:srgbClr val="C9D6D3"/>
                      </a:solidFill>
                      <a:prstDash val="solid"/>
                      <a:round/>
                      <a:headEnd type="none" w="med" len="med"/>
                      <a:tailEnd type="none" w="med" len="med"/>
                    </a:lnB>
                  </a:tcPr>
                </a:tc>
              </a:tr>
              <a:tr h="457200">
                <a:tc>
                  <a:txBody>
                    <a:bodyPr/>
                    <a:lstStyle/>
                    <a:p>
                      <a:pPr indent="0" marL="0">
                        <a:buNone/>
                      </a:pPr>
                      <a:r>
                        <a:rPr lang="en-US" sz="1800" b="1" dirty="0">
                          <a:solidFill>
                            <a:schemeClr val="tx1"/>
                          </a:solidFill>
                        </a:rPr>
                        <a:t>Action</a:t>
                      </a:r>
                      <a:endParaRPr lang="en-US" sz="1800" dirty="0"/>
                    </a:p>
                  </a:txBody>
                  <a:tcPr marL="73152" marR="73152" marT="73152" marB="73152" anchor="ctr">
                    <a:lnL w="12700" cap="flat" cmpd="sng" algn="ctr">
                      <a:solidFill>
                        <a:srgbClr val="C9D6D3"/>
                      </a:solidFill>
                      <a:prstDash val="solid"/>
                      <a:round/>
                      <a:headEnd type="none" w="med" len="med"/>
                      <a:tailEnd type="none" w="med" len="med"/>
                    </a:lnL>
                    <a:lnR w="12700" cap="flat" cmpd="sng" algn="ctr">
                      <a:solidFill>
                        <a:srgbClr val="C9D6D3"/>
                      </a:solidFill>
                      <a:prstDash val="solid"/>
                      <a:round/>
                      <a:headEnd type="none" w="med" len="med"/>
                      <a:tailEnd type="none" w="med" len="med"/>
                    </a:lnR>
                    <a:lnT w="12700" cap="flat" cmpd="sng" algn="ctr">
                      <a:solidFill>
                        <a:srgbClr val="C9D6D3"/>
                      </a:solidFill>
                      <a:prstDash val="solid"/>
                      <a:round/>
                      <a:headEnd type="none" w="med" len="med"/>
                      <a:tailEnd type="none" w="med" len="med"/>
                    </a:lnT>
                    <a:lnB w="12700" cap="flat" cmpd="sng" algn="ctr">
                      <a:solidFill>
                        <a:srgbClr val="C9D6D3"/>
                      </a:solidFill>
                      <a:prstDash val="solid"/>
                      <a:round/>
                      <a:headEnd type="none" w="med" len="med"/>
                      <a:tailEnd type="none" w="med" len="med"/>
                    </a:lnB>
                  </a:tcPr>
                </a:tc>
                <a:tc>
                  <a:txBody>
                    <a:bodyPr/>
                    <a:lstStyle/>
                    <a:p>
                      <a:pPr indent="0" marL="0">
                        <a:buNone/>
                      </a:pPr>
                      <a:r>
                        <a:rPr lang="en-US" sz="1800" dirty="0">
                          <a:solidFill>
                            <a:schemeClr val="tx1"/>
                          </a:solidFill>
                        </a:rPr>
                        <a:t>切一切 · 搅一搅</a:t>
                      </a:r>
                      <a:endParaRPr lang="en-US" sz="1800" dirty="0"/>
                    </a:p>
                  </a:txBody>
                  <a:tcPr marL="73152" marR="73152" marT="73152" marB="73152" anchor="ctr">
                    <a:lnL w="12700" cap="flat" cmpd="sng" algn="ctr">
                      <a:solidFill>
                        <a:srgbClr val="C9D6D3"/>
                      </a:solidFill>
                      <a:prstDash val="solid"/>
                      <a:round/>
                      <a:headEnd type="none" w="med" len="med"/>
                      <a:tailEnd type="none" w="med" len="med"/>
                    </a:lnL>
                    <a:lnR w="12700" cap="flat" cmpd="sng" algn="ctr">
                      <a:solidFill>
                        <a:srgbClr val="C9D6D3"/>
                      </a:solidFill>
                      <a:prstDash val="solid"/>
                      <a:round/>
                      <a:headEnd type="none" w="med" len="med"/>
                      <a:tailEnd type="none" w="med" len="med"/>
                    </a:lnR>
                    <a:lnT w="12700" cap="flat" cmpd="sng" algn="ctr">
                      <a:solidFill>
                        <a:srgbClr val="C9D6D3"/>
                      </a:solidFill>
                      <a:prstDash val="solid"/>
                      <a:round/>
                      <a:headEnd type="none" w="med" len="med"/>
                      <a:tailEnd type="none" w="med" len="med"/>
                    </a:lnT>
                    <a:lnB w="12700" cap="flat" cmpd="sng" algn="ctr">
                      <a:solidFill>
                        <a:srgbClr val="C9D6D3"/>
                      </a:solidFill>
                      <a:prstDash val="solid"/>
                      <a:round/>
                      <a:headEnd type="none" w="med" len="med"/>
                      <a:tailEnd type="none" w="med" len="med"/>
                    </a:lnB>
                  </a:tcPr>
                </a:tc>
              </a:tr>
              <a:tr h="457200">
                <a:tc>
                  <a:txBody>
                    <a:bodyPr/>
                    <a:lstStyle/>
                    <a:p>
                      <a:pPr indent="0" marL="0">
                        <a:buNone/>
                      </a:pPr>
                      <a:r>
                        <a:rPr lang="en-US" sz="1800" b="1" dirty="0">
                          <a:solidFill>
                            <a:schemeClr val="tx1"/>
                          </a:solidFill>
                        </a:rPr>
                        <a:t>None</a:t>
                      </a:r>
                      <a:endParaRPr lang="en-US" sz="1800" dirty="0"/>
                    </a:p>
                  </a:txBody>
                  <a:tcPr marL="73152" marR="73152" marT="73152" marB="73152" anchor="ctr">
                    <a:lnL w="12700" cap="flat" cmpd="sng" algn="ctr">
                      <a:solidFill>
                        <a:srgbClr val="C9D6D3"/>
                      </a:solidFill>
                      <a:prstDash val="solid"/>
                      <a:round/>
                      <a:headEnd type="none" w="med" len="med"/>
                      <a:tailEnd type="none" w="med" len="med"/>
                    </a:lnL>
                    <a:lnR w="12700" cap="flat" cmpd="sng" algn="ctr">
                      <a:solidFill>
                        <a:srgbClr val="C9D6D3"/>
                      </a:solidFill>
                      <a:prstDash val="solid"/>
                      <a:round/>
                      <a:headEnd type="none" w="med" len="med"/>
                      <a:tailEnd type="none" w="med" len="med"/>
                    </a:lnR>
                    <a:lnT w="12700" cap="flat" cmpd="sng" algn="ctr">
                      <a:solidFill>
                        <a:srgbClr val="C9D6D3"/>
                      </a:solidFill>
                      <a:prstDash val="solid"/>
                      <a:round/>
                      <a:headEnd type="none" w="med" len="med"/>
                      <a:tailEnd type="none" w="med" len="med"/>
                    </a:lnT>
                    <a:lnB w="12700" cap="flat" cmpd="sng" algn="ctr">
                      <a:solidFill>
                        <a:srgbClr val="C9D6D3"/>
                      </a:solidFill>
                      <a:prstDash val="solid"/>
                      <a:round/>
                      <a:headEnd type="none" w="med" len="med"/>
                      <a:tailEnd type="none" w="med" len="med"/>
                    </a:lnB>
                  </a:tcPr>
                </a:tc>
                <a:tc>
                  <a:txBody>
                    <a:bodyPr/>
                    <a:lstStyle/>
                    <a:p>
                      <a:pPr indent="0" marL="0">
                        <a:buNone/>
                      </a:pPr>
                      <a:r>
                        <a:rPr lang="en-US" sz="1800" dirty="0">
                          <a:solidFill>
                            <a:schemeClr val="tx1"/>
                          </a:solidFill>
                        </a:rPr>
                        <a:t>Same videos, no words</a:t>
                      </a:r>
                      <a:endParaRPr lang="en-US" sz="1800" dirty="0"/>
                    </a:p>
                  </a:txBody>
                  <a:tcPr marL="73152" marR="73152" marT="73152" marB="73152" anchor="ctr">
                    <a:lnL w="12700" cap="flat" cmpd="sng" algn="ctr">
                      <a:solidFill>
                        <a:srgbClr val="C9D6D3"/>
                      </a:solidFill>
                      <a:prstDash val="solid"/>
                      <a:round/>
                      <a:headEnd type="none" w="med" len="med"/>
                      <a:tailEnd type="none" w="med" len="med"/>
                    </a:lnL>
                    <a:lnR w="12700" cap="flat" cmpd="sng" algn="ctr">
                      <a:solidFill>
                        <a:srgbClr val="C9D6D3"/>
                      </a:solidFill>
                      <a:prstDash val="solid"/>
                      <a:round/>
                      <a:headEnd type="none" w="med" len="med"/>
                      <a:tailEnd type="none" w="med" len="med"/>
                    </a:lnR>
                    <a:lnT w="12700" cap="flat" cmpd="sng" algn="ctr">
                      <a:solidFill>
                        <a:srgbClr val="C9D6D3"/>
                      </a:solidFill>
                      <a:prstDash val="solid"/>
                      <a:round/>
                      <a:headEnd type="none" w="med" len="med"/>
                      <a:tailEnd type="none" w="med" len="med"/>
                    </a:lnT>
                    <a:lnB w="12700" cap="flat" cmpd="sng" algn="ctr">
                      <a:solidFill>
                        <a:srgbClr val="C9D6D3"/>
                      </a:solidFill>
                      <a:prstDash val="solid"/>
                      <a:round/>
                      <a:headEnd type="none" w="med" len="med"/>
                      <a:tailEnd type="none" w="med" len="med"/>
                    </a:lnB>
                  </a:tcPr>
                </a:tc>
              </a:tr>
            </a:tbl>
          </a:graphicData>
        </a:graphic>
      </p:graphicFrame>
      <p:sp>
        <p:nvSpPr>
          <p:cNvPr id="6" name="Text 2"/>
          <p:cNvSpPr txBox="1"/>
          <p:nvPr/>
        </p:nvSpPr>
        <p:spPr>
          <a:xfrm>
            <a:off x="548640" y="3931920"/>
            <a:ext cx="6309360" cy="109728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Test: boundary tapping and interruption detection</a:t>
            </a:r>
            <a:endParaRPr lang="en-US" sz="1800" dirty="0"/>
          </a:p>
          <a:p>
            <a:pPr marL="342900" indent="-342900">
              <a:spcAft>
                <a:spcPts val="800"/>
              </a:spcAft>
              <a:buSzPct val="100000"/>
              <a:buChar char="•"/>
            </a:pPr>
            <a:r>
              <a:rPr lang="en-US" sz="1800" dirty="0">
                <a:solidFill>
                  <a:schemeClr val="tx1"/>
                </a:solidFill>
              </a:rPr>
              <a:t>Transfer to new event types (peel, fold)</a:t>
            </a:r>
            <a:endParaRPr lang="en-US" sz="1800" dirty="0"/>
          </a:p>
        </p:txBody>
      </p:sp>
      <p:sp>
        <p:nvSpPr>
          <p:cNvPr id="7" name="Shape 3"/>
          <p:cNvSpPr/>
          <p:nvPr/>
        </p:nvSpPr>
        <p:spPr>
          <a:xfrm>
            <a:off x="7223760" y="1371600"/>
            <a:ext cx="4419295" cy="1600200"/>
          </a:xfrm>
          <a:prstGeom prst="roundRect">
            <a:avLst>
              <a:gd name="adj" fmla="val 5714"/>
            </a:avLst>
          </a:prstGeom>
          <a:solidFill>
            <a:schemeClr val="bg2"/>
          </a:solidFill>
          <a:ln/>
        </p:spPr>
      </p:sp>
      <p:sp>
        <p:nvSpPr>
          <p:cNvPr id="8" name="Text 4"/>
          <p:cNvSpPr txBox="1"/>
          <p:nvPr/>
        </p:nvSpPr>
        <p:spPr>
          <a:xfrm>
            <a:off x="7452360" y="1554480"/>
            <a:ext cx="3962095" cy="123444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Builds on</a:t>
            </a:r>
            <a:endParaRPr lang="en-US" sz="1800" dirty="0"/>
          </a:p>
          <a:p>
            <a:pPr indent="0" marL="0">
              <a:spcAft>
                <a:spcPts val="600"/>
              </a:spcAft>
              <a:buNone/>
            </a:pPr>
            <a:r>
              <a:rPr lang="en-US" sz="1800" dirty="0">
                <a:solidFill>
                  <a:schemeClr val="tx1"/>
                </a:solidFill>
              </a:rPr>
              <a:t>Brief primes: no shift (BF₀₁ ≈ 1000)</a:t>
            </a:r>
            <a:endParaRPr lang="en-US" sz="1800" dirty="0"/>
          </a:p>
        </p:txBody>
      </p:sp>
      <p:sp>
        <p:nvSpPr>
          <p:cNvPr id="9" name="Shape 5"/>
          <p:cNvSpPr/>
          <p:nvPr/>
        </p:nvSpPr>
        <p:spPr>
          <a:xfrm>
            <a:off x="7223760" y="3154680"/>
            <a:ext cx="4419295" cy="1783080"/>
          </a:xfrm>
          <a:prstGeom prst="roundRect">
            <a:avLst>
              <a:gd name="adj" fmla="val 5128"/>
            </a:avLst>
          </a:prstGeom>
          <a:solidFill>
            <a:schemeClr val="bg2"/>
          </a:solidFill>
          <a:ln/>
        </p:spPr>
      </p:sp>
      <p:sp>
        <p:nvSpPr>
          <p:cNvPr id="10" name="Text 6"/>
          <p:cNvSpPr txBox="1"/>
          <p:nvPr/>
        </p:nvSpPr>
        <p:spPr>
          <a:xfrm>
            <a:off x="7452360" y="3337560"/>
            <a:ext cx="3962095" cy="1417320"/>
          </a:xfrm>
          <a:prstGeom prst="rect">
            <a:avLst/>
          </a:prstGeom>
          <a:noFill/>
          <a:ln/>
        </p:spPr>
        <p:txBody>
          <a:bodyPr wrap="square" lIns="0" tIns="0" rIns="0" bIns="0" rtlCol="0" anchor="t"/>
          <a:lstStyle/>
          <a:p>
            <a:pPr indent="0" marL="0">
              <a:spcAft>
                <a:spcPts val="600"/>
              </a:spcAft>
              <a:buNone/>
            </a:pPr>
            <a:r>
              <a:rPr lang="en-US" sz="2200" b="1" dirty="0">
                <a:solidFill>
                  <a:schemeClr val="accent2"/>
                </a:solidFill>
              </a:rPr>
              <a:t>Prediction</a:t>
            </a:r>
            <a:endParaRPr lang="en-US" sz="1800" dirty="0"/>
          </a:p>
          <a:p>
            <a:pPr indent="0" marL="0">
              <a:spcAft>
                <a:spcPts val="600"/>
              </a:spcAft>
              <a:buNone/>
            </a:pPr>
            <a:r>
              <a:rPr lang="en-US" sz="1800" dirty="0">
                <a:solidFill>
                  <a:schemeClr val="tx1"/>
                </a:solidFill>
              </a:rPr>
              <a:t>Result training moves endpoints and transfers to new events</a:t>
            </a:r>
            <a:endParaRPr lang="en-US" sz="1800" dirty="0"/>
          </a:p>
        </p:txBody>
      </p:sp>
      <p:sp>
        <p:nvSpPr>
          <p:cNvPr id="11" name="Shape 7"/>
          <p:cNvSpPr/>
          <p:nvPr/>
        </p:nvSpPr>
        <p:spPr>
          <a:xfrm>
            <a:off x="548640" y="5257800"/>
            <a:ext cx="11094415" cy="685800"/>
          </a:xfrm>
          <a:prstGeom prst="roundRect">
            <a:avLst>
              <a:gd name="adj" fmla="val 10667"/>
            </a:avLst>
          </a:prstGeom>
          <a:solidFill>
            <a:schemeClr val="bg2"/>
          </a:solidFill>
          <a:ln/>
        </p:spPr>
      </p:sp>
      <p:sp>
        <p:nvSpPr>
          <p:cNvPr id="12" name="Text 8"/>
          <p:cNvSpPr txBox="1"/>
          <p:nvPr/>
        </p:nvSpPr>
        <p:spPr>
          <a:xfrm>
            <a:off x="777240" y="5257800"/>
            <a:ext cx="10637215" cy="685800"/>
          </a:xfrm>
          <a:prstGeom prst="rect">
            <a:avLst/>
          </a:prstGeom>
          <a:noFill/>
          <a:ln/>
        </p:spPr>
        <p:txBody>
          <a:bodyPr wrap="square" lIns="0" tIns="0" rIns="0" bIns="0" rtlCol="0" anchor="ctr"/>
          <a:lstStyle/>
          <a:p>
            <a:pPr indent="0" marL="0">
              <a:buNone/>
            </a:pPr>
            <a:r>
              <a:rPr lang="en-US" sz="1800" b="1" dirty="0">
                <a:solidFill>
                  <a:schemeClr val="accent2"/>
                </a:solidFill>
              </a:rPr>
              <a:t>Takeaway   </a:t>
            </a:r>
            <a:pPr indent="0" marL="0">
              <a:buNone/>
            </a:pPr>
            <a:r>
              <a:rPr lang="en-US" sz="1800" dirty="0">
                <a:solidFill>
                  <a:schemeClr val="tx1"/>
                </a:solidFill>
              </a:rPr>
              <a:t>Transfer would show children learned “result” as a relation, not a word.</a:t>
            </a:r>
            <a:endParaRPr lang="en-US" sz="1800" dirty="0"/>
          </a:p>
        </p:txBody>
      </p:sp>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Direction 3: Do language models separate the two levels?</a:t>
            </a:r>
            <a:endParaRPr lang="en-US" sz="3000" dirty="0"/>
          </a:p>
        </p:txBody>
      </p:sp>
      <p:sp>
        <p:nvSpPr>
          <p:cNvPr id="4" name="Text 1"/>
          <p:cNvSpPr txBox="1"/>
          <p:nvPr/>
        </p:nvSpPr>
        <p:spPr>
          <a:xfrm>
            <a:off x="548640" y="1280160"/>
            <a:ext cx="11094415" cy="411480"/>
          </a:xfrm>
          <a:prstGeom prst="rect">
            <a:avLst/>
          </a:prstGeom>
          <a:noFill/>
          <a:ln/>
        </p:spPr>
        <p:txBody>
          <a:bodyPr wrap="square" lIns="0" tIns="0" rIns="0" bIns="0" rtlCol="0" anchor="t"/>
          <a:lstStyle/>
          <a:p>
            <a:pPr indent="0" marL="0">
              <a:buNone/>
            </a:pPr>
            <a:r>
              <a:rPr lang="en-US" sz="1800" b="1" dirty="0">
                <a:solidFill>
                  <a:schemeClr val="tx2"/>
                </a:solidFill>
              </a:rPr>
              <a:t>Cloze tests in matched English and Chinese BERT (Rognan et al., 2026)</a:t>
            </a:r>
            <a:endParaRPr lang="en-US" sz="1800" dirty="0"/>
          </a:p>
        </p:txBody>
      </p:sp>
      <p:sp>
        <p:nvSpPr>
          <p:cNvPr id="5" name="Shape 2"/>
          <p:cNvSpPr/>
          <p:nvPr/>
        </p:nvSpPr>
        <p:spPr>
          <a:xfrm>
            <a:off x="548640" y="1783080"/>
            <a:ext cx="5341468" cy="2148840"/>
          </a:xfrm>
          <a:prstGeom prst="roundRect">
            <a:avLst>
              <a:gd name="adj" fmla="val 4255"/>
            </a:avLst>
          </a:prstGeom>
          <a:solidFill>
            <a:schemeClr val="bg2"/>
          </a:solidFill>
          <a:ln/>
        </p:spPr>
      </p:sp>
      <p:sp>
        <p:nvSpPr>
          <p:cNvPr id="6" name="Text 3"/>
          <p:cNvSpPr txBox="1"/>
          <p:nvPr/>
        </p:nvSpPr>
        <p:spPr>
          <a:xfrm>
            <a:off x="777240" y="1965960"/>
            <a:ext cx="4884268" cy="178308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Lexical level</a:t>
            </a:r>
            <a:endParaRPr lang="en-US" sz="1800" dirty="0"/>
          </a:p>
          <a:p>
            <a:pPr indent="0" marL="0">
              <a:spcAft>
                <a:spcPts val="600"/>
              </a:spcAft>
              <a:buNone/>
            </a:pPr>
            <a:r>
              <a:rPr lang="en-US" sz="1800" dirty="0">
                <a:solidFill>
                  <a:schemeClr val="tx1"/>
                </a:solidFill>
              </a:rPr>
              <a:t>She cut [MASK] orange.</a:t>
            </a:r>
            <a:endParaRPr lang="en-US" sz="1800" dirty="0"/>
          </a:p>
          <a:p>
            <a:pPr indent="0" marL="0">
              <a:spcAft>
                <a:spcPts val="600"/>
              </a:spcAft>
              <a:buNone/>
            </a:pPr>
            <a:r>
              <a:rPr lang="en-US" sz="1800" dirty="0">
                <a:solidFill>
                  <a:schemeClr val="tx1"/>
                </a:solidFill>
              </a:rPr>
              <a:t>他把橙子搅[MASK]了</a:t>
            </a:r>
            <a:endParaRPr lang="en-US" sz="1800" dirty="0"/>
          </a:p>
          <a:p>
            <a:pPr indent="0" marL="0">
              <a:spcAft>
                <a:spcPts val="600"/>
              </a:spcAft>
              <a:buNone/>
            </a:pPr>
            <a:r>
              <a:rPr lang="en-US" sz="1800" dirty="0">
                <a:solidFill>
                  <a:schemeClr val="tx1"/>
                </a:solidFill>
              </a:rPr>
              <a:t>Score: a vs. some; result complement</a:t>
            </a:r>
            <a:endParaRPr lang="en-US" sz="1800" dirty="0"/>
          </a:p>
        </p:txBody>
      </p:sp>
      <p:sp>
        <p:nvSpPr>
          <p:cNvPr id="7" name="Shape 4"/>
          <p:cNvSpPr/>
          <p:nvPr/>
        </p:nvSpPr>
        <p:spPr>
          <a:xfrm>
            <a:off x="6301588" y="1783080"/>
            <a:ext cx="5341468" cy="2148840"/>
          </a:xfrm>
          <a:prstGeom prst="roundRect">
            <a:avLst>
              <a:gd name="adj" fmla="val 4255"/>
            </a:avLst>
          </a:prstGeom>
          <a:solidFill>
            <a:schemeClr val="bg2"/>
          </a:solidFill>
          <a:ln/>
        </p:spPr>
      </p:sp>
      <p:sp>
        <p:nvSpPr>
          <p:cNvPr id="8" name="Text 5"/>
          <p:cNvSpPr txBox="1"/>
          <p:nvPr/>
        </p:nvSpPr>
        <p:spPr>
          <a:xfrm>
            <a:off x="6530188" y="1965960"/>
            <a:ext cx="4884268" cy="178308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Predicate level</a:t>
            </a:r>
            <a:endParaRPr lang="en-US" sz="1800" dirty="0"/>
          </a:p>
          <a:p>
            <a:pPr indent="0" marL="0">
              <a:spcAft>
                <a:spcPts val="600"/>
              </a:spcAft>
              <a:buNone/>
            </a:pPr>
            <a:r>
              <a:rPr lang="en-US" sz="1800" dirty="0">
                <a:solidFill>
                  <a:schemeClr val="tx1"/>
                </a:solidFill>
              </a:rPr>
              <a:t>cut an orange [MASK] two seconds</a:t>
            </a:r>
            <a:endParaRPr lang="en-US" sz="1800" dirty="0"/>
          </a:p>
          <a:p>
            <a:pPr indent="0" marL="0">
              <a:spcAft>
                <a:spcPts val="600"/>
              </a:spcAft>
              <a:buNone/>
            </a:pPr>
            <a:r>
              <a:rPr lang="en-US" sz="1800" dirty="0">
                <a:solidFill>
                  <a:schemeClr val="tx1"/>
                </a:solidFill>
              </a:rPr>
              <a:t>他切了橙子，但是[MASK]</a:t>
            </a:r>
            <a:endParaRPr lang="en-US" sz="1800" dirty="0"/>
          </a:p>
          <a:p>
            <a:pPr indent="0" marL="0">
              <a:spcAft>
                <a:spcPts val="600"/>
              </a:spcAft>
              <a:buNone/>
            </a:pPr>
            <a:r>
              <a:rPr lang="en-US" sz="1800" dirty="0">
                <a:solidFill>
                  <a:schemeClr val="tx1"/>
                </a:solidFill>
              </a:rPr>
              <a:t>Score: in vs. for; cancellation</a:t>
            </a:r>
            <a:endParaRPr lang="en-US" sz="1800" dirty="0"/>
          </a:p>
        </p:txBody>
      </p:sp>
      <p:sp>
        <p:nvSpPr>
          <p:cNvPr id="9" name="Shape 6"/>
          <p:cNvSpPr/>
          <p:nvPr/>
        </p:nvSpPr>
        <p:spPr>
          <a:xfrm>
            <a:off x="548640" y="4114800"/>
            <a:ext cx="11094415" cy="914400"/>
          </a:xfrm>
          <a:prstGeom prst="roundRect">
            <a:avLst>
              <a:gd name="adj" fmla="val 10000"/>
            </a:avLst>
          </a:prstGeom>
          <a:solidFill>
            <a:schemeClr val="bg1"/>
          </a:solidFill>
          <a:ln w="25400">
            <a:solidFill>
              <a:schemeClr val="accent2"/>
            </a:solidFill>
            <a:prstDash val="solid"/>
          </a:ln>
        </p:spPr>
      </p:sp>
      <p:sp>
        <p:nvSpPr>
          <p:cNvPr id="10" name="Text 7"/>
          <p:cNvSpPr txBox="1"/>
          <p:nvPr/>
        </p:nvSpPr>
        <p:spPr>
          <a:xfrm>
            <a:off x="777240" y="4160520"/>
            <a:ext cx="10637215" cy="822960"/>
          </a:xfrm>
          <a:prstGeom prst="rect">
            <a:avLst/>
          </a:prstGeom>
          <a:noFill/>
          <a:ln/>
        </p:spPr>
        <p:txBody>
          <a:bodyPr wrap="square" lIns="0" tIns="0" rIns="0" bIns="0" rtlCol="0" anchor="ctr"/>
          <a:lstStyle/>
          <a:p>
            <a:pPr indent="0" marL="0">
              <a:buNone/>
            </a:pPr>
            <a:r>
              <a:rPr lang="en-US" sz="1800" b="1" dirty="0">
                <a:solidFill>
                  <a:schemeClr val="accent2"/>
                </a:solidFill>
              </a:rPr>
              <a:t>Key test   </a:t>
            </a:r>
            <a:pPr indent="0" marL="0">
              <a:buNone/>
            </a:pPr>
            <a:r>
              <a:rPr lang="en-US" sz="1800" dirty="0">
                <a:solidFill>
                  <a:schemeClr val="tx1"/>
                </a:solidFill>
              </a:rPr>
              <a:t>Does the predicate choice flip when the lexical cue flips? (an orange vs. oranges; 切开 vs. 切)</a:t>
            </a:r>
            <a:endParaRPr lang="en-US" sz="1800" dirty="0"/>
          </a:p>
        </p:txBody>
      </p:sp>
      <p:sp>
        <p:nvSpPr>
          <p:cNvPr id="11" name="Shape 8"/>
          <p:cNvSpPr/>
          <p:nvPr/>
        </p:nvSpPr>
        <p:spPr>
          <a:xfrm>
            <a:off x="548640" y="5257800"/>
            <a:ext cx="11094415" cy="685800"/>
          </a:xfrm>
          <a:prstGeom prst="roundRect">
            <a:avLst>
              <a:gd name="adj" fmla="val 10667"/>
            </a:avLst>
          </a:prstGeom>
          <a:solidFill>
            <a:schemeClr val="bg2"/>
          </a:solidFill>
          <a:ln/>
        </p:spPr>
      </p:sp>
      <p:sp>
        <p:nvSpPr>
          <p:cNvPr id="12" name="Text 9"/>
          <p:cNvSpPr txBox="1"/>
          <p:nvPr/>
        </p:nvSpPr>
        <p:spPr>
          <a:xfrm>
            <a:off x="777240" y="5257800"/>
            <a:ext cx="10637215" cy="685800"/>
          </a:xfrm>
          <a:prstGeom prst="rect">
            <a:avLst/>
          </a:prstGeom>
          <a:noFill/>
          <a:ln/>
        </p:spPr>
        <p:txBody>
          <a:bodyPr wrap="square" lIns="0" tIns="0" rIns="0" bIns="0" rtlCol="0" anchor="ctr"/>
          <a:lstStyle/>
          <a:p>
            <a:pPr indent="0" marL="0">
              <a:buNone/>
            </a:pPr>
            <a:r>
              <a:rPr lang="en-US" sz="1800" b="1" dirty="0">
                <a:solidFill>
                  <a:schemeClr val="accent2"/>
                </a:solidFill>
              </a:rPr>
              <a:t>Takeaway   </a:t>
            </a:r>
            <a:pPr indent="0" marL="0">
              <a:buNone/>
            </a:pPr>
            <a:r>
              <a:rPr lang="en-US" sz="1800" dirty="0">
                <a:solidFill>
                  <a:schemeClr val="tx1"/>
                </a:solidFill>
              </a:rPr>
              <a:t>Human-like lexical but not predicate patterns = surface statistics, not event structure.</a:t>
            </a:r>
            <a:endParaRPr lang="en-US" sz="1800" dirty="0"/>
          </a:p>
        </p:txBody>
      </p:sp>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31520"/>
          </a:xfrm>
          <a:prstGeom prst="rect">
            <a:avLst/>
          </a:prstGeom>
          <a:noFill/>
          <a:ln/>
        </p:spPr>
        <p:txBody>
          <a:bodyPr wrap="square" lIns="0" tIns="0" rIns="0" bIns="0" rtlCol="0" anchor="ctr"/>
          <a:lstStyle/>
          <a:p>
            <a:pPr algn="l" indent="0" marL="0">
              <a:buNone/>
            </a:pPr>
            <a:r>
              <a:rPr lang="en-US" sz="3000" b="1" dirty="0">
                <a:solidFill>
                  <a:schemeClr val="tx2"/>
                </a:solidFill>
              </a:rPr>
              <a:t>A two-year plan</a:t>
            </a:r>
            <a:endParaRPr lang="en-US" sz="3000" dirty="0"/>
          </a:p>
        </p:txBody>
      </p:sp>
      <p:sp>
        <p:nvSpPr>
          <p:cNvPr id="4" name="Shape 1"/>
          <p:cNvSpPr/>
          <p:nvPr/>
        </p:nvSpPr>
        <p:spPr>
          <a:xfrm>
            <a:off x="777240" y="1463040"/>
            <a:ext cx="548640" cy="548640"/>
          </a:xfrm>
          <a:prstGeom prst="ellipse">
            <a:avLst/>
          </a:prstGeom>
          <a:solidFill>
            <a:schemeClr val="accent1"/>
          </a:solidFill>
          <a:ln/>
        </p:spPr>
      </p:sp>
      <p:sp>
        <p:nvSpPr>
          <p:cNvPr id="5" name="Text 2"/>
          <p:cNvSpPr txBox="1"/>
          <p:nvPr/>
        </p:nvSpPr>
        <p:spPr>
          <a:xfrm>
            <a:off x="777240"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Shape 3"/>
          <p:cNvSpPr/>
          <p:nvPr/>
        </p:nvSpPr>
        <p:spPr>
          <a:xfrm>
            <a:off x="548640" y="2194560"/>
            <a:ext cx="3423818" cy="2377440"/>
          </a:xfrm>
          <a:prstGeom prst="roundRect">
            <a:avLst>
              <a:gd name="adj" fmla="val 3846"/>
            </a:avLst>
          </a:prstGeom>
          <a:solidFill>
            <a:schemeClr val="bg2"/>
          </a:solidFill>
          <a:ln/>
        </p:spPr>
      </p:sp>
      <p:sp>
        <p:nvSpPr>
          <p:cNvPr id="7" name="Text 4"/>
          <p:cNvSpPr txBox="1"/>
          <p:nvPr/>
        </p:nvSpPr>
        <p:spPr>
          <a:xfrm>
            <a:off x="777240" y="2377440"/>
            <a:ext cx="2966618" cy="201168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Year 1</a:t>
            </a:r>
            <a:endParaRPr lang="en-US" sz="1800" dirty="0"/>
          </a:p>
          <a:p>
            <a:pPr indent="0" marL="0">
              <a:spcAft>
                <a:spcPts val="600"/>
              </a:spcAft>
              <a:buNone/>
            </a:pPr>
            <a:r>
              <a:rPr lang="en-US" sz="1800" dirty="0">
                <a:solidFill>
                  <a:schemeClr val="tx1"/>
                </a:solidFill>
              </a:rPr>
              <a:t>Direction 3: model study</a:t>
            </a:r>
            <a:endParaRPr lang="en-US" sz="1800" dirty="0"/>
          </a:p>
          <a:p>
            <a:pPr indent="0" marL="0">
              <a:spcAft>
                <a:spcPts val="600"/>
              </a:spcAft>
              <a:buNone/>
            </a:pPr>
            <a:r>
              <a:rPr lang="en-US" sz="1800" dirty="0">
                <a:solidFill>
                  <a:schemeClr val="tx1"/>
                </a:solidFill>
              </a:rPr>
              <a:t>Direction 1: Mandarin children</a:t>
            </a:r>
            <a:endParaRPr lang="en-US" sz="1800" dirty="0"/>
          </a:p>
          <a:p>
            <a:pPr indent="0" marL="0">
              <a:spcAft>
                <a:spcPts val="600"/>
              </a:spcAft>
              <a:buNone/>
            </a:pPr>
            <a:r>
              <a:rPr lang="en-US" sz="1800" dirty="0">
                <a:solidFill>
                  <a:schemeClr val="tx1"/>
                </a:solidFill>
              </a:rPr>
              <a:t>Two papers</a:t>
            </a:r>
            <a:endParaRPr lang="en-US" sz="1800" dirty="0"/>
          </a:p>
        </p:txBody>
      </p:sp>
      <p:sp>
        <p:nvSpPr>
          <p:cNvPr id="8" name="Shape 5"/>
          <p:cNvSpPr/>
          <p:nvPr/>
        </p:nvSpPr>
        <p:spPr>
          <a:xfrm>
            <a:off x="4612538" y="1463040"/>
            <a:ext cx="548640" cy="548640"/>
          </a:xfrm>
          <a:prstGeom prst="ellipse">
            <a:avLst/>
          </a:prstGeom>
          <a:solidFill>
            <a:schemeClr val="accent1"/>
          </a:solidFill>
          <a:ln/>
        </p:spPr>
      </p:sp>
      <p:sp>
        <p:nvSpPr>
          <p:cNvPr id="9" name="Text 6"/>
          <p:cNvSpPr txBox="1"/>
          <p:nvPr/>
        </p:nvSpPr>
        <p:spPr>
          <a:xfrm>
            <a:off x="4612538"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Shape 7"/>
          <p:cNvSpPr/>
          <p:nvPr/>
        </p:nvSpPr>
        <p:spPr>
          <a:xfrm>
            <a:off x="4383938" y="2194560"/>
            <a:ext cx="3423818" cy="2377440"/>
          </a:xfrm>
          <a:prstGeom prst="roundRect">
            <a:avLst>
              <a:gd name="adj" fmla="val 3846"/>
            </a:avLst>
          </a:prstGeom>
          <a:solidFill>
            <a:schemeClr val="bg2"/>
          </a:solidFill>
          <a:ln/>
        </p:spPr>
      </p:sp>
      <p:sp>
        <p:nvSpPr>
          <p:cNvPr id="11" name="Text 8"/>
          <p:cNvSpPr txBox="1"/>
          <p:nvPr/>
        </p:nvSpPr>
        <p:spPr>
          <a:xfrm>
            <a:off x="4612538" y="2377440"/>
            <a:ext cx="2966618" cy="201168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Year 2</a:t>
            </a:r>
            <a:endParaRPr lang="en-US" sz="1800" dirty="0"/>
          </a:p>
          <a:p>
            <a:pPr indent="0" marL="0">
              <a:spcAft>
                <a:spcPts val="600"/>
              </a:spcAft>
              <a:buNone/>
            </a:pPr>
            <a:r>
              <a:rPr lang="en-US" sz="1800" dirty="0">
                <a:solidFill>
                  <a:schemeClr val="tx1"/>
                </a:solidFill>
              </a:rPr>
              <a:t>Direction 1: English sample, follow-up</a:t>
            </a:r>
            <a:endParaRPr lang="en-US" sz="1800" dirty="0"/>
          </a:p>
          <a:p>
            <a:pPr indent="0" marL="0">
              <a:spcAft>
                <a:spcPts val="600"/>
              </a:spcAft>
              <a:buNone/>
            </a:pPr>
            <a:r>
              <a:rPr lang="en-US" sz="1800" dirty="0">
                <a:solidFill>
                  <a:schemeClr val="tx1"/>
                </a:solidFill>
              </a:rPr>
              <a:t>Direction 2: training study</a:t>
            </a:r>
            <a:endParaRPr lang="en-US" sz="1800" dirty="0"/>
          </a:p>
        </p:txBody>
      </p:sp>
      <p:sp>
        <p:nvSpPr>
          <p:cNvPr id="12" name="Shape 9"/>
          <p:cNvSpPr/>
          <p:nvPr/>
        </p:nvSpPr>
        <p:spPr>
          <a:xfrm>
            <a:off x="8447837" y="1463040"/>
            <a:ext cx="548640" cy="548640"/>
          </a:xfrm>
          <a:prstGeom prst="ellipse">
            <a:avLst/>
          </a:prstGeom>
          <a:solidFill>
            <a:schemeClr val="accent2"/>
          </a:solidFill>
          <a:ln/>
        </p:spPr>
      </p:sp>
      <p:sp>
        <p:nvSpPr>
          <p:cNvPr id="13" name="Text 10"/>
          <p:cNvSpPr txBox="1"/>
          <p:nvPr/>
        </p:nvSpPr>
        <p:spPr>
          <a:xfrm>
            <a:off x="8447837"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Shape 11"/>
          <p:cNvSpPr/>
          <p:nvPr/>
        </p:nvSpPr>
        <p:spPr>
          <a:xfrm>
            <a:off x="8219237" y="2194560"/>
            <a:ext cx="3423818" cy="2377440"/>
          </a:xfrm>
          <a:prstGeom prst="roundRect">
            <a:avLst>
              <a:gd name="adj" fmla="val 3846"/>
            </a:avLst>
          </a:prstGeom>
          <a:solidFill>
            <a:schemeClr val="bg2"/>
          </a:solidFill>
          <a:ln/>
        </p:spPr>
      </p:sp>
      <p:sp>
        <p:nvSpPr>
          <p:cNvPr id="15" name="Text 12"/>
          <p:cNvSpPr txBox="1"/>
          <p:nvPr/>
        </p:nvSpPr>
        <p:spPr>
          <a:xfrm>
            <a:off x="8447837" y="2377440"/>
            <a:ext cx="2966618" cy="2011680"/>
          </a:xfrm>
          <a:prstGeom prst="rect">
            <a:avLst/>
          </a:prstGeom>
          <a:noFill/>
          <a:ln/>
        </p:spPr>
        <p:txBody>
          <a:bodyPr wrap="square" lIns="0" tIns="0" rIns="0" bIns="0" rtlCol="0" anchor="t"/>
          <a:lstStyle/>
          <a:p>
            <a:pPr indent="0" marL="0">
              <a:spcAft>
                <a:spcPts val="600"/>
              </a:spcAft>
              <a:buNone/>
            </a:pPr>
            <a:r>
              <a:rPr lang="en-US" sz="2200" b="1" dirty="0">
                <a:solidFill>
                  <a:schemeClr val="tx2"/>
                </a:solidFill>
              </a:rPr>
              <a:t>Throughout</a:t>
            </a:r>
            <a:endParaRPr lang="en-US" sz="1800" dirty="0"/>
          </a:p>
          <a:p>
            <a:pPr indent="0" marL="0">
              <a:spcAft>
                <a:spcPts val="600"/>
              </a:spcAft>
              <a:buNone/>
            </a:pPr>
            <a:r>
              <a:rPr lang="en-US" sz="1800" dirty="0">
                <a:solidFill>
                  <a:schemeClr val="tx1"/>
                </a:solidFill>
              </a:rPr>
              <a:t>Thesis papers</a:t>
            </a:r>
            <a:endParaRPr lang="en-US" sz="1800" dirty="0"/>
          </a:p>
          <a:p>
            <a:pPr indent="0" marL="0">
              <a:spcAft>
                <a:spcPts val="600"/>
              </a:spcAft>
              <a:buNone/>
            </a:pPr>
            <a:r>
              <a:rPr lang="en-US" sz="1800" dirty="0">
                <a:solidFill>
                  <a:schemeClr val="tx1"/>
                </a:solidFill>
              </a:rPr>
              <a:t>Grant applications</a:t>
            </a:r>
            <a:endParaRPr lang="en-US" sz="1800" dirty="0"/>
          </a:p>
          <a:p>
            <a:pPr indent="0" marL="0">
              <a:spcAft>
                <a:spcPts val="600"/>
              </a:spcAft>
              <a:buNone/>
            </a:pPr>
            <a:r>
              <a:rPr lang="en-US" sz="1800" dirty="0">
                <a:solidFill>
                  <a:schemeClr val="tx1"/>
                </a:solidFill>
              </a:rPr>
              <a:t>Mentoring students</a:t>
            </a:r>
            <a:endParaRPr lang="en-US" sz="1800" dirty="0"/>
          </a:p>
        </p:txBody>
      </p:sp>
      <p:sp>
        <p:nvSpPr>
          <p:cNvPr id="16" name="Shape 13"/>
          <p:cNvSpPr/>
          <p:nvPr/>
        </p:nvSpPr>
        <p:spPr>
          <a:xfrm>
            <a:off x="548640" y="4892040"/>
            <a:ext cx="11094415" cy="685800"/>
          </a:xfrm>
          <a:prstGeom prst="roundRect">
            <a:avLst>
              <a:gd name="adj" fmla="val 10667"/>
            </a:avLst>
          </a:prstGeom>
          <a:solidFill>
            <a:schemeClr val="bg2"/>
          </a:solidFill>
          <a:ln/>
        </p:spPr>
      </p:sp>
      <p:sp>
        <p:nvSpPr>
          <p:cNvPr id="17" name="Text 14"/>
          <p:cNvSpPr txBox="1"/>
          <p:nvPr/>
        </p:nvSpPr>
        <p:spPr>
          <a:xfrm>
            <a:off x="777240" y="4892040"/>
            <a:ext cx="10637215" cy="685800"/>
          </a:xfrm>
          <a:prstGeom prst="rect">
            <a:avLst/>
          </a:prstGeom>
          <a:noFill/>
          <a:ln/>
        </p:spPr>
        <p:txBody>
          <a:bodyPr wrap="square" lIns="0" tIns="0" rIns="0" bIns="0" rtlCol="0" anchor="ctr"/>
          <a:lstStyle/>
          <a:p>
            <a:pPr indent="0" marL="0">
              <a:buNone/>
            </a:pPr>
            <a:r>
              <a:rPr lang="en-US" sz="1800" b="1" dirty="0">
                <a:solidFill>
                  <a:schemeClr val="accent2"/>
                </a:solidFill>
              </a:rPr>
              <a:t>Takeaway   </a:t>
            </a:r>
            <a:pPr indent="0" marL="0">
              <a:buNone/>
            </a:pPr>
            <a:r>
              <a:rPr lang="en-US" sz="1800" dirty="0">
                <a:solidFill>
                  <a:schemeClr val="tx1"/>
                </a:solidFill>
              </a:rPr>
              <a:t>From correspondence to development, learning and input.</a:t>
            </a:r>
            <a:endParaRPr lang="en-US" sz="1800" dirty="0"/>
          </a:p>
        </p:txBody>
      </p:sp>
      <p:sp>
        <p:nvSpPr>
          <p:cNvPr id="25" name="Slide Number Placeholder 0"/>
          <p:cNvSpPr>
            <a:spLocks noGrp="1"/>
          </p:cNvSpPr>
          <p:nvPr>
            <p:ph type="sldNum" sz="quarter" idx="4294967295"/>
          </p:nvPr>
        </p:nvSpPr>
        <p:spPr>
          <a:xfrm>
            <a:off x="11002975" y="6355080"/>
            <a:ext cx="640080" cy="365760"/>
          </a:xfrm>
          <a:prstGeom prst="rect">
            <a:avLst/>
          </a:prstGeom>
          <a:extLst>
            <a:ext uri="{C572A759-6A51-4108-AA02-DFA0A04FC94B}">
              <ma14:wrappingTextBoxFlag xmlns:ma14="http://schemas.microsoft.com/office/mac/drawingml/2011/main" val="0"/>
            </a:ext>
          </a:extLst>
        </p:spPr>
        <p:txBody>
          <a:bodyPr/>
          <a:lstStyle>
            <a:lvl1pPr>
              <a:defRPr sz="18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548640" y="548640"/>
            <a:ext cx="11094415" cy="731520"/>
          </a:xfrm>
          <a:prstGeom prst="rect">
            <a:avLst/>
          </a:prstGeom>
          <a:noFill/>
          <a:ln/>
        </p:spPr>
        <p:txBody>
          <a:bodyPr wrap="square" lIns="0" tIns="0" rIns="0" bIns="0" rtlCol="0" anchor="ctr"/>
          <a:lstStyle/>
          <a:p>
            <a:pPr indent="0" marL="0">
              <a:buNone/>
            </a:pPr>
            <a:r>
              <a:rPr lang="en-US" sz="3000" b="1" dirty="0">
                <a:solidFill>
                  <a:schemeClr val="bg1"/>
                </a:solidFill>
              </a:rPr>
              <a:t>What I would bring</a:t>
            </a:r>
            <a:endParaRPr lang="en-US" sz="3000" dirty="0"/>
          </a:p>
        </p:txBody>
      </p:sp>
      <p:sp>
        <p:nvSpPr>
          <p:cNvPr id="4" name="Text 1"/>
          <p:cNvSpPr txBox="1"/>
          <p:nvPr/>
        </p:nvSpPr>
        <p:spPr>
          <a:xfrm>
            <a:off x="548640" y="1600200"/>
            <a:ext cx="3423818" cy="2377440"/>
          </a:xfrm>
          <a:prstGeom prst="rect">
            <a:avLst/>
          </a:prstGeom>
          <a:noFill/>
          <a:ln/>
        </p:spPr>
        <p:txBody>
          <a:bodyPr wrap="square" lIns="0" tIns="0" rIns="0" bIns="0" rtlCol="0" anchor="t"/>
          <a:lstStyle/>
          <a:p>
            <a:pPr indent="0" marL="0">
              <a:spcAft>
                <a:spcPts val="800"/>
              </a:spcAft>
              <a:buNone/>
            </a:pPr>
            <a:r>
              <a:rPr lang="en-US" sz="2200" b="1" dirty="0">
                <a:solidFill>
                  <a:schemeClr val="accent4"/>
                </a:solidFill>
              </a:rPr>
              <a:t>Methods</a:t>
            </a:r>
            <a:endParaRPr lang="en-US" sz="1800" dirty="0"/>
          </a:p>
          <a:p>
            <a:pPr indent="0" marL="0">
              <a:spcAft>
                <a:spcPts val="800"/>
              </a:spcAft>
              <a:buNone/>
            </a:pPr>
            <a:r>
              <a:rPr lang="en-US" sz="1800" dirty="0">
                <a:solidFill>
                  <a:schemeClr val="bg1"/>
                </a:solidFill>
              </a:rPr>
              <a:t>Video stimuli and norming</a:t>
            </a:r>
            <a:endParaRPr lang="en-US" sz="1800" dirty="0"/>
          </a:p>
          <a:p>
            <a:pPr indent="0" marL="0">
              <a:spcAft>
                <a:spcPts val="800"/>
              </a:spcAft>
              <a:buNone/>
            </a:pPr>
            <a:r>
              <a:rPr lang="en-US" sz="1800" dirty="0">
                <a:solidFill>
                  <a:schemeClr val="bg1"/>
                </a:solidFill>
              </a:rPr>
              <a:t>Child testing</a:t>
            </a:r>
            <a:endParaRPr lang="en-US" sz="1800" dirty="0"/>
          </a:p>
          <a:p>
            <a:pPr indent="0" marL="0">
              <a:spcAft>
                <a:spcPts val="800"/>
              </a:spcAft>
              <a:buNone/>
            </a:pPr>
            <a:r>
              <a:rPr lang="en-US" sz="1800" dirty="0">
                <a:solidFill>
                  <a:schemeClr val="bg1"/>
                </a:solidFill>
              </a:rPr>
              <a:t>Bayesian GLMMs, R, Python</a:t>
            </a:r>
            <a:endParaRPr lang="en-US" sz="1800" dirty="0"/>
          </a:p>
        </p:txBody>
      </p:sp>
      <p:sp>
        <p:nvSpPr>
          <p:cNvPr id="5" name="Text 2"/>
          <p:cNvSpPr txBox="1"/>
          <p:nvPr/>
        </p:nvSpPr>
        <p:spPr>
          <a:xfrm>
            <a:off x="4383938" y="1600200"/>
            <a:ext cx="3423818" cy="2377440"/>
          </a:xfrm>
          <a:prstGeom prst="rect">
            <a:avLst/>
          </a:prstGeom>
          <a:noFill/>
          <a:ln/>
        </p:spPr>
        <p:txBody>
          <a:bodyPr wrap="square" lIns="0" tIns="0" rIns="0" bIns="0" rtlCol="0" anchor="t"/>
          <a:lstStyle/>
          <a:p>
            <a:pPr indent="0" marL="0">
              <a:spcAft>
                <a:spcPts val="800"/>
              </a:spcAft>
              <a:buNone/>
            </a:pPr>
            <a:r>
              <a:rPr lang="en-US" sz="2200" b="1" dirty="0">
                <a:solidFill>
                  <a:schemeClr val="accent4"/>
                </a:solidFill>
              </a:rPr>
              <a:t>Projects</a:t>
            </a:r>
            <a:endParaRPr lang="en-US" sz="1800" dirty="0"/>
          </a:p>
          <a:p>
            <a:pPr indent="0" marL="0">
              <a:spcAft>
                <a:spcPts val="800"/>
              </a:spcAft>
              <a:buNone/>
            </a:pPr>
            <a:r>
              <a:rPr lang="en-US" sz="1800" dirty="0">
                <a:solidFill>
                  <a:schemeClr val="bg1"/>
                </a:solidFill>
              </a:rPr>
              <a:t>Led a CAS field project</a:t>
            </a:r>
            <a:endParaRPr lang="en-US" sz="1800" dirty="0"/>
          </a:p>
          <a:p>
            <a:pPr indent="0" marL="0">
              <a:spcAft>
                <a:spcPts val="800"/>
              </a:spcAft>
              <a:buNone/>
            </a:pPr>
            <a:r>
              <a:rPr lang="en-US" sz="1800" dirty="0">
                <a:solidFill>
                  <a:schemeClr val="bg1"/>
                </a:solidFill>
              </a:rPr>
              <a:t>Preregistered experiments</a:t>
            </a:r>
            <a:endParaRPr lang="en-US" sz="1800" dirty="0"/>
          </a:p>
          <a:p>
            <a:pPr indent="0" marL="0">
              <a:spcAft>
                <a:spcPts val="800"/>
              </a:spcAft>
              <a:buNone/>
            </a:pPr>
            <a:r>
              <a:rPr lang="en-US" sz="1800" dirty="0">
                <a:solidFill>
                  <a:schemeClr val="bg1"/>
                </a:solidFill>
              </a:rPr>
              <a:t>Teaching research methods</a:t>
            </a:r>
            <a:endParaRPr lang="en-US" sz="1800" dirty="0"/>
          </a:p>
        </p:txBody>
      </p:sp>
      <p:sp>
        <p:nvSpPr>
          <p:cNvPr id="6" name="Text 3"/>
          <p:cNvSpPr txBox="1"/>
          <p:nvPr/>
        </p:nvSpPr>
        <p:spPr>
          <a:xfrm>
            <a:off x="8219237" y="1600200"/>
            <a:ext cx="3423818" cy="2377440"/>
          </a:xfrm>
          <a:prstGeom prst="rect">
            <a:avLst/>
          </a:prstGeom>
          <a:noFill/>
          <a:ln/>
        </p:spPr>
        <p:txBody>
          <a:bodyPr wrap="square" lIns="0" tIns="0" rIns="0" bIns="0" rtlCol="0" anchor="t"/>
          <a:lstStyle/>
          <a:p>
            <a:pPr indent="0" marL="0">
              <a:spcAft>
                <a:spcPts val="800"/>
              </a:spcAft>
              <a:buNone/>
            </a:pPr>
            <a:r>
              <a:rPr lang="en-US" sz="2200" b="1" dirty="0">
                <a:solidFill>
                  <a:schemeClr val="accent4"/>
                </a:solidFill>
              </a:rPr>
              <a:t>Fit</a:t>
            </a:r>
            <a:endParaRPr lang="en-US" sz="1800" dirty="0"/>
          </a:p>
          <a:p>
            <a:pPr indent="0" marL="0">
              <a:spcAft>
                <a:spcPts val="800"/>
              </a:spcAft>
              <a:buNone/>
            </a:pPr>
            <a:r>
              <a:rPr lang="en-US" sz="1800" dirty="0">
                <a:solidFill>
                  <a:schemeClr val="bg1"/>
                </a:solidFill>
              </a:rPr>
              <a:t>Event language in development</a:t>
            </a:r>
            <a:endParaRPr lang="en-US" sz="1800" dirty="0"/>
          </a:p>
          <a:p>
            <a:pPr indent="0" marL="0">
              <a:spcAft>
                <a:spcPts val="800"/>
              </a:spcAft>
              <a:buNone/>
            </a:pPr>
            <a:r>
              <a:rPr lang="en-US" sz="1800" dirty="0">
                <a:solidFill>
                  <a:schemeClr val="bg1"/>
                </a:solidFill>
              </a:rPr>
              <a:t>Mandarin–English expertise</a:t>
            </a:r>
            <a:endParaRPr lang="en-US" sz="1800" dirty="0"/>
          </a:p>
          <a:p>
            <a:pPr indent="0" marL="0">
              <a:spcAft>
                <a:spcPts val="800"/>
              </a:spcAft>
              <a:buNone/>
            </a:pPr>
            <a:r>
              <a:rPr lang="en-US" sz="1800" dirty="0">
                <a:solidFill>
                  <a:schemeClr val="bg1"/>
                </a:solidFill>
              </a:rPr>
              <a:t>Experiments and models</a:t>
            </a:r>
            <a:endParaRPr lang="en-US" sz="1800" dirty="0"/>
          </a:p>
        </p:txBody>
      </p:sp>
      <p:sp>
        <p:nvSpPr>
          <p:cNvPr id="7" name="Text 4"/>
          <p:cNvSpPr txBox="1"/>
          <p:nvPr/>
        </p:nvSpPr>
        <p:spPr>
          <a:xfrm>
            <a:off x="548640" y="4480560"/>
            <a:ext cx="11094415" cy="1371600"/>
          </a:xfrm>
          <a:prstGeom prst="rect">
            <a:avLst/>
          </a:prstGeom>
          <a:noFill/>
          <a:ln/>
        </p:spPr>
        <p:txBody>
          <a:bodyPr wrap="square" lIns="0" tIns="0" rIns="0" bIns="0" rtlCol="0" anchor="t"/>
          <a:lstStyle/>
          <a:p>
            <a:pPr indent="0" marL="0">
              <a:buNone/>
            </a:pPr>
            <a:r>
              <a:rPr lang="en-US" sz="3600" b="1" dirty="0">
                <a:solidFill>
                  <a:schemeClr val="bg1"/>
                </a:solidFill>
              </a:rPr>
              <a:t>Thank you</a:t>
            </a:r>
            <a:endParaRPr lang="en-US" sz="1800" dirty="0"/>
          </a:p>
          <a:p>
            <a:pPr indent="0" marL="0">
              <a:buNone/>
            </a:pPr>
            <a:r>
              <a:rPr lang="en-US" sz="1800" dirty="0">
                <a:solidFill>
                  <a:schemeClr val="accent5"/>
                </a:solidFill>
              </a:rPr>
              <a:t>xtliu0516@yeah.net  ·  xiaotaoliu.owlstown.net</a:t>
            </a:r>
            <a:endParaRPr lang="en-US" sz="1800" dirty="0"/>
          </a:p>
        </p:txBody>
      </p:sp>
      <p:sp>
        <p:nvSpPr>
          <p:cNvPr id="8" name="Text 0"/>
          <p:cNvSpPr/>
          <p:nvPr>
            <p:ph idx="100" type="title" hasCustomPrompt="1"/>
          </p:nvPr>
        </p:nvSpPr>
        <p:spPr>
          <a:xfrm>
            <a:off x="548640" y="1737360"/>
            <a:ext cx="11094415" cy="1188720"/>
          </a:xfrm>
          <a:prstGeom prst="rect">
            <a:avLst/>
          </a:prstGeom>
          <a:noFill/>
          <a:ln/>
        </p:spPr>
        <p:txBody>
          <a:bodyPr wrap="square" lIns="0" tIns="0" rIns="0" bIns="0" rtlCol="0" anchor="b"/>
          <a:lstStyle/>
          <a:p>
            <a:pPr algn="l" indent="0" marL="0">
              <a:buNone/>
            </a:pPr>
            <a:endParaRPr lang="en-US" sz="3600" dirty="0"/>
          </a:p>
        </p:txBody>
      </p:sp>
      <p:sp>
        <p:nvSpPr>
          <p:cNvPr id="9" name="Text 0"/>
          <p:cNvSpPr/>
          <p:nvPr>
            <p:ph idx="101" type="body" hasCustomPrompt="1"/>
          </p:nvPr>
        </p:nvSpPr>
        <p:spPr>
          <a:xfrm>
            <a:off x="548640" y="3108960"/>
            <a:ext cx="11094415" cy="822960"/>
          </a:xfrm>
          <a:prstGeom prst="rect">
            <a:avLst/>
          </a:prstGeom>
          <a:noFill/>
          <a:ln/>
        </p:spPr>
        <p:txBody>
          <a:bodyPr wrap="square" lIns="0" tIns="0" rIns="0" bIns="0" rtlCol="0" anchor="t"/>
          <a:lstStyle/>
          <a:p>
            <a:pPr algn="l" indent="0" marL="0">
              <a:buNone/>
            </a:pPr>
            <a:endParaRPr lang="en-US" sz="2200" dirty="0"/>
          </a:p>
        </p:txBody>
      </p:sp>
      <p:sp>
        <p:nvSpPr>
          <p:cNvPr id="10" name="Text 0"/>
          <p:cNvSpPr/>
          <p:nvPr>
            <p:ph idx="102" type="body" hasCustomPrompt="1"/>
          </p:nvPr>
        </p:nvSpPr>
        <p:spPr>
          <a:xfrm>
            <a:off x="548640" y="4663440"/>
            <a:ext cx="11094415" cy="137160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theme/theme1.xml><?xml version="1.0" encoding="utf-8"?>
<a:theme xmlns:a="http://schemas.openxmlformats.org/drawingml/2006/main" name="Event Relations">
  <a:themeElements>
    <a:clrScheme name="Event Relations">
      <a:dk1>
        <a:srgbClr val="1F2A30"/>
      </a:dk1>
      <a:lt1>
        <a:srgbClr val="FFFFFF"/>
      </a:lt1>
      <a:dk2>
        <a:srgbClr val="1E4D4A"/>
      </a:dk2>
      <a:lt2>
        <a:srgbClr val="EEF3F2"/>
      </a:lt2>
      <a:accent1>
        <a:srgbClr val="1E4D4A"/>
      </a:accent1>
      <a:accent2>
        <a:srgbClr val="D9703A"/>
      </a:accent2>
      <a:accent3>
        <a:srgbClr val="5B7083"/>
      </a:accent3>
      <a:accent4>
        <a:srgbClr val="8FB8B0"/>
      </a:accent4>
      <a:accent5>
        <a:srgbClr val="C9D6D3"/>
      </a:accent5>
      <a:accent6>
        <a:srgbClr val="A44A3F"/>
      </a:accent6>
      <a:hlink>
        <a:srgbClr val="1E4D4A"/>
      </a:hlink>
      <a:folHlink>
        <a:srgbClr val="5B7083"/>
      </a:folHlink>
    </a:clrScheme>
    <a:fontScheme name="Event Relations">
      <a:majorFont>
        <a:latin typeface="Cambria"/>
        <a:ea typeface="SimSun"/>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mbria"/>
        <a:ea typeface="SimSun"/>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Event Language to Relational Learning</dc:title>
  <dc:subject>PptxGenJS Presentation</dc:subject>
  <dc:creator>Xiaotao Liu</dc:creator>
  <cp:lastModifiedBy>Xiaotao Liu</cp:lastModifiedBy>
  <cp:revision>1</cp:revision>
  <dcterms:created xsi:type="dcterms:W3CDTF">2026-10-10T21:32:30Z</dcterms:created>
  <dcterms:modified xsi:type="dcterms:W3CDTF">2026-10-10T21:32:30Z</dcterms:modified>
</cp:coreProperties>
</file>