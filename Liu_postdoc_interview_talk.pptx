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Thank you for having me.
2. I will show how my work on event language in adults and children leads to the question I want to pursue in your group.
3. That question is how language helps children learn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Mandarin gives a clean contrast: cā names only the action; cā-gānjìng names the action and its result.
2. My work asks whether this kind of difference matters for cognition.
3. Study 1 is my PhD on adults; Studies 2 and 3 are on children’s language.
4. Then three directions that grow out of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Question: does how a language encodes events align with how speakers process them? English and Mandarin speakers saw 44 matched videos of the same object being cut or blended; cutting has a clear endpoint, blending does not.
2. The contribution is separating two levels of encoding. At the lexical level, English marks the object with quantized nouns (68% vs. 13%) and Mandarin marks the result with resultatives, mostly for blending (44% vs. 17%). At the predicate level, English is more telic for cutting (79% vs. 51%), Mandarin for blending.
3. Each level has its own processing measure, and the effect appears where that level’s contrast is. Lexical level and interruption detection: in blending, English speakers caught early interruptions better, Mandarin speakers late ones (p = .040). Predicate level and boundary tapping: in cutting, Mandarin speakers placed the end 862 ms later (p = .005), with no difference at onset.
4. Experiments 4 and 5 added brief lexical and telicity primes. Group differences recurred, but primes did not shift either level (Bayes factor about 1000 for the null). So the link is stable but not created by a one-off cue, which motivates looking at learning and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Children often reject “she peeled the lychee” when the lychee is not open, more than adults do. The question is why.
2. We filmed 10 action pairs that share an object and a result, each with the result attained or not; 32 four-year-olds, 32 five-year-olds and 40 adults per experiment judged and described them.
3. Our proposal: how strongly a verb implies its result depends on the action–object–result relation, not only on the verb. Peeling very likely opens a lychee (rated 93); squeezing less so (65). Stronger association should mean more rejection when the result is absent.
4. [Main result here, or: data are collected and analysis is in progress.] This study gives me experience testing children in kindergartens and materials I can 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This sole-authored paper, at minor revision in Language and Cognition, tests the pragmatic-informativeness account of Choe and Papafragou: superordinate nouns like “animal” are under-informative, so speakers use them in contexts that signal generality, such as quantifiers, wh-phrases, “kind of” and “another”. The account was built on English; Mandarin is a strong test because it lacks obligatory plural marking.
2. Study 1 replicates their corpus analysis in 11 Mandarin CHILDES corpora: do these contexts separate superordinate from basic-level nouns in Mandarin child-directed speech?
3. They do. All four Mandarin-available contexts were associated with superordinates (odds ratios 2.1 to 8.2), robust to overlapping cues, and a classifier recovered semantic level from the contexts (AUC = .73). So the account replicates beyond English.
4. Study 2 asks whether a word’s exposure to these cues predicts its age of acquisition, in Mandarin and English. Corpus frequency did; cue exposure added little. The cues are present in the input, but whether children use them needs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thesis shows a correspondence between language and event processing in adults, but not where it comes from.
2. Question 1: when do these differences emerge in development? That is Direction 1.
3. Question 2: brief primes did not work, so can sustained language change processing? That is Direction 2.
4. Question 3: does text alone yield both levels of event encoding? Language models let us test that, Direction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New event pairs address the main limit of the thesis: only cutting and blending, with instrument and motion confounded. Each pair is hands-only, on the same object, one with a clear endpoint and one gradual, for example tearing paper in half versus crumpling it. Each pair is normed and described by adults first, to confirm that the lexical and predicate contrasts fall on different events.
2. Mandarin- and English-speaking children aged 3–6; the English sample can build on the center’s cross-cultural partners.
3. Each child describes the events, which gives an individual profile at both levels: resultatives and quantized nouns at the lexical level, telic descriptions at the predicate level. Processing uses child-friendly versions of my two tasks: press when the video “hiccups” for phases, press when it is “done” for endpoints; eye-tracking for the youngest children.
4. Crossed prediction: a child’s lexical encoding should predict phase sensitivity but not endpoints; predicate telicity should predict endpoints but not phases. That is a double dissociation at the individual level, which the thesis could not test. A 6-month follow-up asks whether language change comes before processing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In the thesis, brief primes did not shift processing. Direction 2 tests sustained training, keeping the two-level logic of Experiments 4 and 5 but crossing it.
2. Mandarin children are trained at one level, lexical cues (一颗, 切成两块) or predicate cues (切开 vs. 切一切), and tested on both tasks, interruption detection for phases and boundary tapping for endpoints.
3. Following the thesis conclusions: three sessions in which children use the words in the task, a check that they understood the cue, and counterbalanced baseline order.
4. Prediction: each training shifts only its own level. Training on one event family (撕 / 揉) and testing on another (掰 / 压) asks whether children learned an abstract endpoint relation rather than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main contribution of my thesis is separating two levels of event encoding: local lexical cues (quantized nouns, resultatives) and whole-predicate telicity. Direction 3 asks whether language models separate them too.
2. Following Rognan, Grigoroglou and Bhattasali (CogSci 2026), I would treat matched monolingual models, English BERT and Chinese BERT, as test subjects in cloze tasks built from my stimuli, then extend to multilingual models and larger LLMs.
3. Lexical level: which determiner the model predicts in “She cut [MASK] orange”, and which result complement in 他把橙子搅[MASK]了, for cutting versus blending verbs. Predicate level: “in” versus “for” in “cut an orange [MASK] two seconds”, and whether the model allows cancellation in 他切了橙子，但是[MASK].
4. Key test: does the predicate-level choice flip when the lexical cue flips (an orange vs. oranges; 切开 vs. 切)? If models match humans at the lexical level but not the predicate level, they rely on surface statistics rather than event structure. Model scores are compared with my Exp 1 descriptions and the adult and child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Year 1: replicate Experiments 1–3 with adults on the new event pairs, which generalizes the thesis and validates materials for children; run the model study in parallel.
2. Year 2: Direction 1 with children, and the training study for Direction 2.
3. Throughout: publish the thesis papers, apply for funding, and mentor students.
4. Together these move from correspondence to development, learning and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Methods: video stimuli, child testing, Bayesian modelling.
2. Projects: I led a field project at CAS and ran a preregistered multi-experiment thesis.
3. Fit: event language in development, Mandarin–English expertise, and both experiments and models.
4.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11094415"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3108960"/>
            <a:ext cx="11094415" cy="822960"/>
          </a:xfrm>
          <a:prstGeom prst="rect">
            <a:avLst/>
          </a:prstGeom>
          <a:noFill/>
          <a:ln/>
        </p:spPr>
        <p:txBody>
          <a:bodyPr wrap="square" rtlCol="0"/>
          <a:lstStyle>
            <a:lvl1pPr algn="l" indent="0" marL="0">
              <a:buNone/>
              <a:defRPr lang="en-US" sz="2200" dirty="0">
                <a:solidFill>
                  <a:schemeClr val="accent5"/>
                </a:solidFill>
              </a:defRPr>
            </a:lvl1pPr>
          </a:lstStyle>
          <a:p>
            <a:pPr algn="l" indent="0" marL="0">
              <a:buNone/>
            </a:pPr>
            <a:endParaRPr lang="en-US" sz="2200" dirty="0"/>
          </a:p>
        </p:txBody>
      </p:sp>
      <p:sp>
        <p:nvSpPr>
          <p:cNvPr id="4" name="Text 0"/>
          <p:cNvSpPr/>
          <p:nvPr>
            <p:ph idx="102" type="body" hasCustomPrompt="1"/>
          </p:nvPr>
        </p:nvSpPr>
        <p:spPr>
          <a:xfrm>
            <a:off x="548640" y="4663440"/>
            <a:ext cx="11094415" cy="1371600"/>
          </a:xfrm>
          <a:prstGeom prst="rect">
            <a:avLst/>
          </a:prstGeom>
          <a:noFill/>
          <a:ln/>
        </p:spPr>
        <p:txBody>
          <a:bodyPr wrap="square" rtlCol="0"/>
          <a:lstStyle>
            <a:lvl1pPr algn="l" indent="0" marL="0">
              <a:buNone/>
              <a:defRPr lang="en-US" sz="1800" dirty="0">
                <a:solidFill>
                  <a:schemeClr val="bg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548640" y="1737360"/>
            <a:ext cx="11094415" cy="1188720"/>
          </a:xfrm>
          <a:prstGeom prst="rect">
            <a:avLst/>
          </a:prstGeom>
          <a:noFill/>
          <a:ln/>
        </p:spPr>
        <p:txBody>
          <a:bodyPr wrap="square" lIns="0" tIns="0" rIns="0" bIns="0" rtlCol="0" anchor="b"/>
          <a:lstStyle/>
          <a:p>
            <a:pPr algn="l" indent="0" marL="0">
              <a:buNone/>
            </a:pPr>
            <a:r>
              <a:rPr lang="en-US" sz="3600" b="1" dirty="0">
                <a:solidFill>
                  <a:schemeClr val="bg1"/>
                </a:solidFill>
              </a:rPr>
              <a:t>From Event Language to Relational Learning</a:t>
            </a:r>
            <a:endParaRPr lang="en-US" sz="3600" dirty="0"/>
          </a:p>
        </p:txBody>
      </p:sp>
      <p:sp>
        <p:nvSpPr>
          <p:cNvPr id="4" name="Text 0"/>
          <p:cNvSpPr/>
          <p:nvPr>
            <p:ph idx="101" type="body" hasCustomPrompt="1"/>
          </p:nvPr>
        </p:nvSpPr>
        <p:spPr>
          <a:xfrm>
            <a:off x="548640" y="3108960"/>
            <a:ext cx="11094415" cy="822960"/>
          </a:xfrm>
          <a:prstGeom prst="rect">
            <a:avLst/>
          </a:prstGeom>
          <a:noFill/>
          <a:ln/>
        </p:spPr>
        <p:txBody>
          <a:bodyPr wrap="square" lIns="0" tIns="0" rIns="0" bIns="0" rtlCol="0" anchor="t"/>
          <a:lstStyle/>
          <a:p>
            <a:pPr algn="l" indent="0" marL="0">
              <a:buNone/>
            </a:pPr>
            <a:r>
              <a:rPr lang="en-US" sz="2200" dirty="0">
                <a:solidFill>
                  <a:schemeClr val="accent5"/>
                </a:solidFill>
              </a:rPr>
              <a:t>How language packages action–result relations in adults and children</a:t>
            </a:r>
            <a:endParaRPr lang="en-US" sz="2200" dirty="0"/>
          </a:p>
        </p:txBody>
      </p:sp>
      <p:sp>
        <p:nvSpPr>
          <p:cNvPr id="5" name="Text 0"/>
          <p:cNvSpPr/>
          <p:nvPr>
            <p:ph idx="102" type="body" hasCustomPrompt="1"/>
          </p:nvPr>
        </p:nvSpPr>
        <p:spPr>
          <a:xfrm>
            <a:off x="548640" y="4663440"/>
            <a:ext cx="11094415" cy="1371600"/>
          </a:xfrm>
          <a:prstGeom prst="rect">
            <a:avLst/>
          </a:prstGeom>
          <a:noFill/>
          <a:ln/>
        </p:spPr>
        <p:txBody>
          <a:bodyPr wrap="square" lIns="0" tIns="0" rIns="0" bIns="0" rtlCol="0" anchor="t"/>
          <a:lstStyle/>
          <a:p>
            <a:pPr algn="l" indent="0" marL="0">
              <a:buNone/>
            </a:pPr>
            <a:r>
              <a:rPr lang="en-US" sz="1800" b="1" dirty="0">
                <a:solidFill>
                  <a:schemeClr val="bg1"/>
                </a:solidFill>
              </a:rPr>
              <a:t>Xiaotao Liu</a:t>
            </a:r>
            <a:endParaRPr lang="en-US" sz="1800" dirty="0"/>
          </a:p>
          <a:p>
            <a:pPr algn="l" indent="0" marL="0">
              <a:buNone/>
            </a:pPr>
            <a:r>
              <a:rPr lang="en-US" sz="1800" dirty="0">
                <a:solidFill>
                  <a:schemeClr val="bg1"/>
                </a:solidFill>
              </a:rPr>
              <a:t>PhD candidate, Applied Linguistics, University of Auckland</a:t>
            </a:r>
            <a:endParaRPr lang="en-US" sz="1800" dirty="0"/>
          </a:p>
          <a:p>
            <a:pPr algn="l" indent="0" marL="0">
              <a:buNone/>
            </a:pPr>
            <a:r>
              <a:rPr lang="en-US" sz="1800" dirty="0">
                <a:solidFill>
                  <a:schemeClr val="bg1"/>
                </a:solidFill>
              </a:rPr>
              <a:t>Tsinghua Child Cognition Center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One question across my work</a:t>
            </a:r>
            <a:endParaRPr lang="en-US" sz="3000" dirty="0"/>
          </a:p>
        </p:txBody>
      </p:sp>
      <p:sp>
        <p:nvSpPr>
          <p:cNvPr id="4" name="Shape 1"/>
          <p:cNvSpPr/>
          <p:nvPr/>
        </p:nvSpPr>
        <p:spPr>
          <a:xfrm>
            <a:off x="548640" y="1371600"/>
            <a:ext cx="5486400" cy="4480560"/>
          </a:xfrm>
          <a:prstGeom prst="roundRect">
            <a:avLst>
              <a:gd name="adj" fmla="val 2041"/>
            </a:avLst>
          </a:prstGeom>
          <a:solidFill>
            <a:schemeClr val="bg2"/>
          </a:solidFill>
          <a:ln/>
        </p:spPr>
      </p:sp>
      <p:sp>
        <p:nvSpPr>
          <p:cNvPr id="5" name="Text 2"/>
          <p:cNvSpPr txBox="1"/>
          <p:nvPr/>
        </p:nvSpPr>
        <p:spPr>
          <a:xfrm>
            <a:off x="822960" y="1600200"/>
            <a:ext cx="4937760" cy="411480"/>
          </a:xfrm>
          <a:prstGeom prst="rect">
            <a:avLst/>
          </a:prstGeom>
          <a:noFill/>
          <a:ln/>
        </p:spPr>
        <p:txBody>
          <a:bodyPr wrap="square" lIns="0" tIns="0" rIns="0" bIns="0" rtlCol="0" anchor="t"/>
          <a:lstStyle/>
          <a:p>
            <a:pPr indent="0" marL="0">
              <a:buNone/>
            </a:pPr>
            <a:r>
              <a:rPr lang="en-US" sz="2200" b="1" dirty="0">
                <a:solidFill>
                  <a:schemeClr val="tx2"/>
                </a:solidFill>
              </a:rPr>
              <a:t>The same event, two descriptions</a:t>
            </a:r>
            <a:endParaRPr lang="en-US" sz="2200" dirty="0"/>
          </a:p>
        </p:txBody>
      </p:sp>
      <p:sp>
        <p:nvSpPr>
          <p:cNvPr id="6" name="Text 3"/>
          <p:cNvSpPr txBox="1"/>
          <p:nvPr/>
        </p:nvSpPr>
        <p:spPr>
          <a:xfrm>
            <a:off x="822960" y="2194560"/>
            <a:ext cx="4937760" cy="1005840"/>
          </a:xfrm>
          <a:prstGeom prst="rect">
            <a:avLst/>
          </a:prstGeom>
          <a:noFill/>
          <a:ln/>
        </p:spPr>
        <p:txBody>
          <a:bodyPr wrap="square" lIns="0" tIns="0" rIns="0" bIns="0" rtlCol="0" anchor="t"/>
          <a:lstStyle/>
          <a:p>
            <a:pPr indent="0" marL="0">
              <a:buNone/>
            </a:pPr>
            <a:r>
              <a:rPr lang="en-US" sz="3200" b="1" dirty="0">
                <a:solidFill>
                  <a:schemeClr val="accent3"/>
                </a:solidFill>
              </a:rPr>
              <a:t>擦  cā</a:t>
            </a:r>
            <a:endParaRPr lang="en-US" sz="1800" dirty="0"/>
          </a:p>
          <a:p>
            <a:pPr indent="0" marL="0">
              <a:buNone/>
            </a:pPr>
            <a:r>
              <a:rPr lang="en-US" sz="1800" dirty="0">
                <a:solidFill>
                  <a:schemeClr val="tx1"/>
                </a:solidFill>
              </a:rPr>
              <a:t>“wipe”: action only</a:t>
            </a:r>
            <a:endParaRPr lang="en-US" sz="1800" dirty="0"/>
          </a:p>
        </p:txBody>
      </p:sp>
      <p:sp>
        <p:nvSpPr>
          <p:cNvPr id="7" name="Text 4"/>
          <p:cNvSpPr txBox="1"/>
          <p:nvPr/>
        </p:nvSpPr>
        <p:spPr>
          <a:xfrm>
            <a:off x="822960" y="3337560"/>
            <a:ext cx="4937760" cy="1005840"/>
          </a:xfrm>
          <a:prstGeom prst="rect">
            <a:avLst/>
          </a:prstGeom>
          <a:noFill/>
          <a:ln/>
        </p:spPr>
        <p:txBody>
          <a:bodyPr wrap="square" lIns="0" tIns="0" rIns="0" bIns="0" rtlCol="0" anchor="t"/>
          <a:lstStyle/>
          <a:p>
            <a:pPr indent="0" marL="0">
              <a:buNone/>
            </a:pPr>
            <a:r>
              <a:rPr lang="en-US" sz="3200" b="1" dirty="0">
                <a:solidFill>
                  <a:schemeClr val="accent2"/>
                </a:solidFill>
              </a:rPr>
              <a:t>擦干净  cā-gānjìng</a:t>
            </a:r>
            <a:endParaRPr lang="en-US" sz="1800" dirty="0"/>
          </a:p>
          <a:p>
            <a:pPr indent="0" marL="0">
              <a:buNone/>
            </a:pPr>
            <a:r>
              <a:rPr lang="en-US" sz="1800" dirty="0">
                <a:solidFill>
                  <a:schemeClr val="tx1"/>
                </a:solidFill>
              </a:rPr>
              <a:t>“wipe clean”: action + result</a:t>
            </a:r>
            <a:endParaRPr lang="en-US" sz="1800" dirty="0"/>
          </a:p>
        </p:txBody>
      </p:sp>
      <p:sp>
        <p:nvSpPr>
          <p:cNvPr id="8" name="Text 5"/>
          <p:cNvSpPr txBox="1"/>
          <p:nvPr/>
        </p:nvSpPr>
        <p:spPr>
          <a:xfrm>
            <a:off x="822960" y="4572000"/>
            <a:ext cx="4937760" cy="1005840"/>
          </a:xfrm>
          <a:prstGeom prst="rect">
            <a:avLst/>
          </a:prstGeom>
          <a:noFill/>
          <a:ln/>
        </p:spPr>
        <p:txBody>
          <a:bodyPr wrap="square" lIns="0" tIns="0" rIns="0" bIns="0" rtlCol="0" anchor="t"/>
          <a:lstStyle/>
          <a:p>
            <a:pPr indent="0" marL="0">
              <a:buNone/>
            </a:pPr>
            <a:r>
              <a:rPr lang="en-US" sz="1800" i="1" dirty="0">
                <a:solidFill>
                  <a:schemeClr val="tx1"/>
                </a:solidFill>
              </a:rPr>
              <a:t>Does this shape what speakers attend to, and what children learn?</a:t>
            </a:r>
            <a:endParaRPr lang="en-US" sz="1800" dirty="0"/>
          </a:p>
        </p:txBody>
      </p:sp>
      <p:sp>
        <p:nvSpPr>
          <p:cNvPr id="9" name="Shape 6"/>
          <p:cNvSpPr/>
          <p:nvPr/>
        </p:nvSpPr>
        <p:spPr>
          <a:xfrm>
            <a:off x="6583680" y="1508760"/>
            <a:ext cx="548640" cy="548640"/>
          </a:xfrm>
          <a:prstGeom prst="ellipse">
            <a:avLst/>
          </a:prstGeom>
          <a:solidFill>
            <a:schemeClr val="accent1"/>
          </a:solidFill>
          <a:ln/>
        </p:spPr>
      </p:sp>
      <p:sp>
        <p:nvSpPr>
          <p:cNvPr id="10" name="Text 7"/>
          <p:cNvSpPr txBox="1"/>
          <p:nvPr/>
        </p:nvSpPr>
        <p:spPr>
          <a:xfrm>
            <a:off x="6583680"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1" name="Text 8"/>
          <p:cNvSpPr txBox="1"/>
          <p:nvPr/>
        </p:nvSpPr>
        <p:spPr>
          <a:xfrm>
            <a:off x="7360920" y="146304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Study 1 (PhD)</a:t>
            </a:r>
            <a:endParaRPr lang="en-US" sz="1800" dirty="0"/>
          </a:p>
          <a:p>
            <a:pPr indent="0" marL="0">
              <a:buNone/>
            </a:pPr>
            <a:r>
              <a:rPr lang="en-US" sz="1800" dirty="0">
                <a:solidFill>
                  <a:schemeClr val="tx1"/>
                </a:solidFill>
              </a:rPr>
              <a:t>Language and event processing</a:t>
            </a:r>
            <a:endParaRPr lang="en-US" sz="1800" dirty="0"/>
          </a:p>
        </p:txBody>
      </p:sp>
      <p:sp>
        <p:nvSpPr>
          <p:cNvPr id="12" name="Shape 9"/>
          <p:cNvSpPr/>
          <p:nvPr/>
        </p:nvSpPr>
        <p:spPr>
          <a:xfrm>
            <a:off x="6583680" y="2971800"/>
            <a:ext cx="548640" cy="548640"/>
          </a:xfrm>
          <a:prstGeom prst="ellipse">
            <a:avLst/>
          </a:prstGeom>
          <a:solidFill>
            <a:schemeClr val="accent1"/>
          </a:solidFill>
          <a:ln/>
        </p:spPr>
      </p:sp>
      <p:sp>
        <p:nvSpPr>
          <p:cNvPr id="13" name="Text 10"/>
          <p:cNvSpPr txBox="1"/>
          <p:nvPr/>
        </p:nvSpPr>
        <p:spPr>
          <a:xfrm>
            <a:off x="6583680" y="2971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7360920" y="292608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Studies 2–3</a:t>
            </a:r>
            <a:endParaRPr lang="en-US" sz="1800" dirty="0"/>
          </a:p>
          <a:p>
            <a:pPr indent="0" marL="0">
              <a:buNone/>
            </a:pPr>
            <a:r>
              <a:rPr lang="en-US" sz="1800" dirty="0">
                <a:solidFill>
                  <a:schemeClr val="tx1"/>
                </a:solidFill>
              </a:rPr>
              <a:t>Children’s action and category words</a:t>
            </a:r>
            <a:endParaRPr lang="en-US" sz="1800" dirty="0"/>
          </a:p>
        </p:txBody>
      </p:sp>
      <p:sp>
        <p:nvSpPr>
          <p:cNvPr id="15" name="Shape 12"/>
          <p:cNvSpPr/>
          <p:nvPr/>
        </p:nvSpPr>
        <p:spPr>
          <a:xfrm>
            <a:off x="6583680" y="4434840"/>
            <a:ext cx="548640" cy="548640"/>
          </a:xfrm>
          <a:prstGeom prst="ellipse">
            <a:avLst/>
          </a:prstGeom>
          <a:solidFill>
            <a:schemeClr val="accent2"/>
          </a:solidFill>
          <a:ln/>
        </p:spPr>
      </p:sp>
      <p:sp>
        <p:nvSpPr>
          <p:cNvPr id="16" name="Text 13"/>
          <p:cNvSpPr txBox="1"/>
          <p:nvPr/>
        </p:nvSpPr>
        <p:spPr>
          <a:xfrm>
            <a:off x="6583680" y="4434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4"/>
          <p:cNvSpPr txBox="1"/>
          <p:nvPr/>
        </p:nvSpPr>
        <p:spPr>
          <a:xfrm>
            <a:off x="7360920" y="438912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Next: three directions</a:t>
            </a:r>
            <a:endParaRPr lang="en-US" sz="1800" dirty="0"/>
          </a:p>
          <a:p>
            <a:pPr indent="0" marL="0">
              <a:buNone/>
            </a:pPr>
            <a:r>
              <a:rPr lang="en-US" sz="1800" dirty="0">
                <a:solidFill>
                  <a:schemeClr val="tx1"/>
                </a:solidFill>
              </a:rPr>
              <a:t>Development, training, models</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Study 1 (PhD): Event processing at two levels</a:t>
            </a:r>
            <a:endParaRPr lang="en-US" sz="3000" dirty="0"/>
          </a:p>
        </p:txBody>
      </p:sp>
      <p:sp>
        <p:nvSpPr>
          <p:cNvPr id="4" name="Text 1"/>
          <p:cNvSpPr txBox="1"/>
          <p:nvPr/>
        </p:nvSpPr>
        <p:spPr>
          <a:xfrm>
            <a:off x="548640" y="137160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Question</a:t>
            </a:r>
            <a:endParaRPr lang="en-US" sz="1800" dirty="0"/>
          </a:p>
          <a:p>
            <a:pPr indent="0" marL="0">
              <a:buNone/>
            </a:pPr>
            <a:r>
              <a:rPr lang="en-US" sz="1800" dirty="0">
                <a:solidFill>
                  <a:schemeClr val="tx1"/>
                </a:solidFill>
              </a:rPr>
              <a:t>Does how a language encodes events align with how speakers process them?</a:t>
            </a:r>
            <a:endParaRPr lang="en-US" sz="1800" dirty="0"/>
          </a:p>
        </p:txBody>
      </p:sp>
      <p:sp>
        <p:nvSpPr>
          <p:cNvPr id="5" name="Text 2"/>
          <p:cNvSpPr txBox="1"/>
          <p:nvPr/>
        </p:nvSpPr>
        <p:spPr>
          <a:xfrm>
            <a:off x="548640" y="269748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Design</a:t>
            </a:r>
            <a:endParaRPr lang="en-US" sz="1800" dirty="0"/>
          </a:p>
          <a:p>
            <a:pPr indent="0" marL="0">
              <a:buNone/>
            </a:pPr>
            <a:r>
              <a:rPr lang="en-US" sz="1800" dirty="0">
                <a:solidFill>
                  <a:schemeClr val="tx1"/>
                </a:solidFill>
              </a:rPr>
              <a:t>English vs. Mandarin; 44 cut and blend videos; five experiments</a:t>
            </a:r>
            <a:endParaRPr lang="en-US" sz="1800" dirty="0"/>
          </a:p>
        </p:txBody>
      </p:sp>
      <p:sp>
        <p:nvSpPr>
          <p:cNvPr id="6" name="Text 3"/>
          <p:cNvSpPr txBox="1"/>
          <p:nvPr/>
        </p:nvSpPr>
        <p:spPr>
          <a:xfrm>
            <a:off x="548640" y="4023360"/>
            <a:ext cx="4663440" cy="1234440"/>
          </a:xfrm>
          <a:prstGeom prst="rect">
            <a:avLst/>
          </a:prstGeom>
          <a:noFill/>
          <a:ln/>
        </p:spPr>
        <p:txBody>
          <a:bodyPr wrap="square" lIns="0" tIns="0" rIns="0" bIns="0" rtlCol="0" anchor="t"/>
          <a:lstStyle/>
          <a:p>
            <a:pPr indent="0" marL="0">
              <a:buNone/>
            </a:pPr>
            <a:r>
              <a:rPr lang="en-US" sz="2200" b="1" dirty="0">
                <a:solidFill>
                  <a:schemeClr val="accent2"/>
                </a:solidFill>
              </a:rPr>
              <a:t>Finding</a:t>
            </a:r>
            <a:endParaRPr lang="en-US" sz="1800" dirty="0"/>
          </a:p>
          <a:p>
            <a:pPr indent="0" marL="0">
              <a:buNone/>
            </a:pPr>
            <a:r>
              <a:rPr lang="en-US" sz="1800" dirty="0">
                <a:solidFill>
                  <a:schemeClr val="tx1"/>
                </a:solidFill>
              </a:rPr>
              <a:t>Lexical cues align with event phases; predicate telicity with endpoints.</a:t>
            </a:r>
            <a:endParaRPr lang="en-US" sz="1800" dirty="0"/>
          </a:p>
        </p:txBody>
      </p:sp>
      <p:sp>
        <p:nvSpPr>
          <p:cNvPr id="7" name="Shape 4"/>
          <p:cNvSpPr/>
          <p:nvPr/>
        </p:nvSpPr>
        <p:spPr>
          <a:xfrm>
            <a:off x="5623560" y="1325880"/>
            <a:ext cx="6019495" cy="3931920"/>
          </a:xfrm>
          <a:prstGeom prst="roundRect">
            <a:avLst>
              <a:gd name="adj" fmla="val 2326"/>
            </a:avLst>
          </a:prstGeom>
          <a:solidFill>
            <a:schemeClr val="bg2"/>
          </a:solidFill>
          <a:ln/>
        </p:spPr>
      </p:sp>
      <p:sp>
        <p:nvSpPr>
          <p:cNvPr id="8" name="Text 5"/>
          <p:cNvSpPr txBox="1"/>
          <p:nvPr/>
        </p:nvSpPr>
        <p:spPr>
          <a:xfrm>
            <a:off x="5852160" y="1508760"/>
            <a:ext cx="5562295" cy="411480"/>
          </a:xfrm>
          <a:prstGeom prst="rect">
            <a:avLst/>
          </a:prstGeom>
          <a:noFill/>
          <a:ln/>
        </p:spPr>
        <p:txBody>
          <a:bodyPr wrap="square" lIns="0" tIns="0" rIns="0" bIns="0" rtlCol="0" anchor="t"/>
          <a:lstStyle/>
          <a:p>
            <a:pPr indent="0" marL="0">
              <a:buNone/>
            </a:pPr>
            <a:r>
              <a:rPr lang="en-US" sz="2200" b="1" dirty="0">
                <a:solidFill>
                  <a:schemeClr val="tx2"/>
                </a:solidFill>
              </a:rPr>
              <a:t>Each level, its own measure</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Lexical: NPs, resultatives</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Event phases (detection)</a:t>
            </a:r>
            <a:endParaRPr lang="en-US" sz="1800" dirty="0"/>
          </a:p>
        </p:txBody>
      </p:sp>
      <p:sp>
        <p:nvSpPr>
          <p:cNvPr id="13" name="Shape 10"/>
          <p:cNvSpPr/>
          <p:nvPr/>
        </p:nvSpPr>
        <p:spPr>
          <a:xfrm>
            <a:off x="8496148" y="2350008"/>
            <a:ext cx="274320" cy="274320"/>
          </a:xfrm>
          <a:prstGeom prst="rightArrow">
            <a:avLst/>
          </a:prstGeom>
          <a:solidFill>
            <a:schemeClr val="accent3"/>
          </a:solidFill>
          <a:ln/>
        </p:spPr>
      </p:sp>
      <p:sp>
        <p:nvSpPr>
          <p:cNvPr id="14" name="Text 11"/>
          <p:cNvSpPr txBox="1"/>
          <p:nvPr/>
        </p:nvSpPr>
        <p:spPr>
          <a:xfrm>
            <a:off x="5852160" y="2926080"/>
            <a:ext cx="5562295" cy="411480"/>
          </a:xfrm>
          <a:prstGeom prst="rect">
            <a:avLst/>
          </a:prstGeom>
          <a:noFill/>
          <a:ln/>
        </p:spPr>
        <p:txBody>
          <a:bodyPr wrap="square" lIns="0" tIns="0" rIns="0" bIns="0" rtlCol="0" anchor="t"/>
          <a:lstStyle/>
          <a:p>
            <a:pPr indent="0" marL="0">
              <a:buNone/>
            </a:pPr>
            <a:r>
              <a:rPr lang="en-US" sz="1800" i="1" dirty="0">
                <a:solidFill>
                  <a:schemeClr val="tx1"/>
                </a:solidFill>
              </a:rPr>
              <a:t>Blending: English early, Mandarin late</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Predicate: telicity</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Endpoints (tapping)</a:t>
            </a:r>
            <a:endParaRPr lang="en-US" sz="1800" dirty="0"/>
          </a:p>
        </p:txBody>
      </p:sp>
      <p:sp>
        <p:nvSpPr>
          <p:cNvPr id="19" name="Shape 16"/>
          <p:cNvSpPr/>
          <p:nvPr/>
        </p:nvSpPr>
        <p:spPr>
          <a:xfrm>
            <a:off x="8496148" y="3675888"/>
            <a:ext cx="274320" cy="274320"/>
          </a:xfrm>
          <a:prstGeom prst="rightArrow">
            <a:avLst/>
          </a:prstGeom>
          <a:solidFill>
            <a:schemeClr val="accent3"/>
          </a:solidFill>
          <a:ln/>
        </p:spPr>
      </p:sp>
      <p:sp>
        <p:nvSpPr>
          <p:cNvPr id="20" name="Text 17"/>
          <p:cNvSpPr txBox="1"/>
          <p:nvPr/>
        </p:nvSpPr>
        <p:spPr>
          <a:xfrm>
            <a:off x="5852160" y="4251960"/>
            <a:ext cx="5562295" cy="411480"/>
          </a:xfrm>
          <a:prstGeom prst="rect">
            <a:avLst/>
          </a:prstGeom>
          <a:noFill/>
          <a:ln/>
        </p:spPr>
        <p:txBody>
          <a:bodyPr wrap="square" lIns="0" tIns="0" rIns="0" bIns="0" rtlCol="0" anchor="t"/>
          <a:lstStyle/>
          <a:p>
            <a:pPr indent="0" marL="0">
              <a:buNone/>
            </a:pPr>
            <a:r>
              <a:rPr lang="en-US" sz="1800" i="1" dirty="0">
                <a:solidFill>
                  <a:schemeClr val="tx1"/>
                </a:solidFill>
              </a:rPr>
              <a:t>Cutting: Mandarin ends 862 ms later</a:t>
            </a:r>
            <a:endParaRPr lang="en-US" sz="1800" dirty="0"/>
          </a:p>
        </p:txBody>
      </p:sp>
      <p:sp>
        <p:nvSpPr>
          <p:cNvPr id="21" name="Text 18"/>
          <p:cNvSpPr txBox="1"/>
          <p:nvPr/>
        </p:nvSpPr>
        <p:spPr>
          <a:xfrm>
            <a:off x="5852160" y="4526280"/>
            <a:ext cx="5562295" cy="640080"/>
          </a:xfrm>
          <a:prstGeom prst="rect">
            <a:avLst/>
          </a:prstGeom>
          <a:noFill/>
          <a:ln/>
        </p:spPr>
        <p:txBody>
          <a:bodyPr wrap="square" lIns="0" tIns="0" rIns="0" bIns="0" rtlCol="0" anchor="ctr"/>
          <a:lstStyle/>
          <a:p>
            <a:pPr indent="0" marL="0">
              <a:buNone/>
            </a:pPr>
            <a:r>
              <a:rPr lang="en-US" sz="1800" b="1" dirty="0">
                <a:solidFill>
                  <a:schemeClr val="accent2"/>
                </a:solidFill>
              </a:rPr>
              <a:t>Exp 4–5: brief primes did not shift either level</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Study 2: Children’s action–result language (with Yue Ji)</a:t>
            </a:r>
            <a:endParaRPr lang="en-US" sz="3000" dirty="0"/>
          </a:p>
        </p:txBody>
      </p:sp>
      <p:sp>
        <p:nvSpPr>
          <p:cNvPr id="4" name="Text 1"/>
          <p:cNvSpPr txBox="1"/>
          <p:nvPr/>
        </p:nvSpPr>
        <p:spPr>
          <a:xfrm>
            <a:off x="548640" y="137160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Question</a:t>
            </a:r>
            <a:endParaRPr lang="en-US" sz="1800" dirty="0"/>
          </a:p>
          <a:p>
            <a:pPr indent="0" marL="0">
              <a:buNone/>
            </a:pPr>
            <a:r>
              <a:rPr lang="en-US" sz="1800" dirty="0">
                <a:solidFill>
                  <a:schemeClr val="tx1"/>
                </a:solidFill>
              </a:rPr>
              <a:t>Why do children reject “she peeled it” when the lychee stays closed?</a:t>
            </a:r>
            <a:endParaRPr lang="en-US" sz="1800" dirty="0"/>
          </a:p>
        </p:txBody>
      </p:sp>
      <p:sp>
        <p:nvSpPr>
          <p:cNvPr id="5" name="Text 2"/>
          <p:cNvSpPr txBox="1"/>
          <p:nvPr/>
        </p:nvSpPr>
        <p:spPr>
          <a:xfrm>
            <a:off x="548640" y="269748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Design</a:t>
            </a:r>
            <a:endParaRPr lang="en-US" sz="1800" dirty="0"/>
          </a:p>
          <a:p>
            <a:pPr indent="0" marL="0">
              <a:buNone/>
            </a:pPr>
            <a:r>
              <a:rPr lang="en-US" sz="1800" dirty="0">
                <a:solidFill>
                  <a:schemeClr val="tx1"/>
                </a:solidFill>
              </a:rPr>
              <a:t>10 action pairs, result attained or not; ages 4–5 and adults</a:t>
            </a:r>
            <a:endParaRPr lang="en-US" sz="1800" dirty="0"/>
          </a:p>
        </p:txBody>
      </p:sp>
      <p:sp>
        <p:nvSpPr>
          <p:cNvPr id="6" name="Text 3"/>
          <p:cNvSpPr txBox="1"/>
          <p:nvPr/>
        </p:nvSpPr>
        <p:spPr>
          <a:xfrm>
            <a:off x="548640" y="4023360"/>
            <a:ext cx="4663440" cy="1234440"/>
          </a:xfrm>
          <a:prstGeom prst="rect">
            <a:avLst/>
          </a:prstGeom>
          <a:noFill/>
          <a:ln/>
        </p:spPr>
        <p:txBody>
          <a:bodyPr wrap="square" lIns="0" tIns="0" rIns="0" bIns="0" rtlCol="0" anchor="t"/>
          <a:lstStyle/>
          <a:p>
            <a:pPr indent="0" marL="0">
              <a:buNone/>
            </a:pPr>
            <a:r>
              <a:rPr lang="en-US" sz="2200" b="1" dirty="0">
                <a:solidFill>
                  <a:schemeClr val="accent2"/>
                </a:solidFill>
              </a:rPr>
              <a:t>Finding</a:t>
            </a:r>
            <a:endParaRPr lang="en-US" sz="1800" dirty="0"/>
          </a:p>
          <a:p>
            <a:pPr indent="0" marL="0">
              <a:buNone/>
            </a:pPr>
            <a:r>
              <a:rPr lang="en-US" sz="1800" dirty="0">
                <a:solidFill>
                  <a:schemeClr val="tx1"/>
                </a:solidFill>
              </a:rPr>
              <a:t>Result strength belongs to the action–object–result relation.</a:t>
            </a:r>
            <a:endParaRPr lang="en-US" sz="1800" dirty="0"/>
          </a:p>
        </p:txBody>
      </p:sp>
      <p:sp>
        <p:nvSpPr>
          <p:cNvPr id="7" name="Shape 4"/>
          <p:cNvSpPr/>
          <p:nvPr/>
        </p:nvSpPr>
        <p:spPr>
          <a:xfrm>
            <a:off x="5623560" y="1325880"/>
            <a:ext cx="6019495" cy="3931920"/>
          </a:xfrm>
          <a:prstGeom prst="roundRect">
            <a:avLst>
              <a:gd name="adj" fmla="val 2326"/>
            </a:avLst>
          </a:prstGeom>
          <a:solidFill>
            <a:schemeClr val="bg2"/>
          </a:solidFill>
          <a:ln/>
        </p:spPr>
      </p:sp>
      <p:sp>
        <p:nvSpPr>
          <p:cNvPr id="8" name="Text 5"/>
          <p:cNvSpPr txBox="1"/>
          <p:nvPr/>
        </p:nvSpPr>
        <p:spPr>
          <a:xfrm>
            <a:off x="5852160" y="1508760"/>
            <a:ext cx="5562295" cy="411480"/>
          </a:xfrm>
          <a:prstGeom prst="rect">
            <a:avLst/>
          </a:prstGeom>
          <a:noFill/>
          <a:ln/>
        </p:spPr>
        <p:txBody>
          <a:bodyPr wrap="square" lIns="0" tIns="0" rIns="0" bIns="0" rtlCol="0" anchor="t"/>
          <a:lstStyle/>
          <a:p>
            <a:pPr indent="0" marL="0">
              <a:buNone/>
            </a:pPr>
            <a:r>
              <a:rPr lang="en-US" sz="2200" b="1" dirty="0">
                <a:solidFill>
                  <a:schemeClr val="tx2"/>
                </a:solidFill>
              </a:rPr>
              <a:t>Same object and result, different action</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剥 bāo “peel” lychee</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Open: likelihood 93</a:t>
            </a:r>
            <a:endParaRPr lang="en-US" sz="1800" dirty="0"/>
          </a:p>
        </p:txBody>
      </p:sp>
      <p:sp>
        <p:nvSpPr>
          <p:cNvPr id="13" name="Shape 10"/>
          <p:cNvSpPr/>
          <p:nvPr/>
        </p:nvSpPr>
        <p:spPr>
          <a:xfrm>
            <a:off x="8496148" y="2350008"/>
            <a:ext cx="274320" cy="274320"/>
          </a:xfrm>
          <a:prstGeom prst="rightArrow">
            <a:avLst/>
          </a:prstGeom>
          <a:solidFill>
            <a:schemeClr val="accent3"/>
          </a:solidFill>
          <a:ln/>
        </p:spPr>
      </p:sp>
      <p:sp>
        <p:nvSpPr>
          <p:cNvPr id="14" name="Text 11"/>
          <p:cNvSpPr txBox="1"/>
          <p:nvPr/>
        </p:nvSpPr>
        <p:spPr>
          <a:xfrm>
            <a:off x="5852160" y="2926080"/>
            <a:ext cx="5562295" cy="411480"/>
          </a:xfrm>
          <a:prstGeom prst="rect">
            <a:avLst/>
          </a:prstGeom>
          <a:noFill/>
          <a:ln/>
        </p:spPr>
        <p:txBody>
          <a:bodyPr wrap="square" lIns="0" tIns="0" rIns="0" bIns="0" rtlCol="0" anchor="t"/>
          <a:lstStyle/>
          <a:p>
            <a:pPr indent="0" marL="0">
              <a:buNone/>
            </a:pPr>
            <a:r>
              <a:rPr lang="en-US" sz="1800" i="1" dirty="0">
                <a:solidFill>
                  <a:schemeClr val="tx1"/>
                </a:solidFill>
              </a:rPr>
              <a:t>Strong result association</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捏 niē “squeeze” lychee</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Open: likelihood 65</a:t>
            </a:r>
            <a:endParaRPr lang="en-US" sz="1800" dirty="0"/>
          </a:p>
        </p:txBody>
      </p:sp>
      <p:sp>
        <p:nvSpPr>
          <p:cNvPr id="19" name="Shape 16"/>
          <p:cNvSpPr/>
          <p:nvPr/>
        </p:nvSpPr>
        <p:spPr>
          <a:xfrm>
            <a:off x="8496148" y="3675888"/>
            <a:ext cx="274320" cy="274320"/>
          </a:xfrm>
          <a:prstGeom prst="rightArrow">
            <a:avLst/>
          </a:prstGeom>
          <a:solidFill>
            <a:schemeClr val="accent3"/>
          </a:solidFill>
          <a:ln/>
        </p:spPr>
      </p:sp>
      <p:sp>
        <p:nvSpPr>
          <p:cNvPr id="20" name="Text 17"/>
          <p:cNvSpPr txBox="1"/>
          <p:nvPr/>
        </p:nvSpPr>
        <p:spPr>
          <a:xfrm>
            <a:off x="5852160" y="4251960"/>
            <a:ext cx="5562295" cy="411480"/>
          </a:xfrm>
          <a:prstGeom prst="rect">
            <a:avLst/>
          </a:prstGeom>
          <a:noFill/>
          <a:ln/>
        </p:spPr>
        <p:txBody>
          <a:bodyPr wrap="square" lIns="0" tIns="0" rIns="0" bIns="0" rtlCol="0" anchor="t"/>
          <a:lstStyle/>
          <a:p>
            <a:pPr indent="0" marL="0">
              <a:buNone/>
            </a:pPr>
            <a:r>
              <a:rPr lang="en-US" sz="1800" i="1" dirty="0">
                <a:solidFill>
                  <a:schemeClr val="tx1"/>
                </a:solidFill>
              </a:rPr>
              <a:t>Weaker result association</a:t>
            </a:r>
            <a:endParaRPr lang="en-US" sz="1800" dirty="0"/>
          </a:p>
        </p:txBody>
      </p:sp>
      <p:sp>
        <p:nvSpPr>
          <p:cNvPr id="21" name="Text 18"/>
          <p:cNvSpPr txBox="1"/>
          <p:nvPr/>
        </p:nvSpPr>
        <p:spPr>
          <a:xfrm>
            <a:off x="5852160" y="4526280"/>
            <a:ext cx="5562295" cy="640080"/>
          </a:xfrm>
          <a:prstGeom prst="rect">
            <a:avLst/>
          </a:prstGeom>
          <a:noFill/>
          <a:ln/>
        </p:spPr>
        <p:txBody>
          <a:bodyPr wrap="square" lIns="0" tIns="0" rIns="0" bIns="0" rtlCol="0" anchor="ctr"/>
          <a:lstStyle/>
          <a:p>
            <a:pPr indent="0" marL="0">
              <a:buNone/>
            </a:pPr>
            <a:r>
              <a:rPr lang="en-US" sz="1800" b="1" dirty="0">
                <a:solidFill>
                  <a:schemeClr val="accent2"/>
                </a:solidFill>
              </a:rPr>
              <a:t>Stronger association, more rejection of V1</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Study 3: A pragmatic account of superordinates in Mandarin</a:t>
            </a:r>
            <a:endParaRPr lang="en-US" sz="3000" dirty="0"/>
          </a:p>
        </p:txBody>
      </p:sp>
      <p:sp>
        <p:nvSpPr>
          <p:cNvPr id="4" name="Text 1"/>
          <p:cNvSpPr txBox="1"/>
          <p:nvPr/>
        </p:nvSpPr>
        <p:spPr>
          <a:xfrm>
            <a:off x="548640" y="137160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Question</a:t>
            </a:r>
            <a:endParaRPr lang="en-US" sz="1800" dirty="0"/>
          </a:p>
          <a:p>
            <a:pPr indent="0" marL="0">
              <a:buNone/>
            </a:pPr>
            <a:r>
              <a:rPr lang="en-US" sz="1800" dirty="0">
                <a:solidFill>
                  <a:schemeClr val="tx1"/>
                </a:solidFill>
              </a:rPr>
              <a:t>Does the pragmatic-informativeness account (Choe &amp; Papafragou) hold beyond English?</a:t>
            </a:r>
            <a:endParaRPr lang="en-US" sz="1800" dirty="0"/>
          </a:p>
        </p:txBody>
      </p:sp>
      <p:sp>
        <p:nvSpPr>
          <p:cNvPr id="5" name="Text 2"/>
          <p:cNvSpPr txBox="1"/>
          <p:nvPr/>
        </p:nvSpPr>
        <p:spPr>
          <a:xfrm>
            <a:off x="548640" y="2697480"/>
            <a:ext cx="4663440" cy="1234440"/>
          </a:xfrm>
          <a:prstGeom prst="rect">
            <a:avLst/>
          </a:prstGeom>
          <a:noFill/>
          <a:ln/>
        </p:spPr>
        <p:txBody>
          <a:bodyPr wrap="square" lIns="0" tIns="0" rIns="0" bIns="0" rtlCol="0" anchor="t"/>
          <a:lstStyle/>
          <a:p>
            <a:pPr indent="0" marL="0">
              <a:buNone/>
            </a:pPr>
            <a:r>
              <a:rPr lang="en-US" sz="2200" b="1" dirty="0">
                <a:solidFill>
                  <a:schemeClr val="tx2"/>
                </a:solidFill>
              </a:rPr>
              <a:t>Design</a:t>
            </a:r>
            <a:endParaRPr lang="en-US" sz="1800" dirty="0"/>
          </a:p>
          <a:p>
            <a:pPr indent="0" marL="0">
              <a:buNone/>
            </a:pPr>
            <a:r>
              <a:rPr lang="en-US" sz="1800" dirty="0">
                <a:solidFill>
                  <a:schemeClr val="tx1"/>
                </a:solidFill>
              </a:rPr>
              <a:t>Two corpus studies of Mandarin child-directed speech, compared with English</a:t>
            </a:r>
            <a:endParaRPr lang="en-US" sz="1800" dirty="0"/>
          </a:p>
        </p:txBody>
      </p:sp>
      <p:sp>
        <p:nvSpPr>
          <p:cNvPr id="6" name="Text 3"/>
          <p:cNvSpPr txBox="1"/>
          <p:nvPr/>
        </p:nvSpPr>
        <p:spPr>
          <a:xfrm>
            <a:off x="548640" y="4023360"/>
            <a:ext cx="4663440" cy="1234440"/>
          </a:xfrm>
          <a:prstGeom prst="rect">
            <a:avLst/>
          </a:prstGeom>
          <a:noFill/>
          <a:ln/>
        </p:spPr>
        <p:txBody>
          <a:bodyPr wrap="square" lIns="0" tIns="0" rIns="0" bIns="0" rtlCol="0" anchor="t"/>
          <a:lstStyle/>
          <a:p>
            <a:pPr indent="0" marL="0">
              <a:buNone/>
            </a:pPr>
            <a:r>
              <a:rPr lang="en-US" sz="2200" b="1" dirty="0">
                <a:solidFill>
                  <a:schemeClr val="accent2"/>
                </a:solidFill>
              </a:rPr>
              <a:t>Finding</a:t>
            </a:r>
            <a:endParaRPr lang="en-US" sz="1800" dirty="0"/>
          </a:p>
          <a:p>
            <a:pPr indent="0" marL="0">
              <a:buNone/>
            </a:pPr>
            <a:r>
              <a:rPr lang="en-US" sz="1800" dirty="0">
                <a:solidFill>
                  <a:schemeClr val="tx1"/>
                </a:solidFill>
              </a:rPr>
              <a:t>The account replicates in Mandarin; cues do not predict AoA beyond frequency.</a:t>
            </a:r>
            <a:endParaRPr lang="en-US" sz="1800" dirty="0"/>
          </a:p>
        </p:txBody>
      </p:sp>
      <p:sp>
        <p:nvSpPr>
          <p:cNvPr id="7" name="Shape 4"/>
          <p:cNvSpPr/>
          <p:nvPr/>
        </p:nvSpPr>
        <p:spPr>
          <a:xfrm>
            <a:off x="5623560" y="1325880"/>
            <a:ext cx="6019495" cy="3931920"/>
          </a:xfrm>
          <a:prstGeom prst="roundRect">
            <a:avLst>
              <a:gd name="adj" fmla="val 2326"/>
            </a:avLst>
          </a:prstGeom>
          <a:solidFill>
            <a:schemeClr val="bg2"/>
          </a:solidFill>
          <a:ln/>
        </p:spPr>
      </p:sp>
      <p:sp>
        <p:nvSpPr>
          <p:cNvPr id="8" name="Text 5"/>
          <p:cNvSpPr txBox="1"/>
          <p:nvPr/>
        </p:nvSpPr>
        <p:spPr>
          <a:xfrm>
            <a:off x="5852160" y="1508760"/>
            <a:ext cx="5562295" cy="411480"/>
          </a:xfrm>
          <a:prstGeom prst="rect">
            <a:avLst/>
          </a:prstGeom>
          <a:noFill/>
          <a:ln/>
        </p:spPr>
        <p:txBody>
          <a:bodyPr wrap="square" lIns="0" tIns="0" rIns="0" bIns="0" rtlCol="0" anchor="t"/>
          <a:lstStyle/>
          <a:p>
            <a:pPr indent="0" marL="0">
              <a:buNone/>
            </a:pPr>
            <a:r>
              <a:rPr lang="en-US" sz="2200" b="1" dirty="0">
                <a:solidFill>
                  <a:schemeClr val="tx2"/>
                </a:solidFill>
              </a:rPr>
              <a:t>Two studies</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Study 1: context cues in the input</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Replicated in Mandarin</a:t>
            </a:r>
            <a:endParaRPr lang="en-US" sz="1800" dirty="0"/>
          </a:p>
        </p:txBody>
      </p:sp>
      <p:sp>
        <p:nvSpPr>
          <p:cNvPr id="13" name="Shape 10"/>
          <p:cNvSpPr/>
          <p:nvPr/>
        </p:nvSpPr>
        <p:spPr>
          <a:xfrm>
            <a:off x="8496148" y="2350008"/>
            <a:ext cx="274320" cy="274320"/>
          </a:xfrm>
          <a:prstGeom prst="rightArrow">
            <a:avLst/>
          </a:prstGeom>
          <a:solidFill>
            <a:schemeClr val="accent3"/>
          </a:solidFill>
          <a:ln/>
        </p:spPr>
      </p:sp>
      <p:sp>
        <p:nvSpPr>
          <p:cNvPr id="14" name="Text 11"/>
          <p:cNvSpPr txBox="1"/>
          <p:nvPr/>
        </p:nvSpPr>
        <p:spPr>
          <a:xfrm>
            <a:off x="5852160" y="2926080"/>
            <a:ext cx="5562295" cy="411480"/>
          </a:xfrm>
          <a:prstGeom prst="rect">
            <a:avLst/>
          </a:prstGeom>
          <a:noFill/>
          <a:ln/>
        </p:spPr>
        <p:txBody>
          <a:bodyPr wrap="square" lIns="0" tIns="0" rIns="0" bIns="0" rtlCol="0" anchor="t"/>
          <a:lstStyle/>
          <a:p>
            <a:pPr indent="0" marL="0">
              <a:buNone/>
            </a:pPr>
            <a:r>
              <a:rPr lang="en-US" sz="1800" i="1" dirty="0">
                <a:solidFill>
                  <a:schemeClr val="tx1"/>
                </a:solidFill>
              </a:rPr>
              <a:t>All 4 contexts, OR 2.1–8.2; classifier AUC = .73</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Study 2: cues and age of acquisition</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a:ln/>
        </p:spPr>
        <p:txBody>
          <a:bodyPr wrap="square" lIns="0" tIns="0" rIns="0" bIns="0" rtlCol="0" anchor="ctr"/>
          <a:lstStyle/>
          <a:p>
            <a:pPr algn="ctr" indent="0" marL="0">
              <a:buNone/>
            </a:pPr>
            <a:r>
              <a:rPr lang="en-US" sz="1800" dirty="0">
                <a:solidFill>
                  <a:schemeClr val="tx1"/>
                </a:solidFill>
              </a:rPr>
              <a:t>Frequency predicts; cues add little</a:t>
            </a:r>
            <a:endParaRPr lang="en-US" sz="1800" dirty="0"/>
          </a:p>
        </p:txBody>
      </p:sp>
      <p:sp>
        <p:nvSpPr>
          <p:cNvPr id="19" name="Shape 16"/>
          <p:cNvSpPr/>
          <p:nvPr/>
        </p:nvSpPr>
        <p:spPr>
          <a:xfrm>
            <a:off x="8496148" y="3675888"/>
            <a:ext cx="274320" cy="274320"/>
          </a:xfrm>
          <a:prstGeom prst="rightArrow">
            <a:avLst/>
          </a:prstGeom>
          <a:solidFill>
            <a:schemeClr val="accent3"/>
          </a:solidFill>
          <a:ln/>
        </p:spPr>
      </p:sp>
      <p:sp>
        <p:nvSpPr>
          <p:cNvPr id="20" name="Text 17"/>
          <p:cNvSpPr txBox="1"/>
          <p:nvPr/>
        </p:nvSpPr>
        <p:spPr>
          <a:xfrm>
            <a:off x="5852160" y="4251960"/>
            <a:ext cx="5562295" cy="411480"/>
          </a:xfrm>
          <a:prstGeom prst="rect">
            <a:avLst/>
          </a:prstGeom>
          <a:noFill/>
          <a:ln/>
        </p:spPr>
        <p:txBody>
          <a:bodyPr wrap="square" lIns="0" tIns="0" rIns="0" bIns="0" rtlCol="0" anchor="t"/>
          <a:lstStyle/>
          <a:p>
            <a:pPr indent="0" marL="0">
              <a:buNone/>
            </a:pPr>
            <a:r>
              <a:rPr lang="en-US" sz="1800" i="1" dirty="0">
                <a:solidFill>
                  <a:schemeClr val="tx1"/>
                </a:solidFill>
              </a:rPr>
              <a:t>Same pattern in Mandarin and English</a:t>
            </a:r>
            <a:endParaRPr lang="en-US" sz="1800" dirty="0"/>
          </a:p>
        </p:txBody>
      </p:sp>
      <p:sp>
        <p:nvSpPr>
          <p:cNvPr id="21" name="Text 18"/>
          <p:cNvSpPr txBox="1"/>
          <p:nvPr/>
        </p:nvSpPr>
        <p:spPr>
          <a:xfrm>
            <a:off x="5852160" y="4526280"/>
            <a:ext cx="5562295" cy="640080"/>
          </a:xfrm>
          <a:prstGeom prst="rect">
            <a:avLst/>
          </a:prstGeom>
          <a:noFill/>
          <a:ln/>
        </p:spPr>
        <p:txBody>
          <a:bodyPr wrap="square" lIns="0" tIns="0" rIns="0" bIns="0" rtlCol="0" anchor="ctr"/>
          <a:lstStyle/>
          <a:p>
            <a:pPr indent="0" marL="0">
              <a:buNone/>
            </a:pPr>
            <a:r>
              <a:rPr lang="en-US" sz="1800" b="1" dirty="0">
                <a:solidFill>
                  <a:schemeClr val="accent2"/>
                </a:solidFill>
              </a:rPr>
              <a:t>Language and Cognition, minor revision</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From the thesis to three questions</a:t>
            </a:r>
            <a:endParaRPr lang="en-US" sz="3000" dirty="0"/>
          </a:p>
        </p:txBody>
      </p:sp>
      <p:sp>
        <p:nvSpPr>
          <p:cNvPr id="4" name="Text 1"/>
          <p:cNvSpPr txBox="1"/>
          <p:nvPr/>
        </p:nvSpPr>
        <p:spPr>
          <a:xfrm>
            <a:off x="1325880" y="1325880"/>
            <a:ext cx="6035040" cy="411480"/>
          </a:xfrm>
          <a:prstGeom prst="rect">
            <a:avLst/>
          </a:prstGeom>
          <a:noFill/>
          <a:ln/>
        </p:spPr>
        <p:txBody>
          <a:bodyPr wrap="square" lIns="0" tIns="0" rIns="0" bIns="0" rtlCol="0" anchor="t"/>
          <a:lstStyle/>
          <a:p>
            <a:pPr indent="0" marL="0">
              <a:buNone/>
            </a:pPr>
            <a:r>
              <a:rPr lang="en-US" sz="1800" b="1" dirty="0">
                <a:solidFill>
                  <a:schemeClr val="accent3"/>
                </a:solidFill>
              </a:rPr>
              <a:t>Open question</a:t>
            </a:r>
            <a:endParaRPr lang="en-US" sz="1800" dirty="0"/>
          </a:p>
        </p:txBody>
      </p:sp>
      <p:sp>
        <p:nvSpPr>
          <p:cNvPr id="5" name="Text 2"/>
          <p:cNvSpPr txBox="1"/>
          <p:nvPr/>
        </p:nvSpPr>
        <p:spPr>
          <a:xfrm>
            <a:off x="7863840" y="1325880"/>
            <a:ext cx="3749040" cy="411480"/>
          </a:xfrm>
          <a:prstGeom prst="rect">
            <a:avLst/>
          </a:prstGeom>
          <a:noFill/>
          <a:ln/>
        </p:spPr>
        <p:txBody>
          <a:bodyPr wrap="square" lIns="0" tIns="0" rIns="0" bIns="0" rtlCol="0" anchor="t"/>
          <a:lstStyle/>
          <a:p>
            <a:pPr indent="0" marL="0">
              <a:buNone/>
            </a:pPr>
            <a:r>
              <a:rPr lang="en-US" sz="1800" b="1" dirty="0">
                <a:solidFill>
                  <a:schemeClr val="accent3"/>
                </a:solidFill>
              </a:rPr>
              <a:t>Approach</a:t>
            </a:r>
            <a:endParaRPr lang="en-US" sz="1800" dirty="0"/>
          </a:p>
        </p:txBody>
      </p:sp>
      <p:sp>
        <p:nvSpPr>
          <p:cNvPr id="6" name="Shape 3"/>
          <p:cNvSpPr/>
          <p:nvPr/>
        </p:nvSpPr>
        <p:spPr>
          <a:xfrm>
            <a:off x="548640" y="1984248"/>
            <a:ext cx="548640" cy="548640"/>
          </a:xfrm>
          <a:prstGeom prst="ellipse">
            <a:avLst/>
          </a:prstGeom>
          <a:solidFill>
            <a:schemeClr val="accent1"/>
          </a:solidFill>
          <a:ln/>
        </p:spPr>
      </p:sp>
      <p:sp>
        <p:nvSpPr>
          <p:cNvPr id="7" name="Text 4"/>
          <p:cNvSpPr txBox="1"/>
          <p:nvPr/>
        </p:nvSpPr>
        <p:spPr>
          <a:xfrm>
            <a:off x="548640" y="198424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1325880" y="187452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When do these differences emerge?</a:t>
            </a:r>
            <a:endParaRPr lang="en-US" sz="2200" dirty="0"/>
          </a:p>
        </p:txBody>
      </p:sp>
      <p:sp>
        <p:nvSpPr>
          <p:cNvPr id="9" name="Shape 6"/>
          <p:cNvSpPr/>
          <p:nvPr/>
        </p:nvSpPr>
        <p:spPr>
          <a:xfrm>
            <a:off x="7863840" y="1874520"/>
            <a:ext cx="3779215" cy="777240"/>
          </a:xfrm>
          <a:prstGeom prst="roundRect">
            <a:avLst>
              <a:gd name="adj" fmla="val 11765"/>
            </a:avLst>
          </a:prstGeom>
          <a:solidFill>
            <a:schemeClr val="bg2"/>
          </a:solidFill>
          <a:ln/>
        </p:spPr>
      </p:sp>
      <p:sp>
        <p:nvSpPr>
          <p:cNvPr id="10" name="Text 7"/>
          <p:cNvSpPr txBox="1"/>
          <p:nvPr/>
        </p:nvSpPr>
        <p:spPr>
          <a:xfrm>
            <a:off x="8046720" y="187452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1: </a:t>
            </a:r>
            <a:pPr indent="0" marL="0">
              <a:buNone/>
            </a:pPr>
            <a:r>
              <a:rPr lang="en-US" sz="1800" dirty="0">
                <a:solidFill>
                  <a:schemeClr val="tx1"/>
                </a:solidFill>
              </a:rPr>
              <a:t>Development</a:t>
            </a:r>
            <a:endParaRPr lang="en-US" sz="1800" dirty="0"/>
          </a:p>
        </p:txBody>
      </p:sp>
      <p:sp>
        <p:nvSpPr>
          <p:cNvPr id="11" name="Shape 8"/>
          <p:cNvSpPr/>
          <p:nvPr/>
        </p:nvSpPr>
        <p:spPr>
          <a:xfrm>
            <a:off x="548640" y="3035808"/>
            <a:ext cx="548640" cy="548640"/>
          </a:xfrm>
          <a:prstGeom prst="ellipse">
            <a:avLst/>
          </a:prstGeom>
          <a:solidFill>
            <a:schemeClr val="accent1"/>
          </a:solidFill>
          <a:ln/>
        </p:spPr>
      </p:sp>
      <p:sp>
        <p:nvSpPr>
          <p:cNvPr id="12" name="Text 9"/>
          <p:cNvSpPr txBox="1"/>
          <p:nvPr/>
        </p:nvSpPr>
        <p:spPr>
          <a:xfrm>
            <a:off x="548640" y="303580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10"/>
          <p:cNvSpPr txBox="1"/>
          <p:nvPr/>
        </p:nvSpPr>
        <p:spPr>
          <a:xfrm>
            <a:off x="1325880" y="292608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Can sustained language change processing?</a:t>
            </a:r>
            <a:endParaRPr lang="en-US" sz="2200" dirty="0"/>
          </a:p>
        </p:txBody>
      </p:sp>
      <p:sp>
        <p:nvSpPr>
          <p:cNvPr id="14" name="Shape 11"/>
          <p:cNvSpPr/>
          <p:nvPr/>
        </p:nvSpPr>
        <p:spPr>
          <a:xfrm>
            <a:off x="7863840" y="2926080"/>
            <a:ext cx="3779215" cy="777240"/>
          </a:xfrm>
          <a:prstGeom prst="roundRect">
            <a:avLst>
              <a:gd name="adj" fmla="val 11765"/>
            </a:avLst>
          </a:prstGeom>
          <a:solidFill>
            <a:schemeClr val="bg2"/>
          </a:solidFill>
          <a:ln/>
        </p:spPr>
      </p:sp>
      <p:sp>
        <p:nvSpPr>
          <p:cNvPr id="15" name="Text 12"/>
          <p:cNvSpPr txBox="1"/>
          <p:nvPr/>
        </p:nvSpPr>
        <p:spPr>
          <a:xfrm>
            <a:off x="8046720" y="292608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2: </a:t>
            </a:r>
            <a:pPr indent="0" marL="0">
              <a:buNone/>
            </a:pPr>
            <a:r>
              <a:rPr lang="en-US" sz="1800" dirty="0">
                <a:solidFill>
                  <a:schemeClr val="tx1"/>
                </a:solidFill>
              </a:rPr>
              <a:t>Training</a:t>
            </a:r>
            <a:endParaRPr lang="en-US" sz="1800" dirty="0"/>
          </a:p>
        </p:txBody>
      </p:sp>
      <p:sp>
        <p:nvSpPr>
          <p:cNvPr id="16" name="Shape 13"/>
          <p:cNvSpPr/>
          <p:nvPr/>
        </p:nvSpPr>
        <p:spPr>
          <a:xfrm>
            <a:off x="548640" y="4087368"/>
            <a:ext cx="548640" cy="548640"/>
          </a:xfrm>
          <a:prstGeom prst="ellipse">
            <a:avLst/>
          </a:prstGeom>
          <a:solidFill>
            <a:schemeClr val="accent1"/>
          </a:solidFill>
          <a:ln/>
        </p:spPr>
      </p:sp>
      <p:sp>
        <p:nvSpPr>
          <p:cNvPr id="17" name="Text 14"/>
          <p:cNvSpPr txBox="1"/>
          <p:nvPr/>
        </p:nvSpPr>
        <p:spPr>
          <a:xfrm>
            <a:off x="548640" y="408736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Text 15"/>
          <p:cNvSpPr txBox="1"/>
          <p:nvPr/>
        </p:nvSpPr>
        <p:spPr>
          <a:xfrm>
            <a:off x="1325880" y="397764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Does text alone yield both levels?</a:t>
            </a:r>
            <a:endParaRPr lang="en-US" sz="2200" dirty="0"/>
          </a:p>
        </p:txBody>
      </p:sp>
      <p:sp>
        <p:nvSpPr>
          <p:cNvPr id="19" name="Shape 16"/>
          <p:cNvSpPr/>
          <p:nvPr/>
        </p:nvSpPr>
        <p:spPr>
          <a:xfrm>
            <a:off x="7863840" y="3977640"/>
            <a:ext cx="3779215" cy="777240"/>
          </a:xfrm>
          <a:prstGeom prst="roundRect">
            <a:avLst>
              <a:gd name="adj" fmla="val 11765"/>
            </a:avLst>
          </a:prstGeom>
          <a:solidFill>
            <a:schemeClr val="bg2"/>
          </a:solidFill>
          <a:ln/>
        </p:spPr>
      </p:sp>
      <p:sp>
        <p:nvSpPr>
          <p:cNvPr id="20" name="Text 17"/>
          <p:cNvSpPr txBox="1"/>
          <p:nvPr/>
        </p:nvSpPr>
        <p:spPr>
          <a:xfrm>
            <a:off x="8046720" y="397764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3: </a:t>
            </a:r>
            <a:pPr indent="0" marL="0">
              <a:buNone/>
            </a:pPr>
            <a:r>
              <a:rPr lang="en-US" sz="1800" dirty="0">
                <a:solidFill>
                  <a:schemeClr val="tx1"/>
                </a:solidFill>
              </a:rPr>
              <a:t>Language models</a:t>
            </a:r>
            <a:endParaRPr lang="en-US" sz="1800" dirty="0"/>
          </a:p>
        </p:txBody>
      </p:sp>
      <p:sp>
        <p:nvSpPr>
          <p:cNvPr id="21" name="Shape 18"/>
          <p:cNvSpPr/>
          <p:nvPr/>
        </p:nvSpPr>
        <p:spPr>
          <a:xfrm>
            <a:off x="548640" y="5257800"/>
            <a:ext cx="11094415" cy="685800"/>
          </a:xfrm>
          <a:prstGeom prst="roundRect">
            <a:avLst>
              <a:gd name="adj" fmla="val 10667"/>
            </a:avLst>
          </a:prstGeom>
          <a:solidFill>
            <a:schemeClr val="bg2"/>
          </a:solidFill>
          <a:ln/>
        </p:spPr>
      </p:sp>
      <p:sp>
        <p:nvSpPr>
          <p:cNvPr id="22" name="Text 19"/>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The limits of the thesis become the research plan.</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1: Two levels in children’s event processing</a:t>
            </a:r>
            <a:endParaRPr lang="en-US" sz="3000" dirty="0"/>
          </a:p>
        </p:txBody>
      </p:sp>
      <p:sp>
        <p:nvSpPr>
          <p:cNvPr id="4" name="Shape 1"/>
          <p:cNvSpPr/>
          <p:nvPr/>
        </p:nvSpPr>
        <p:spPr>
          <a:xfrm>
            <a:off x="548640" y="1371600"/>
            <a:ext cx="548640" cy="548640"/>
          </a:xfrm>
          <a:prstGeom prst="ellipse">
            <a:avLst/>
          </a:prstGeom>
          <a:solidFill>
            <a:schemeClr val="accent1"/>
          </a:solidFill>
          <a:ln/>
        </p:spPr>
      </p:sp>
      <p:sp>
        <p:nvSpPr>
          <p:cNvPr id="5"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280160" y="1280160"/>
            <a:ext cx="5577840" cy="731520"/>
          </a:xfrm>
          <a:prstGeom prst="rect">
            <a:avLst/>
          </a:prstGeom>
          <a:noFill/>
          <a:ln/>
        </p:spPr>
        <p:txBody>
          <a:bodyPr wrap="square" lIns="0" tIns="0" rIns="0" bIns="0" rtlCol="0" anchor="ctr"/>
          <a:lstStyle/>
          <a:p>
            <a:pPr indent="0" marL="0">
              <a:buNone/>
            </a:pPr>
            <a:r>
              <a:rPr lang="en-US" sz="1800" dirty="0">
                <a:solidFill>
                  <a:schemeClr val="tx1"/>
                </a:solidFill>
              </a:rPr>
              <a:t>New hands-only event pairs (撕开 vs. 揉皱)</a:t>
            </a:r>
            <a:endParaRPr lang="en-US" sz="1800" dirty="0"/>
          </a:p>
        </p:txBody>
      </p:sp>
      <p:sp>
        <p:nvSpPr>
          <p:cNvPr id="7" name="Shape 4"/>
          <p:cNvSpPr/>
          <p:nvPr/>
        </p:nvSpPr>
        <p:spPr>
          <a:xfrm>
            <a:off x="548640" y="2240280"/>
            <a:ext cx="548640" cy="548640"/>
          </a:xfrm>
          <a:prstGeom prst="ellipse">
            <a:avLst/>
          </a:prstGeom>
          <a:solidFill>
            <a:schemeClr val="accent1"/>
          </a:solidFill>
          <a:ln/>
        </p:spPr>
      </p:sp>
      <p:sp>
        <p:nvSpPr>
          <p:cNvPr id="8" name="Text 5"/>
          <p:cNvSpPr txBox="1"/>
          <p:nvPr/>
        </p:nvSpPr>
        <p:spPr>
          <a:xfrm>
            <a:off x="548640" y="2240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6"/>
          <p:cNvSpPr txBox="1"/>
          <p:nvPr/>
        </p:nvSpPr>
        <p:spPr>
          <a:xfrm>
            <a:off x="1280160" y="2148840"/>
            <a:ext cx="5577840" cy="731520"/>
          </a:xfrm>
          <a:prstGeom prst="rect">
            <a:avLst/>
          </a:prstGeom>
          <a:noFill/>
          <a:ln/>
        </p:spPr>
        <p:txBody>
          <a:bodyPr wrap="square" lIns="0" tIns="0" rIns="0" bIns="0" rtlCol="0" anchor="ctr"/>
          <a:lstStyle/>
          <a:p>
            <a:pPr indent="0" marL="0">
              <a:buNone/>
            </a:pPr>
            <a:r>
              <a:rPr lang="en-US" sz="1800" dirty="0">
                <a:solidFill>
                  <a:schemeClr val="tx1"/>
                </a:solidFill>
              </a:rPr>
              <a:t>Mandarin and English children, ages 3–6</a:t>
            </a:r>
            <a:endParaRPr lang="en-US" sz="1800" dirty="0"/>
          </a:p>
        </p:txBody>
      </p:sp>
      <p:sp>
        <p:nvSpPr>
          <p:cNvPr id="10" name="Shape 7"/>
          <p:cNvSpPr/>
          <p:nvPr/>
        </p:nvSpPr>
        <p:spPr>
          <a:xfrm>
            <a:off x="548640" y="3108960"/>
            <a:ext cx="548640" cy="548640"/>
          </a:xfrm>
          <a:prstGeom prst="ellipse">
            <a:avLst/>
          </a:prstGeom>
          <a:solidFill>
            <a:schemeClr val="accent1"/>
          </a:solidFill>
          <a:ln/>
        </p:spPr>
      </p:sp>
      <p:sp>
        <p:nvSpPr>
          <p:cNvPr id="11" name="Text 8"/>
          <p:cNvSpPr txBox="1"/>
          <p:nvPr/>
        </p:nvSpPr>
        <p:spPr>
          <a:xfrm>
            <a:off x="548640" y="3108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2" name="Text 9"/>
          <p:cNvSpPr txBox="1"/>
          <p:nvPr/>
        </p:nvSpPr>
        <p:spPr>
          <a:xfrm>
            <a:off x="1280160" y="3017520"/>
            <a:ext cx="5577840" cy="731520"/>
          </a:xfrm>
          <a:prstGeom prst="rect">
            <a:avLst/>
          </a:prstGeom>
          <a:noFill/>
          <a:ln/>
        </p:spPr>
        <p:txBody>
          <a:bodyPr wrap="square" lIns="0" tIns="0" rIns="0" bIns="0" rtlCol="0" anchor="ctr"/>
          <a:lstStyle/>
          <a:p>
            <a:pPr indent="0" marL="0">
              <a:buNone/>
            </a:pPr>
            <a:r>
              <a:rPr lang="en-US" sz="1800" dirty="0">
                <a:solidFill>
                  <a:schemeClr val="tx1"/>
                </a:solidFill>
              </a:rPr>
              <a:t>Describe: each child’s lexical and predicate encoding</a:t>
            </a:r>
            <a:endParaRPr lang="en-US" sz="1800" dirty="0"/>
          </a:p>
        </p:txBody>
      </p:sp>
      <p:sp>
        <p:nvSpPr>
          <p:cNvPr id="13" name="Shape 10"/>
          <p:cNvSpPr/>
          <p:nvPr/>
        </p:nvSpPr>
        <p:spPr>
          <a:xfrm>
            <a:off x="548640" y="3977640"/>
            <a:ext cx="548640" cy="548640"/>
          </a:xfrm>
          <a:prstGeom prst="ellipse">
            <a:avLst/>
          </a:prstGeom>
          <a:solidFill>
            <a:schemeClr val="accent1"/>
          </a:solidFill>
          <a:ln/>
        </p:spPr>
      </p:sp>
      <p:sp>
        <p:nvSpPr>
          <p:cNvPr id="14" name="Text 11"/>
          <p:cNvSpPr txBox="1"/>
          <p:nvPr/>
        </p:nvSpPr>
        <p:spPr>
          <a:xfrm>
            <a:off x="548640" y="3977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5" name="Text 12"/>
          <p:cNvSpPr txBox="1"/>
          <p:nvPr/>
        </p:nvSpPr>
        <p:spPr>
          <a:xfrm>
            <a:off x="1280160" y="3886200"/>
            <a:ext cx="5577840" cy="731520"/>
          </a:xfrm>
          <a:prstGeom prst="rect">
            <a:avLst/>
          </a:prstGeom>
          <a:noFill/>
          <a:ln/>
        </p:spPr>
        <p:txBody>
          <a:bodyPr wrap="square" lIns="0" tIns="0" rIns="0" bIns="0" rtlCol="0" anchor="ctr"/>
          <a:lstStyle/>
          <a:p>
            <a:pPr indent="0" marL="0">
              <a:buNone/>
            </a:pPr>
            <a:r>
              <a:rPr lang="en-US" sz="1800" dirty="0">
                <a:solidFill>
                  <a:schemeClr val="tx1"/>
                </a:solidFill>
              </a:rPr>
              <a:t>“Hiccup” detection (phases) and “done” tapping (endpoints)</a:t>
            </a:r>
            <a:endParaRPr lang="en-US" sz="1800" dirty="0"/>
          </a:p>
        </p:txBody>
      </p:sp>
      <p:sp>
        <p:nvSpPr>
          <p:cNvPr id="16" name="Text 13"/>
          <p:cNvSpPr txBox="1"/>
          <p:nvPr/>
        </p:nvSpPr>
        <p:spPr>
          <a:xfrm>
            <a:off x="7223760" y="1280160"/>
            <a:ext cx="4419295" cy="411480"/>
          </a:xfrm>
          <a:prstGeom prst="rect">
            <a:avLst/>
          </a:prstGeom>
          <a:noFill/>
          <a:ln/>
        </p:spPr>
        <p:txBody>
          <a:bodyPr wrap="square" lIns="0" tIns="0" rIns="0" bIns="0" rtlCol="0" anchor="t"/>
          <a:lstStyle/>
          <a:p>
            <a:pPr indent="0" marL="0">
              <a:buNone/>
            </a:pPr>
            <a:r>
              <a:rPr lang="en-US" sz="2200" b="1" dirty="0">
                <a:solidFill>
                  <a:schemeClr val="accent2"/>
                </a:solidFill>
              </a:rPr>
              <a:t>Crossed prediction</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223760" y="1828800"/>
          <a:ext cx="4419295" cy="914400"/>
        </p:xfrm>
        <a:graphic>
          <a:graphicData uri="http://schemas.openxmlformats.org/drawingml/2006/table">
            <a:tbl>
              <a:tblPr/>
              <a:tblGrid>
                <a:gridCol w="1874520"/>
                <a:gridCol w="1234440"/>
                <a:gridCol w="1310335"/>
              </a:tblGrid>
              <a:tr h="502920">
                <a:tc>
                  <a:txBody>
                    <a:bodyPr/>
                    <a:lstStyle/>
                    <a:p>
                      <a:pPr algn="ctr" indent="0" marL="0">
                        <a:buNone/>
                      </a:pPr>
                      <a:r>
                        <a:rPr lang="en-US" sz="1800" b="1" dirty="0">
                          <a:solidFill>
                            <a:schemeClr val="bg1"/>
                          </a:solidFill>
                        </a:rPr>
                        <a:t>Child’s encoding</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Phases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Endpoints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r>
              <a:tr h="502920">
                <a:tc>
                  <a:txBody>
                    <a:bodyPr/>
                    <a:lstStyle/>
                    <a:p>
                      <a:pPr algn="ctr" indent="0" marL="0">
                        <a:buNone/>
                      </a:pPr>
                      <a:r>
                        <a:rPr lang="en-US" sz="1800" b="1" dirty="0">
                          <a:solidFill>
                            <a:schemeClr val="tx1"/>
                          </a:solidFill>
                        </a:rPr>
                        <a:t>Lexical</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b="1" dirty="0">
                          <a:solidFill>
                            <a:schemeClr val="accent2"/>
                          </a:solidFill>
                        </a:rPr>
                        <a:t>Yes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dirty="0">
                          <a:solidFill>
                            <a:schemeClr val="accent3"/>
                          </a:solidFill>
                        </a:rPr>
                        <a:t>No</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r h="502920">
                <a:tc>
                  <a:txBody>
                    <a:bodyPr/>
                    <a:lstStyle/>
                    <a:p>
                      <a:pPr algn="ctr" indent="0" marL="0">
                        <a:buNone/>
                      </a:pPr>
                      <a:r>
                        <a:rPr lang="en-US" sz="1800" b="1" dirty="0">
                          <a:solidFill>
                            <a:schemeClr val="tx1"/>
                          </a:solidFill>
                        </a:rPr>
                        <a:t>Predicate</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dirty="0">
                          <a:solidFill>
                            <a:schemeClr val="accent3"/>
                          </a:solidFill>
                        </a:rPr>
                        <a:t>No</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b="1" dirty="0">
                          <a:solidFill>
                            <a:schemeClr val="accent2"/>
                          </a:solidFill>
                        </a:rPr>
                        <a:t>Yes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bl>
          </a:graphicData>
        </a:graphic>
      </p:graphicFrame>
      <p:sp>
        <p:nvSpPr>
          <p:cNvPr id="18" name="Text 14"/>
          <p:cNvSpPr txBox="1"/>
          <p:nvPr/>
        </p:nvSpPr>
        <p:spPr>
          <a:xfrm>
            <a:off x="7223760" y="3566160"/>
            <a:ext cx="4419295" cy="914400"/>
          </a:xfrm>
          <a:prstGeom prst="rect">
            <a:avLst/>
          </a:prstGeom>
          <a:noFill/>
          <a:ln/>
        </p:spPr>
        <p:txBody>
          <a:bodyPr wrap="square" lIns="0" tIns="0" rIns="0" bIns="0" rtlCol="0" anchor="t"/>
          <a:lstStyle/>
          <a:p>
            <a:pPr indent="0" marL="0">
              <a:buNone/>
            </a:pPr>
            <a:r>
              <a:rPr lang="en-US" sz="1800" dirty="0">
                <a:solidFill>
                  <a:schemeClr val="tx1"/>
                </a:solidFill>
              </a:rPr>
              <a:t>Plus a 6-month follow-up: does language change first?</a:t>
            </a:r>
            <a:endParaRPr lang="en-US" sz="1800" dirty="0"/>
          </a:p>
        </p:txBody>
      </p:sp>
      <p:sp>
        <p:nvSpPr>
          <p:cNvPr id="19" name="Shape 15"/>
          <p:cNvSpPr/>
          <p:nvPr/>
        </p:nvSpPr>
        <p:spPr>
          <a:xfrm>
            <a:off x="548640" y="5257800"/>
            <a:ext cx="11094415" cy="685800"/>
          </a:xfrm>
          <a:prstGeom prst="roundRect">
            <a:avLst>
              <a:gd name="adj" fmla="val 10667"/>
            </a:avLst>
          </a:prstGeom>
          <a:solidFill>
            <a:schemeClr val="bg2"/>
          </a:solidFill>
          <a:ln/>
        </p:spPr>
      </p:sp>
      <p:sp>
        <p:nvSpPr>
          <p:cNvPr id="20" name="Text 16"/>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A double dissociation within children, the test the thesis could not run.</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2: Can sustained training shift each level?</a:t>
            </a:r>
            <a:endParaRPr lang="en-US" sz="3000" dirty="0"/>
          </a:p>
        </p:txBody>
      </p:sp>
      <p:sp>
        <p:nvSpPr>
          <p:cNvPr id="4" name="Text 1"/>
          <p:cNvSpPr txBox="1"/>
          <p:nvPr/>
        </p:nvSpPr>
        <p:spPr>
          <a:xfrm>
            <a:off x="548640" y="1280160"/>
            <a:ext cx="6309360" cy="411480"/>
          </a:xfrm>
          <a:prstGeom prst="rect">
            <a:avLst/>
          </a:prstGeom>
          <a:noFill/>
          <a:ln/>
        </p:spPr>
        <p:txBody>
          <a:bodyPr wrap="square" lIns="0" tIns="0" rIns="0" bIns="0" rtlCol="0" anchor="t"/>
          <a:lstStyle/>
          <a:p>
            <a:pPr indent="0" marL="0">
              <a:buNone/>
            </a:pPr>
            <a:r>
              <a:rPr lang="en-US" sz="2200" b="1" dirty="0">
                <a:solidFill>
                  <a:schemeClr val="tx2"/>
                </a:solidFill>
              </a:rPr>
              <a:t>Training level × test task</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309360" cy="914400"/>
        </p:xfrm>
        <a:graphic>
          <a:graphicData uri="http://schemas.openxmlformats.org/drawingml/2006/table">
            <a:tbl>
              <a:tblPr/>
              <a:tblGrid>
                <a:gridCol w="3200400"/>
                <a:gridCol w="1554480"/>
                <a:gridCol w="1554480"/>
              </a:tblGrid>
              <a:tr h="502920">
                <a:tc>
                  <a:txBody>
                    <a:bodyPr/>
                    <a:lstStyle/>
                    <a:p>
                      <a:pPr indent="0" marL="0">
                        <a:buNone/>
                      </a:pPr>
                      <a:r>
                        <a:rPr lang="en-US" sz="1800" b="1" dirty="0">
                          <a:solidFill>
                            <a:schemeClr val="bg1"/>
                          </a:solidFill>
                        </a:rPr>
                        <a:t>Training</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Phases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Endpoints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r>
              <a:tr h="502920">
                <a:tc>
                  <a:txBody>
                    <a:bodyPr/>
                    <a:lstStyle/>
                    <a:p>
                      <a:pPr indent="0" marL="0">
                        <a:buNone/>
                      </a:pPr>
                      <a:r>
                        <a:rPr lang="en-US" sz="1800" b="1" dirty="0">
                          <a:solidFill>
                            <a:schemeClr val="tx1"/>
                          </a:solidFill>
                        </a:rPr>
                        <a:t>Lexical: 一颗 · 切成两块</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b="1" dirty="0">
                          <a:solidFill>
                            <a:schemeClr val="accent2"/>
                          </a:solidFill>
                        </a:rPr>
                        <a:t>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dirty="0">
                          <a:solidFill>
                            <a:schemeClr val="accent3"/>
                          </a:solidFill>
                        </a:rPr>
                        <a:t>No 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r h="502920">
                <a:tc>
                  <a:txBody>
                    <a:bodyPr/>
                    <a:lstStyle/>
                    <a:p>
                      <a:pPr indent="0" marL="0">
                        <a:buNone/>
                      </a:pPr>
                      <a:r>
                        <a:rPr lang="en-US" sz="1800" b="1" dirty="0">
                          <a:solidFill>
                            <a:schemeClr val="tx1"/>
                          </a:solidFill>
                        </a:rPr>
                        <a:t>Predicate: 切开 · 切一切</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dirty="0">
                          <a:solidFill>
                            <a:schemeClr val="accent3"/>
                          </a:solidFill>
                        </a:rPr>
                        <a:t>No 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b="1" dirty="0">
                          <a:solidFill>
                            <a:schemeClr val="accent2"/>
                          </a:solidFill>
                        </a:rPr>
                        <a:t>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bl>
          </a:graphicData>
        </a:graphic>
      </p:graphicFrame>
      <p:sp>
        <p:nvSpPr>
          <p:cNvPr id="6" name="Text 2"/>
          <p:cNvSpPr txBox="1"/>
          <p:nvPr/>
        </p:nvSpPr>
        <p:spPr>
          <a:xfrm>
            <a:off x="548640" y="3566160"/>
            <a:ext cx="6309360" cy="12801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Three sessions; children use the words in the task</a:t>
            </a:r>
            <a:endParaRPr lang="en-US" sz="1800" dirty="0"/>
          </a:p>
          <a:p>
            <a:pPr marL="342900" indent="-342900">
              <a:spcAft>
                <a:spcPts val="1000"/>
              </a:spcAft>
              <a:buSzPct val="100000"/>
              <a:buChar char="•"/>
            </a:pPr>
            <a:r>
              <a:rPr lang="en-US" sz="1800" dirty="0">
                <a:solidFill>
                  <a:schemeClr val="tx1"/>
                </a:solidFill>
              </a:rPr>
              <a:t>Train on 撕 / 揉, test on 掰 / 压 (transfer)</a:t>
            </a:r>
            <a:endParaRPr lang="en-US" sz="1800" dirty="0"/>
          </a:p>
        </p:txBody>
      </p:sp>
      <p:sp>
        <p:nvSpPr>
          <p:cNvPr id="7" name="Shape 3"/>
          <p:cNvSpPr/>
          <p:nvPr/>
        </p:nvSpPr>
        <p:spPr>
          <a:xfrm>
            <a:off x="7223760" y="1371600"/>
            <a:ext cx="4419295" cy="3566160"/>
          </a:xfrm>
          <a:prstGeom prst="roundRect">
            <a:avLst>
              <a:gd name="adj" fmla="val 2564"/>
            </a:avLst>
          </a:prstGeom>
          <a:solidFill>
            <a:schemeClr val="bg2"/>
          </a:solidFill>
          <a:ln/>
        </p:spPr>
      </p:sp>
      <p:sp>
        <p:nvSpPr>
          <p:cNvPr id="8" name="Text 4"/>
          <p:cNvSpPr txBox="1"/>
          <p:nvPr/>
        </p:nvSpPr>
        <p:spPr>
          <a:xfrm>
            <a:off x="7452360" y="1554480"/>
            <a:ext cx="3962095" cy="320040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Fixes from the thesis</a:t>
            </a:r>
            <a:endParaRPr lang="en-US" sz="1800" dirty="0"/>
          </a:p>
          <a:p>
            <a:pPr indent="0" marL="0">
              <a:spcAft>
                <a:spcPts val="600"/>
              </a:spcAft>
              <a:buNone/>
            </a:pPr>
            <a:r>
              <a:rPr lang="en-US" sz="1800" dirty="0">
                <a:solidFill>
                  <a:schemeClr val="tx1"/>
                </a:solidFill>
              </a:rPr>
              <a:t>Sustained, task-relevant cues instead of brief primes</a:t>
            </a:r>
            <a:endParaRPr lang="en-US" sz="1800" dirty="0"/>
          </a:p>
          <a:p>
            <a:pPr indent="0" marL="0">
              <a:spcAft>
                <a:spcPts val="600"/>
              </a:spcAft>
              <a:buNone/>
            </a:pPr>
            <a:r>
              <a:rPr lang="en-US" sz="1800" dirty="0">
                <a:solidFill>
                  <a:schemeClr val="tx1"/>
                </a:solidFill>
              </a:rPr>
              <a:t>Check that children understood the cue</a:t>
            </a:r>
            <a:endParaRPr lang="en-US" sz="1800" dirty="0"/>
          </a:p>
          <a:p>
            <a:pPr indent="0" marL="0">
              <a:spcAft>
                <a:spcPts val="600"/>
              </a:spcAft>
              <a:buNone/>
            </a:pPr>
            <a:r>
              <a:rPr lang="en-US" sz="1800" dirty="0">
                <a:solidFill>
                  <a:schemeClr val="tx1"/>
                </a:solidFill>
              </a:rPr>
              <a:t>Counterbalanced baseline order</a:t>
            </a:r>
            <a:endParaRPr lang="en-US" sz="1800" dirty="0"/>
          </a:p>
        </p:txBody>
      </p:sp>
      <p:sp>
        <p:nvSpPr>
          <p:cNvPr id="9" name="Shape 5"/>
          <p:cNvSpPr/>
          <p:nvPr/>
        </p:nvSpPr>
        <p:spPr>
          <a:xfrm>
            <a:off x="548640" y="5257800"/>
            <a:ext cx="11094415" cy="685800"/>
          </a:xfrm>
          <a:prstGeom prst="roundRect">
            <a:avLst>
              <a:gd name="adj" fmla="val 10667"/>
            </a:avLst>
          </a:prstGeom>
          <a:solidFill>
            <a:schemeClr val="bg2"/>
          </a:solidFill>
          <a:ln/>
        </p:spPr>
      </p:sp>
      <p:sp>
        <p:nvSpPr>
          <p:cNvPr id="10" name="Text 6"/>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Each training should shift only its own level, and transfer to new events.</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3: Do language models separate the two levels?</a:t>
            </a:r>
            <a:endParaRPr lang="en-US" sz="3000" dirty="0"/>
          </a:p>
        </p:txBody>
      </p:sp>
      <p:sp>
        <p:nvSpPr>
          <p:cNvPr id="4" name="Text 1"/>
          <p:cNvSpPr txBox="1"/>
          <p:nvPr/>
        </p:nvSpPr>
        <p:spPr>
          <a:xfrm>
            <a:off x="548640" y="1280160"/>
            <a:ext cx="11094415" cy="411480"/>
          </a:xfrm>
          <a:prstGeom prst="rect">
            <a:avLst/>
          </a:prstGeom>
          <a:noFill/>
          <a:ln/>
        </p:spPr>
        <p:txBody>
          <a:bodyPr wrap="square" lIns="0" tIns="0" rIns="0" bIns="0" rtlCol="0" anchor="t"/>
          <a:lstStyle/>
          <a:p>
            <a:pPr indent="0" marL="0">
              <a:buNone/>
            </a:pPr>
            <a:r>
              <a:rPr lang="en-US" sz="1800" b="1" dirty="0">
                <a:solidFill>
                  <a:schemeClr val="tx2"/>
                </a:solidFill>
              </a:rPr>
              <a:t>Cloze tests in matched English and Chinese BERT (Rognan et al., 2026)</a:t>
            </a:r>
            <a:endParaRPr lang="en-US" sz="1800" dirty="0"/>
          </a:p>
        </p:txBody>
      </p:sp>
      <p:sp>
        <p:nvSpPr>
          <p:cNvPr id="5" name="Shape 2"/>
          <p:cNvSpPr/>
          <p:nvPr/>
        </p:nvSpPr>
        <p:spPr>
          <a:xfrm>
            <a:off x="548640" y="1783080"/>
            <a:ext cx="5341468" cy="2148840"/>
          </a:xfrm>
          <a:prstGeom prst="roundRect">
            <a:avLst>
              <a:gd name="adj" fmla="val 4255"/>
            </a:avLst>
          </a:prstGeom>
          <a:solidFill>
            <a:schemeClr val="bg2"/>
          </a:solidFill>
          <a:ln/>
        </p:spPr>
      </p:sp>
      <p:sp>
        <p:nvSpPr>
          <p:cNvPr id="6" name="Text 3"/>
          <p:cNvSpPr txBox="1"/>
          <p:nvPr/>
        </p:nvSpPr>
        <p:spPr>
          <a:xfrm>
            <a:off x="777240" y="1965960"/>
            <a:ext cx="4884268" cy="17830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Lexical level</a:t>
            </a:r>
            <a:endParaRPr lang="en-US" sz="1800" dirty="0"/>
          </a:p>
          <a:p>
            <a:pPr indent="0" marL="0">
              <a:spcAft>
                <a:spcPts val="600"/>
              </a:spcAft>
              <a:buNone/>
            </a:pPr>
            <a:r>
              <a:rPr lang="en-US" sz="1800" dirty="0">
                <a:solidFill>
                  <a:schemeClr val="tx1"/>
                </a:solidFill>
              </a:rPr>
              <a:t>She cut [MASK] orange.</a:t>
            </a:r>
            <a:endParaRPr lang="en-US" sz="1800" dirty="0"/>
          </a:p>
          <a:p>
            <a:pPr indent="0" marL="0">
              <a:spcAft>
                <a:spcPts val="600"/>
              </a:spcAft>
              <a:buNone/>
            </a:pPr>
            <a:r>
              <a:rPr lang="en-US" sz="1800" dirty="0">
                <a:solidFill>
                  <a:schemeClr val="tx1"/>
                </a:solidFill>
              </a:rPr>
              <a:t>他把橙子搅[MASK]了</a:t>
            </a:r>
            <a:endParaRPr lang="en-US" sz="1800" dirty="0"/>
          </a:p>
          <a:p>
            <a:pPr indent="0" marL="0">
              <a:spcAft>
                <a:spcPts val="600"/>
              </a:spcAft>
              <a:buNone/>
            </a:pPr>
            <a:r>
              <a:rPr lang="en-US" sz="1800" dirty="0">
                <a:solidFill>
                  <a:schemeClr val="tx1"/>
                </a:solidFill>
              </a:rPr>
              <a:t>Score: a vs. some; result complement</a:t>
            </a:r>
            <a:endParaRPr lang="en-US" sz="1800" dirty="0"/>
          </a:p>
        </p:txBody>
      </p:sp>
      <p:sp>
        <p:nvSpPr>
          <p:cNvPr id="7" name="Shape 4"/>
          <p:cNvSpPr/>
          <p:nvPr/>
        </p:nvSpPr>
        <p:spPr>
          <a:xfrm>
            <a:off x="6301588" y="1783080"/>
            <a:ext cx="5341468" cy="2148840"/>
          </a:xfrm>
          <a:prstGeom prst="roundRect">
            <a:avLst>
              <a:gd name="adj" fmla="val 4255"/>
            </a:avLst>
          </a:prstGeom>
          <a:solidFill>
            <a:schemeClr val="bg2"/>
          </a:solidFill>
          <a:ln/>
        </p:spPr>
      </p:sp>
      <p:sp>
        <p:nvSpPr>
          <p:cNvPr id="8" name="Text 5"/>
          <p:cNvSpPr txBox="1"/>
          <p:nvPr/>
        </p:nvSpPr>
        <p:spPr>
          <a:xfrm>
            <a:off x="6530188" y="1965960"/>
            <a:ext cx="4884268" cy="17830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Predicate level</a:t>
            </a:r>
            <a:endParaRPr lang="en-US" sz="1800" dirty="0"/>
          </a:p>
          <a:p>
            <a:pPr indent="0" marL="0">
              <a:spcAft>
                <a:spcPts val="600"/>
              </a:spcAft>
              <a:buNone/>
            </a:pPr>
            <a:r>
              <a:rPr lang="en-US" sz="1800" dirty="0">
                <a:solidFill>
                  <a:schemeClr val="tx1"/>
                </a:solidFill>
              </a:rPr>
              <a:t>cut an orange [MASK] two seconds</a:t>
            </a:r>
            <a:endParaRPr lang="en-US" sz="1800" dirty="0"/>
          </a:p>
          <a:p>
            <a:pPr indent="0" marL="0">
              <a:spcAft>
                <a:spcPts val="600"/>
              </a:spcAft>
              <a:buNone/>
            </a:pPr>
            <a:r>
              <a:rPr lang="en-US" sz="1800" dirty="0">
                <a:solidFill>
                  <a:schemeClr val="tx1"/>
                </a:solidFill>
              </a:rPr>
              <a:t>他切了橙子，但是[MASK]</a:t>
            </a:r>
            <a:endParaRPr lang="en-US" sz="1800" dirty="0"/>
          </a:p>
          <a:p>
            <a:pPr indent="0" marL="0">
              <a:spcAft>
                <a:spcPts val="600"/>
              </a:spcAft>
              <a:buNone/>
            </a:pPr>
            <a:r>
              <a:rPr lang="en-US" sz="1800" dirty="0">
                <a:solidFill>
                  <a:schemeClr val="tx1"/>
                </a:solidFill>
              </a:rPr>
              <a:t>Score: in vs. for; cancellation</a:t>
            </a:r>
            <a:endParaRPr lang="en-US" sz="1800" dirty="0"/>
          </a:p>
        </p:txBody>
      </p:sp>
      <p:sp>
        <p:nvSpPr>
          <p:cNvPr id="9" name="Shape 6"/>
          <p:cNvSpPr/>
          <p:nvPr/>
        </p:nvSpPr>
        <p:spPr>
          <a:xfrm>
            <a:off x="548640" y="4114800"/>
            <a:ext cx="11094415" cy="914400"/>
          </a:xfrm>
          <a:prstGeom prst="roundRect">
            <a:avLst>
              <a:gd name="adj" fmla="val 10000"/>
            </a:avLst>
          </a:prstGeom>
          <a:solidFill>
            <a:schemeClr val="bg1"/>
          </a:solidFill>
          <a:ln w="25400">
            <a:solidFill>
              <a:schemeClr val="accent2"/>
            </a:solidFill>
            <a:prstDash val="solid"/>
          </a:ln>
        </p:spPr>
      </p:sp>
      <p:sp>
        <p:nvSpPr>
          <p:cNvPr id="10" name="Text 7"/>
          <p:cNvSpPr txBox="1"/>
          <p:nvPr/>
        </p:nvSpPr>
        <p:spPr>
          <a:xfrm>
            <a:off x="777240" y="4160520"/>
            <a:ext cx="10637215" cy="822960"/>
          </a:xfrm>
          <a:prstGeom prst="rect">
            <a:avLst/>
          </a:prstGeom>
          <a:noFill/>
          <a:ln/>
        </p:spPr>
        <p:txBody>
          <a:bodyPr wrap="square" lIns="0" tIns="0" rIns="0" bIns="0" rtlCol="0" anchor="ctr"/>
          <a:lstStyle/>
          <a:p>
            <a:pPr indent="0" marL="0">
              <a:buNone/>
            </a:pPr>
            <a:r>
              <a:rPr lang="en-US" sz="1800" b="1" dirty="0">
                <a:solidFill>
                  <a:schemeClr val="accent2"/>
                </a:solidFill>
              </a:rPr>
              <a:t>Key test   </a:t>
            </a:r>
            <a:pPr indent="0" marL="0">
              <a:buNone/>
            </a:pPr>
            <a:r>
              <a:rPr lang="en-US" sz="1800" dirty="0">
                <a:solidFill>
                  <a:schemeClr val="tx1"/>
                </a:solidFill>
              </a:rPr>
              <a:t>Does the predicate choice flip when the lexical cue flips? (an orange vs. oranges; 切开 vs. 切)</a:t>
            </a:r>
            <a:endParaRPr lang="en-US" sz="1800" dirty="0"/>
          </a:p>
        </p:txBody>
      </p:sp>
      <p:sp>
        <p:nvSpPr>
          <p:cNvPr id="11" name="Shape 8"/>
          <p:cNvSpPr/>
          <p:nvPr/>
        </p:nvSpPr>
        <p:spPr>
          <a:xfrm>
            <a:off x="548640" y="5257800"/>
            <a:ext cx="11094415" cy="685800"/>
          </a:xfrm>
          <a:prstGeom prst="roundRect">
            <a:avLst>
              <a:gd name="adj" fmla="val 10667"/>
            </a:avLst>
          </a:prstGeom>
          <a:solidFill>
            <a:schemeClr val="bg2"/>
          </a:solidFill>
          <a:ln/>
        </p:spPr>
      </p:sp>
      <p:sp>
        <p:nvSpPr>
          <p:cNvPr id="12" name="Text 9"/>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Human-like lexical but not predicate patterns = surface statistics, not event structure.</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A two-year plan</a:t>
            </a:r>
            <a:endParaRPr lang="en-US" sz="3000" dirty="0"/>
          </a:p>
        </p:txBody>
      </p:sp>
      <p:sp>
        <p:nvSpPr>
          <p:cNvPr id="4" name="Shape 1"/>
          <p:cNvSpPr/>
          <p:nvPr/>
        </p:nvSpPr>
        <p:spPr>
          <a:xfrm>
            <a:off x="777240" y="1463040"/>
            <a:ext cx="548640" cy="548640"/>
          </a:xfrm>
          <a:prstGeom prst="ellipse">
            <a:avLst/>
          </a:prstGeom>
          <a:solidFill>
            <a:schemeClr val="accent1"/>
          </a:solidFill>
          <a:ln/>
        </p:spPr>
      </p:sp>
      <p:sp>
        <p:nvSpPr>
          <p:cNvPr id="5" name="Text 2"/>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hape 3"/>
          <p:cNvSpPr/>
          <p:nvPr/>
        </p:nvSpPr>
        <p:spPr>
          <a:xfrm>
            <a:off x="548640" y="2194560"/>
            <a:ext cx="3423818" cy="2377440"/>
          </a:xfrm>
          <a:prstGeom prst="roundRect">
            <a:avLst>
              <a:gd name="adj" fmla="val 3846"/>
            </a:avLst>
          </a:prstGeom>
          <a:solidFill>
            <a:schemeClr val="bg2"/>
          </a:solidFill>
          <a:ln/>
        </p:spPr>
      </p:sp>
      <p:sp>
        <p:nvSpPr>
          <p:cNvPr id="7" name="Text 4"/>
          <p:cNvSpPr txBox="1"/>
          <p:nvPr/>
        </p:nvSpPr>
        <p:spPr>
          <a:xfrm>
            <a:off x="777240"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Year 1</a:t>
            </a:r>
            <a:endParaRPr lang="en-US" sz="1800" dirty="0"/>
          </a:p>
          <a:p>
            <a:pPr indent="0" marL="0">
              <a:spcAft>
                <a:spcPts val="600"/>
              </a:spcAft>
              <a:buNone/>
            </a:pPr>
            <a:r>
              <a:rPr lang="en-US" sz="1800" dirty="0">
                <a:solidFill>
                  <a:schemeClr val="tx1"/>
                </a:solidFill>
              </a:rPr>
              <a:t>New events: adult replication</a:t>
            </a:r>
            <a:endParaRPr lang="en-US" sz="1800" dirty="0"/>
          </a:p>
          <a:p>
            <a:pPr indent="0" marL="0">
              <a:spcAft>
                <a:spcPts val="600"/>
              </a:spcAft>
              <a:buNone/>
            </a:pPr>
            <a:r>
              <a:rPr lang="en-US" sz="1800" dirty="0">
                <a:solidFill>
                  <a:schemeClr val="tx1"/>
                </a:solidFill>
              </a:rPr>
              <a:t>Direction 3: model study</a:t>
            </a:r>
            <a:endParaRPr lang="en-US" sz="1800" dirty="0"/>
          </a:p>
          <a:p>
            <a:pPr indent="0" marL="0">
              <a:spcAft>
                <a:spcPts val="600"/>
              </a:spcAft>
              <a:buNone/>
            </a:pPr>
            <a:r>
              <a:rPr lang="en-US" sz="1800" dirty="0">
                <a:solidFill>
                  <a:schemeClr val="tx1"/>
                </a:solidFill>
              </a:rPr>
              <a:t>Two papers</a:t>
            </a:r>
            <a:endParaRPr lang="en-US" sz="1800" dirty="0"/>
          </a:p>
        </p:txBody>
      </p:sp>
      <p:sp>
        <p:nvSpPr>
          <p:cNvPr id="8" name="Shape 5"/>
          <p:cNvSpPr/>
          <p:nvPr/>
        </p:nvSpPr>
        <p:spPr>
          <a:xfrm>
            <a:off x="4612538" y="1463040"/>
            <a:ext cx="548640" cy="548640"/>
          </a:xfrm>
          <a:prstGeom prst="ellipse">
            <a:avLst/>
          </a:prstGeom>
          <a:solidFill>
            <a:schemeClr val="accent1"/>
          </a:solidFill>
          <a:ln/>
        </p:spPr>
      </p:sp>
      <p:sp>
        <p:nvSpPr>
          <p:cNvPr id="9" name="Text 6"/>
          <p:cNvSpPr txBox="1"/>
          <p:nvPr/>
        </p:nvSpPr>
        <p:spPr>
          <a:xfrm>
            <a:off x="4612538"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hape 7"/>
          <p:cNvSpPr/>
          <p:nvPr/>
        </p:nvSpPr>
        <p:spPr>
          <a:xfrm>
            <a:off x="4383938" y="2194560"/>
            <a:ext cx="3423818" cy="2377440"/>
          </a:xfrm>
          <a:prstGeom prst="roundRect">
            <a:avLst>
              <a:gd name="adj" fmla="val 3846"/>
            </a:avLst>
          </a:prstGeom>
          <a:solidFill>
            <a:schemeClr val="bg2"/>
          </a:solidFill>
          <a:ln/>
        </p:spPr>
      </p:sp>
      <p:sp>
        <p:nvSpPr>
          <p:cNvPr id="11" name="Text 8"/>
          <p:cNvSpPr txBox="1"/>
          <p:nvPr/>
        </p:nvSpPr>
        <p:spPr>
          <a:xfrm>
            <a:off x="4612538"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Year 2</a:t>
            </a:r>
            <a:endParaRPr lang="en-US" sz="1800" dirty="0"/>
          </a:p>
          <a:p>
            <a:pPr indent="0" marL="0">
              <a:spcAft>
                <a:spcPts val="600"/>
              </a:spcAft>
              <a:buNone/>
            </a:pPr>
            <a:r>
              <a:rPr lang="en-US" sz="1800" dirty="0">
                <a:solidFill>
                  <a:schemeClr val="tx1"/>
                </a:solidFill>
              </a:rPr>
              <a:t>Direction 1: children</a:t>
            </a:r>
            <a:endParaRPr lang="en-US" sz="1800" dirty="0"/>
          </a:p>
          <a:p>
            <a:pPr indent="0" marL="0">
              <a:spcAft>
                <a:spcPts val="600"/>
              </a:spcAft>
              <a:buNone/>
            </a:pPr>
            <a:r>
              <a:rPr lang="en-US" sz="1800" dirty="0">
                <a:solidFill>
                  <a:schemeClr val="tx1"/>
                </a:solidFill>
              </a:rPr>
              <a:t>Direction 2: training study</a:t>
            </a:r>
            <a:endParaRPr lang="en-US" sz="1800" dirty="0"/>
          </a:p>
        </p:txBody>
      </p:sp>
      <p:sp>
        <p:nvSpPr>
          <p:cNvPr id="12" name="Shape 9"/>
          <p:cNvSpPr/>
          <p:nvPr/>
        </p:nvSpPr>
        <p:spPr>
          <a:xfrm>
            <a:off x="8447837" y="1463040"/>
            <a:ext cx="548640" cy="548640"/>
          </a:xfrm>
          <a:prstGeom prst="ellipse">
            <a:avLst/>
          </a:prstGeom>
          <a:solidFill>
            <a:schemeClr val="accent2"/>
          </a:solidFill>
          <a:ln/>
        </p:spPr>
      </p:sp>
      <p:sp>
        <p:nvSpPr>
          <p:cNvPr id="13" name="Text 10"/>
          <p:cNvSpPr txBox="1"/>
          <p:nvPr/>
        </p:nvSpPr>
        <p:spPr>
          <a:xfrm>
            <a:off x="8447837"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hape 11"/>
          <p:cNvSpPr/>
          <p:nvPr/>
        </p:nvSpPr>
        <p:spPr>
          <a:xfrm>
            <a:off x="8219237" y="2194560"/>
            <a:ext cx="3423818" cy="2377440"/>
          </a:xfrm>
          <a:prstGeom prst="roundRect">
            <a:avLst>
              <a:gd name="adj" fmla="val 3846"/>
            </a:avLst>
          </a:prstGeom>
          <a:solidFill>
            <a:schemeClr val="bg2"/>
          </a:solidFill>
          <a:ln/>
        </p:spPr>
      </p:sp>
      <p:sp>
        <p:nvSpPr>
          <p:cNvPr id="15" name="Text 12"/>
          <p:cNvSpPr txBox="1"/>
          <p:nvPr/>
        </p:nvSpPr>
        <p:spPr>
          <a:xfrm>
            <a:off x="8447837"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Throughout</a:t>
            </a:r>
            <a:endParaRPr lang="en-US" sz="1800" dirty="0"/>
          </a:p>
          <a:p>
            <a:pPr indent="0" marL="0">
              <a:spcAft>
                <a:spcPts val="600"/>
              </a:spcAft>
              <a:buNone/>
            </a:pPr>
            <a:r>
              <a:rPr lang="en-US" sz="1800" dirty="0">
                <a:solidFill>
                  <a:schemeClr val="tx1"/>
                </a:solidFill>
              </a:rPr>
              <a:t>Thesis papers</a:t>
            </a:r>
            <a:endParaRPr lang="en-US" sz="1800" dirty="0"/>
          </a:p>
          <a:p>
            <a:pPr indent="0" marL="0">
              <a:spcAft>
                <a:spcPts val="600"/>
              </a:spcAft>
              <a:buNone/>
            </a:pPr>
            <a:r>
              <a:rPr lang="en-US" sz="1800" dirty="0">
                <a:solidFill>
                  <a:schemeClr val="tx1"/>
                </a:solidFill>
              </a:rPr>
              <a:t>Grant applications</a:t>
            </a:r>
            <a:endParaRPr lang="en-US" sz="1800" dirty="0"/>
          </a:p>
          <a:p>
            <a:pPr indent="0" marL="0">
              <a:spcAft>
                <a:spcPts val="600"/>
              </a:spcAft>
              <a:buNone/>
            </a:pPr>
            <a:r>
              <a:rPr lang="en-US" sz="1800" dirty="0">
                <a:solidFill>
                  <a:schemeClr val="tx1"/>
                </a:solidFill>
              </a:rPr>
              <a:t>Mentoring students</a:t>
            </a:r>
            <a:endParaRPr lang="en-US" sz="1800" dirty="0"/>
          </a:p>
        </p:txBody>
      </p:sp>
      <p:sp>
        <p:nvSpPr>
          <p:cNvPr id="16" name="Shape 13"/>
          <p:cNvSpPr/>
          <p:nvPr/>
        </p:nvSpPr>
        <p:spPr>
          <a:xfrm>
            <a:off x="548640" y="4892040"/>
            <a:ext cx="11094415" cy="685800"/>
          </a:xfrm>
          <a:prstGeom prst="roundRect">
            <a:avLst>
              <a:gd name="adj" fmla="val 10667"/>
            </a:avLst>
          </a:prstGeom>
          <a:solidFill>
            <a:schemeClr val="bg2"/>
          </a:solidFill>
          <a:ln/>
        </p:spPr>
      </p:sp>
      <p:sp>
        <p:nvSpPr>
          <p:cNvPr id="17" name="Text 14"/>
          <p:cNvSpPr txBox="1"/>
          <p:nvPr/>
        </p:nvSpPr>
        <p:spPr>
          <a:xfrm>
            <a:off x="777240" y="489204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From correspondence to development, learning and input.</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48640" y="548640"/>
            <a:ext cx="11094415" cy="731520"/>
          </a:xfrm>
          <a:prstGeom prst="rect">
            <a:avLst/>
          </a:prstGeom>
          <a:noFill/>
          <a:ln/>
        </p:spPr>
        <p:txBody>
          <a:bodyPr wrap="square" lIns="0" tIns="0" rIns="0" bIns="0" rtlCol="0" anchor="ctr"/>
          <a:lstStyle/>
          <a:p>
            <a:pPr indent="0" marL="0">
              <a:buNone/>
            </a:pPr>
            <a:r>
              <a:rPr lang="en-US" sz="3000" b="1" dirty="0">
                <a:solidFill>
                  <a:schemeClr val="bg1"/>
                </a:solidFill>
              </a:rPr>
              <a:t>What I would bring</a:t>
            </a:r>
            <a:endParaRPr lang="en-US" sz="3000" dirty="0"/>
          </a:p>
        </p:txBody>
      </p:sp>
      <p:sp>
        <p:nvSpPr>
          <p:cNvPr id="4" name="Text 1"/>
          <p:cNvSpPr txBox="1"/>
          <p:nvPr/>
        </p:nvSpPr>
        <p:spPr>
          <a:xfrm>
            <a:off x="548640"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Methods</a:t>
            </a:r>
            <a:endParaRPr lang="en-US" sz="1800" dirty="0"/>
          </a:p>
          <a:p>
            <a:pPr indent="0" marL="0">
              <a:spcAft>
                <a:spcPts val="800"/>
              </a:spcAft>
              <a:buNone/>
            </a:pPr>
            <a:r>
              <a:rPr lang="en-US" sz="1800" dirty="0">
                <a:solidFill>
                  <a:schemeClr val="bg1"/>
                </a:solidFill>
              </a:rPr>
              <a:t>Video stimuli and norming</a:t>
            </a:r>
            <a:endParaRPr lang="en-US" sz="1800" dirty="0"/>
          </a:p>
          <a:p>
            <a:pPr indent="0" marL="0">
              <a:spcAft>
                <a:spcPts val="800"/>
              </a:spcAft>
              <a:buNone/>
            </a:pPr>
            <a:r>
              <a:rPr lang="en-US" sz="1800" dirty="0">
                <a:solidFill>
                  <a:schemeClr val="bg1"/>
                </a:solidFill>
              </a:rPr>
              <a:t>Child testing</a:t>
            </a:r>
            <a:endParaRPr lang="en-US" sz="1800" dirty="0"/>
          </a:p>
          <a:p>
            <a:pPr indent="0" marL="0">
              <a:spcAft>
                <a:spcPts val="800"/>
              </a:spcAft>
              <a:buNone/>
            </a:pPr>
            <a:r>
              <a:rPr lang="en-US" sz="1800" dirty="0">
                <a:solidFill>
                  <a:schemeClr val="bg1"/>
                </a:solidFill>
              </a:rPr>
              <a:t>Bayesian GLMMs, R, Python</a:t>
            </a:r>
            <a:endParaRPr lang="en-US" sz="1800" dirty="0"/>
          </a:p>
        </p:txBody>
      </p:sp>
      <p:sp>
        <p:nvSpPr>
          <p:cNvPr id="5" name="Text 2"/>
          <p:cNvSpPr txBox="1"/>
          <p:nvPr/>
        </p:nvSpPr>
        <p:spPr>
          <a:xfrm>
            <a:off x="4383938"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Projects</a:t>
            </a:r>
            <a:endParaRPr lang="en-US" sz="1800" dirty="0"/>
          </a:p>
          <a:p>
            <a:pPr indent="0" marL="0">
              <a:spcAft>
                <a:spcPts val="800"/>
              </a:spcAft>
              <a:buNone/>
            </a:pPr>
            <a:r>
              <a:rPr lang="en-US" sz="1800" dirty="0">
                <a:solidFill>
                  <a:schemeClr val="bg1"/>
                </a:solidFill>
              </a:rPr>
              <a:t>Led a CAS field project</a:t>
            </a:r>
            <a:endParaRPr lang="en-US" sz="1800" dirty="0"/>
          </a:p>
          <a:p>
            <a:pPr indent="0" marL="0">
              <a:spcAft>
                <a:spcPts val="800"/>
              </a:spcAft>
              <a:buNone/>
            </a:pPr>
            <a:r>
              <a:rPr lang="en-US" sz="1800" dirty="0">
                <a:solidFill>
                  <a:schemeClr val="bg1"/>
                </a:solidFill>
              </a:rPr>
              <a:t>Preregistered experiments</a:t>
            </a:r>
            <a:endParaRPr lang="en-US" sz="1800" dirty="0"/>
          </a:p>
          <a:p>
            <a:pPr indent="0" marL="0">
              <a:spcAft>
                <a:spcPts val="800"/>
              </a:spcAft>
              <a:buNone/>
            </a:pPr>
            <a:r>
              <a:rPr lang="en-US" sz="1800" dirty="0">
                <a:solidFill>
                  <a:schemeClr val="bg1"/>
                </a:solidFill>
              </a:rPr>
              <a:t>Teaching research methods</a:t>
            </a:r>
            <a:endParaRPr lang="en-US" sz="1800" dirty="0"/>
          </a:p>
        </p:txBody>
      </p:sp>
      <p:sp>
        <p:nvSpPr>
          <p:cNvPr id="6" name="Text 3"/>
          <p:cNvSpPr txBox="1"/>
          <p:nvPr/>
        </p:nvSpPr>
        <p:spPr>
          <a:xfrm>
            <a:off x="8219237"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Fit</a:t>
            </a:r>
            <a:endParaRPr lang="en-US" sz="1800" dirty="0"/>
          </a:p>
          <a:p>
            <a:pPr indent="0" marL="0">
              <a:spcAft>
                <a:spcPts val="800"/>
              </a:spcAft>
              <a:buNone/>
            </a:pPr>
            <a:r>
              <a:rPr lang="en-US" sz="1800" dirty="0">
                <a:solidFill>
                  <a:schemeClr val="bg1"/>
                </a:solidFill>
              </a:rPr>
              <a:t>Event language in development</a:t>
            </a:r>
            <a:endParaRPr lang="en-US" sz="1800" dirty="0"/>
          </a:p>
          <a:p>
            <a:pPr indent="0" marL="0">
              <a:spcAft>
                <a:spcPts val="800"/>
              </a:spcAft>
              <a:buNone/>
            </a:pPr>
            <a:r>
              <a:rPr lang="en-US" sz="1800" dirty="0">
                <a:solidFill>
                  <a:schemeClr val="bg1"/>
                </a:solidFill>
              </a:rPr>
              <a:t>Mandarin–English expertise</a:t>
            </a:r>
            <a:endParaRPr lang="en-US" sz="1800" dirty="0"/>
          </a:p>
          <a:p>
            <a:pPr indent="0" marL="0">
              <a:spcAft>
                <a:spcPts val="800"/>
              </a:spcAft>
              <a:buNone/>
            </a:pPr>
            <a:r>
              <a:rPr lang="en-US" sz="1800" dirty="0">
                <a:solidFill>
                  <a:schemeClr val="bg1"/>
                </a:solidFill>
              </a:rPr>
              <a:t>Experiments and models</a:t>
            </a:r>
            <a:endParaRPr lang="en-US" sz="1800" dirty="0"/>
          </a:p>
        </p:txBody>
      </p:sp>
      <p:sp>
        <p:nvSpPr>
          <p:cNvPr id="7"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3600" b="1" dirty="0">
                <a:solidFill>
                  <a:schemeClr val="bg1"/>
                </a:solidFill>
              </a:rPr>
              <a:t>Thank you</a:t>
            </a:r>
            <a:endParaRPr lang="en-US" sz="1800" dirty="0"/>
          </a:p>
          <a:p>
            <a:pPr indent="0" marL="0">
              <a:buNone/>
            </a:pPr>
            <a:r>
              <a:rPr lang="en-US" sz="1800" dirty="0">
                <a:solidFill>
                  <a:schemeClr val="accent5"/>
                </a:solidFill>
              </a:rPr>
              <a:t>xtliu0516@yeah.net  ·  xiaotaoliu.owlstown.net</a:t>
            </a:r>
            <a:endParaRPr lang="en-US" sz="1800" dirty="0"/>
          </a:p>
        </p:txBody>
      </p:sp>
      <p:sp>
        <p:nvSpPr>
          <p:cNvPr id="8" name="Text 0"/>
          <p:cNvSpPr/>
          <p:nvPr>
            <p:ph idx="100" type="title" hasCustomPrompt="1"/>
          </p:nvPr>
        </p:nvSpPr>
        <p:spPr>
          <a:xfrm>
            <a:off x="548640" y="1737360"/>
            <a:ext cx="11094415" cy="1188720"/>
          </a:xfrm>
          <a:prstGeom prst="rect">
            <a:avLst/>
          </a:prstGeom>
          <a:noFill/>
          <a:ln/>
        </p:spPr>
        <p:txBody>
          <a:bodyPr wrap="square" lIns="0" tIns="0" rIns="0" bIns="0" rtlCol="0" anchor="b"/>
          <a:lstStyle/>
          <a:p>
            <a:pPr algn="l" indent="0" marL="0">
              <a:buNone/>
            </a:pPr>
            <a:endParaRPr lang="en-US" sz="3600" dirty="0"/>
          </a:p>
        </p:txBody>
      </p:sp>
      <p:sp>
        <p:nvSpPr>
          <p:cNvPr id="9" name="Text 0"/>
          <p:cNvSpPr/>
          <p:nvPr>
            <p:ph idx="101" type="body" hasCustomPrompt="1"/>
          </p:nvPr>
        </p:nvSpPr>
        <p:spPr>
          <a:xfrm>
            <a:off x="548640" y="3108960"/>
            <a:ext cx="11094415" cy="822960"/>
          </a:xfrm>
          <a:prstGeom prst="rect">
            <a:avLst/>
          </a:prstGeom>
          <a:noFill/>
          <a:ln/>
        </p:spPr>
        <p:txBody>
          <a:bodyPr wrap="square" lIns="0" tIns="0" rIns="0" bIns="0" rtlCol="0" anchor="t"/>
          <a:lstStyle/>
          <a:p>
            <a:pPr algn="l" indent="0" marL="0">
              <a:buNone/>
            </a:pPr>
            <a:endParaRPr lang="en-US" sz="2200" dirty="0"/>
          </a:p>
        </p:txBody>
      </p:sp>
      <p:sp>
        <p:nvSpPr>
          <p:cNvPr id="10" name="Text 0"/>
          <p:cNvSpPr/>
          <p:nvPr>
            <p:ph idx="102" type="body" hasCustomPrompt="1"/>
          </p:nvPr>
        </p:nvSpPr>
        <p:spPr>
          <a:xfrm>
            <a:off x="548640" y="4663440"/>
            <a:ext cx="11094415" cy="13716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mbria"/>
        <a:ea typeface="SimSun"/>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mbria"/>
        <a:ea typeface="SimSun"/>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Event Language to Relational Learning</dc:title>
  <dc:subject>PptxGenJS Presentation</dc:subject>
  <dc:creator>Xiaotao Liu</dc:creator>
  <cp:lastModifiedBy>Xiaotao Liu</cp:lastModifiedBy>
  <cp:revision>1</cp:revision>
  <dcterms:created xsi:type="dcterms:W3CDTF">2026-10-10T22:14:19Z</dcterms:created>
  <dcterms:modified xsi:type="dcterms:W3CDTF">2026-10-10T22:14:19Z</dcterms:modified>
</cp:coreProperties>
</file>