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A30"/>
                </a:solidFill>
                <a:latin typeface="+mn-lt"/>
              </a:defRPr>
            </a:pPr>
            <a:r>
              <a:rPr sz="1500" b="0" i="0" u="none" strike="noStrike">
                <a:solidFill>
                  <a:srgbClr val="1F2A30"/>
                </a:solidFill>
                <a:latin typeface="+mn-lt"/>
              </a:rPr>
              <a:t>Telic (endpoint) descriptions</a:t>
            </a:r>
          </a:p>
        </c:rich>
      </c:tx>
      <c:layout/>
      <c:overlay val="0"/>
    </c:title>
    <c:autoTitleDeleted val="0"/>
    <c:plotArea>
      <c:layout/>
      <c:barChart>
        <c:barDir val="col"/>
        <c:grouping val="clustered"/>
        <c:varyColors val="0"/>
        <c:ser>
          <c:idx val="0"/>
          <c:order val="0"/>
          <c:tx>
            <c:strRef>
              <c:f>Sheet1!$B$1</c:f>
              <c:strCache>
                <c:ptCount val="1"/>
                <c:pt idx="0">
                  <c:v>English</c:v>
                </c:pt>
              </c:strCache>
            </c:strRef>
          </c:tx>
          <c:spPr>
            <a:solidFill>
              <a:srgbClr val="5B7083"/>
            </a:solidFill>
            <a:effectLst/>
          </c:spPr>
          <c:invertIfNegative val="0"/>
          <c:dLbls>
            <c:numFmt formatCode="0.0&quot;%&quot;" sourceLinked="0"/>
            <c:txPr>
              <a:bodyPr/>
              <a:lstStyle/>
              <a:p>
                <a:pPr>
                  <a:defRPr b="0" i="0" strike="noStrike" sz="1300" u="none">
                    <a:solidFill>
                      <a:srgbClr val="1F2A30"/>
                    </a:solidFill>
                    <a:latin typeface="+mn-lt"/>
                  </a:defRPr>
                </a:pPr>
              </a:p>
            </c:txPr>
            <c:showLegendKey val="0"/>
            <c:showVal val="1"/>
            <c:showCatName val="0"/>
            <c:showSerName val="0"/>
            <c:showPercent val="0"/>
            <c:showBubbleSize val="0"/>
            <c:showLeaderLines val="0"/>
          </c:dLbls>
          <c:cat>
            <c:multiLvlStrRef>
              <c:f>Sheet1!$A$2:$A$3</c:f>
              <c:multiLvlStrCache>
                <c:ptCount val="2"/>
                <c:lvl>
                  <c:pt idx="0">
                    <c:v>Cutting</c:v>
                  </c:pt>
                  <c:pt idx="1">
                    <c:v>Blending</c:v>
                  </c:pt>
                </c:lvl>
              </c:multiLvlStrCache>
            </c:multiLvlStrRef>
          </c:cat>
          <c:val>
            <c:numRef>
              <c:f>Sheet1!$B$2:$B$3</c:f>
              <c:numCache>
                <c:formatCode>General</c:formatCode>
                <c:ptCount val="2"/>
                <c:pt idx="0">
                  <c:v>79.2</c:v>
                </c:pt>
                <c:pt idx="1">
                  <c:v>16.6</c:v>
                </c:pt>
              </c:numCache>
            </c:numRef>
          </c:val>
        </c:ser>
        <c:ser>
          <c:idx val="1"/>
          <c:order val="1"/>
          <c:tx>
            <c:strRef>
              <c:f>Sheet1!$C$1</c:f>
              <c:strCache>
                <c:ptCount val="1"/>
                <c:pt idx="0">
                  <c:v>Mandarin</c:v>
                </c:pt>
              </c:strCache>
            </c:strRef>
          </c:tx>
          <c:spPr>
            <a:solidFill>
              <a:srgbClr val="D9703A"/>
            </a:solidFill>
            <a:effectLst/>
          </c:spPr>
          <c:invertIfNegative val="0"/>
          <c:dLbls>
            <c:numFmt formatCode="0.0&quot;%&quot;" sourceLinked="0"/>
            <c:txPr>
              <a:bodyPr/>
              <a:lstStyle/>
              <a:p>
                <a:pPr>
                  <a:defRPr b="0" i="0" strike="noStrike" sz="1300" u="none">
                    <a:solidFill>
                      <a:srgbClr val="1F2A30"/>
                    </a:solidFill>
                    <a:latin typeface="+mn-lt"/>
                  </a:defRPr>
                </a:pPr>
              </a:p>
            </c:txPr>
            <c:showLegendKey val="0"/>
            <c:showVal val="1"/>
            <c:showCatName val="0"/>
            <c:showSerName val="0"/>
            <c:showPercent val="0"/>
            <c:showBubbleSize val="0"/>
            <c:showLeaderLines val="0"/>
          </c:dLbls>
          <c:cat>
            <c:multiLvlStrRef>
              <c:f>Sheet1!$A$2:$A$3</c:f>
              <c:multiLvlStrCache>
                <c:ptCount val="2"/>
                <c:lvl>
                  <c:pt idx="0">
                    <c:v>Cutting</c:v>
                  </c:pt>
                  <c:pt idx="1">
                    <c:v>Blending</c:v>
                  </c:pt>
                </c:lvl>
              </c:multiLvlStrCache>
            </c:multiLvlStrRef>
          </c:cat>
          <c:val>
            <c:numRef>
              <c:f>Sheet1!$C$2:$C$3</c:f>
              <c:numCache>
                <c:formatCode>General</c:formatCode>
                <c:ptCount val="2"/>
                <c:pt idx="0">
                  <c:v>51.2</c:v>
                </c:pt>
                <c:pt idx="1">
                  <c:v>43.7</c:v>
                </c:pt>
              </c:numCache>
            </c:numRef>
          </c:val>
        </c:ser>
        <c:dLbls>
          <c:numFmt formatCode="0.0&quot;%&quot;" sourceLinked="0"/>
          <c:txPr>
            <a:bodyPr/>
            <a:lstStyle/>
            <a:p>
              <a:pPr>
                <a:defRPr b="0" i="0" strike="noStrike" sz="1300" u="none">
                  <a:solidFill>
                    <a:srgbClr val="1F2A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2A30"/>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A30"/>
                </a:solidFill>
                <a:latin typeface="+mn-lt"/>
              </a:defRPr>
            </a:pPr>
            <a:r>
              <a:rPr sz="1500" b="0" i="0" u="none" strike="noStrike">
                <a:solidFill>
                  <a:srgbClr val="1F2A30"/>
                </a:solidFill>
                <a:latin typeface="+mn-lt"/>
              </a:rPr>
              <a:t>Exp 2 · Interruption detection in blending</a:t>
            </a:r>
          </a:p>
        </c:rich>
      </c:tx>
      <c:layout/>
      <c:overlay val="0"/>
    </c:title>
    <c:autoTitleDeleted val="0"/>
    <c:plotArea>
      <c:layout/>
      <c:barChart>
        <c:barDir val="col"/>
        <c:grouping val="clustered"/>
        <c:varyColors val="0"/>
        <c:ser>
          <c:idx val="0"/>
          <c:order val="0"/>
          <c:tx>
            <c:strRef>
              <c:f>Sheet1!$B$1</c:f>
              <c:strCache>
                <c:ptCount val="1"/>
                <c:pt idx="0">
                  <c:v>English</c:v>
                </c:pt>
              </c:strCache>
            </c:strRef>
          </c:tx>
          <c:spPr>
            <a:solidFill>
              <a:srgbClr val="5B7083"/>
            </a:solidFill>
            <a:effectLst/>
          </c:spPr>
          <c:invertIfNegative val="0"/>
          <c:dLbls>
            <c:numFmt formatCode="0.0&quot;%&quot;" sourceLinked="0"/>
            <c:txPr>
              <a:bodyPr/>
              <a:lstStyle/>
              <a:p>
                <a:pPr>
                  <a:defRPr b="0" i="0" strike="noStrike" sz="1300" u="none">
                    <a:solidFill>
                      <a:srgbClr val="1F2A30"/>
                    </a:solidFill>
                    <a:latin typeface="+mn-lt"/>
                  </a:defRPr>
                </a:pPr>
              </a:p>
            </c:txPr>
            <c:showLegendKey val="0"/>
            <c:showVal val="1"/>
            <c:showCatName val="0"/>
            <c:showSerName val="0"/>
            <c:showPercent val="0"/>
            <c:showBubbleSize val="0"/>
            <c:showLeaderLines val="0"/>
          </c:dLbls>
          <c:cat>
            <c:multiLvlStrRef>
              <c:f>Sheet1!$A$2:$A$3</c:f>
              <c:multiLvlStrCache>
                <c:ptCount val="2"/>
                <c:lvl>
                  <c:pt idx="0">
                    <c:v>Early interruption</c:v>
                  </c:pt>
                  <c:pt idx="1">
                    <c:v>Late interruption</c:v>
                  </c:pt>
                </c:lvl>
              </c:multiLvlStrCache>
            </c:multiLvlStrRef>
          </c:cat>
          <c:val>
            <c:numRef>
              <c:f>Sheet1!$B$2:$B$3</c:f>
              <c:numCache>
                <c:formatCode>General</c:formatCode>
                <c:ptCount val="2"/>
                <c:pt idx="0">
                  <c:v>79.3</c:v>
                </c:pt>
                <c:pt idx="1">
                  <c:v>63.3</c:v>
                </c:pt>
              </c:numCache>
            </c:numRef>
          </c:val>
        </c:ser>
        <c:ser>
          <c:idx val="1"/>
          <c:order val="1"/>
          <c:tx>
            <c:strRef>
              <c:f>Sheet1!$C$1</c:f>
              <c:strCache>
                <c:ptCount val="1"/>
                <c:pt idx="0">
                  <c:v>Mandarin</c:v>
                </c:pt>
              </c:strCache>
            </c:strRef>
          </c:tx>
          <c:spPr>
            <a:solidFill>
              <a:srgbClr val="D9703A"/>
            </a:solidFill>
            <a:effectLst/>
          </c:spPr>
          <c:invertIfNegative val="0"/>
          <c:dLbls>
            <c:numFmt formatCode="0.0&quot;%&quot;" sourceLinked="0"/>
            <c:txPr>
              <a:bodyPr/>
              <a:lstStyle/>
              <a:p>
                <a:pPr>
                  <a:defRPr b="0" i="0" strike="noStrike" sz="1300" u="none">
                    <a:solidFill>
                      <a:srgbClr val="1F2A30"/>
                    </a:solidFill>
                    <a:latin typeface="+mn-lt"/>
                  </a:defRPr>
                </a:pPr>
              </a:p>
            </c:txPr>
            <c:showLegendKey val="0"/>
            <c:showVal val="1"/>
            <c:showCatName val="0"/>
            <c:showSerName val="0"/>
            <c:showPercent val="0"/>
            <c:showBubbleSize val="0"/>
            <c:showLeaderLines val="0"/>
          </c:dLbls>
          <c:cat>
            <c:multiLvlStrRef>
              <c:f>Sheet1!$A$2:$A$3</c:f>
              <c:multiLvlStrCache>
                <c:ptCount val="2"/>
                <c:lvl>
                  <c:pt idx="0">
                    <c:v>Early interruption</c:v>
                  </c:pt>
                  <c:pt idx="1">
                    <c:v>Late interruption</c:v>
                  </c:pt>
                </c:lvl>
              </c:multiLvlStrCache>
            </c:multiLvlStrRef>
          </c:cat>
          <c:val>
            <c:numRef>
              <c:f>Sheet1!$C$2:$C$3</c:f>
              <c:numCache>
                <c:formatCode>General</c:formatCode>
                <c:ptCount val="2"/>
                <c:pt idx="0">
                  <c:v>58.5</c:v>
                </c:pt>
                <c:pt idx="1">
                  <c:v>79.7</c:v>
                </c:pt>
              </c:numCache>
            </c:numRef>
          </c:val>
        </c:ser>
        <c:dLbls>
          <c:numFmt formatCode="0.0&quot;%&quot;" sourceLinked="0"/>
          <c:txPr>
            <a:bodyPr/>
            <a:lstStyle/>
            <a:p>
              <a:pPr>
                <a:defRPr b="0" i="0" strike="noStrike" sz="1300" u="none">
                  <a:solidFill>
                    <a:srgbClr val="1F2A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2A30"/>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Thank you for having me. In the next 13 minutes I will show how my work on event language in adults and children leads to the question I want to pursue in your group: how language helps children learn relations.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[0:30–1:45] Mandarin gives a clean contrast: cā names only the action; cā-gānjìng names the action and the result it brings about. My work asks whether this kind of difference matters for cognition. Three parts: adults in my PhD, children in my collaboration with Yue Ji, and the project I would like to build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[1:45–2:45] Matched videos of the same object being cut or blended. Cutting has a clear endpoint; blending does not. Three steps: how speakers describe the events, whether their processing differs in the same direction, and whether brief language cues can shift that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[2:45–4:00] Descriptions show a crossover. English descriptions are more often telic for cutting, Mandarin for blending. Locally, English speakers mark the object with quantized noun phrases, while Mandarin speakers use resultatives for blending. So the two languages make different parts of the same event prominent.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[4:00–5:30] In interruption detection, English speakers were better at catching early interruptions in blending, Mandarin speakers at late ones, which mirrors object marking versus result marking. In boundary tapping, English speakers placed the end of cutting events almost at the physical endpoint, Mandarin speakers almost a second later, matching the stronger English telicity for cutting.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[5:30–6:30] Part of the cross-linguistic pattern replicated, but the preregistered priming predictions were not supported, and the Bayes factor favours the null for the key interaction. I read this as: the link is real but not produced by a one-off cue. If language shapes event representation, it more likely does so over time, through learning. That is a developmental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[6:30–7:15] So the thesis gives me a correspondence, a clear limit, and a direction: move from adults and brief primes to children and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[7:15–9:00] Children often reject 'she peeled the lychee' when it is not open, more than adults do. We propose that this depends on the specific action–result relation: peeling is very likely to open a lychee, squeezing less so. Ten matched pairs, two experiments, 4- and 5-year-olds and adults. [Give the main result here, or say: data are collected and the analysis is in progress.] The point for today: children are already tracking relations between actions and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[9:00–10:00] This is where my work meets yours. Wiping a mirror clean and rinsing a cup clean share no objects or actions, only a causal relation. Your work shows that relational language makes relations explicit and portable. Mandarin resultatives are relational language for events, so they give us a natural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[10:00–11:30] Children see a standard event and choose between a relational match, with a new action and object but the same result, and a surface match, with the same action and object but no result. Language varies between conditions. If naming the result highlights the relation, children in the RVC condition should choose relational matches more and transfer them to new events. A result-word-only control separates the relation from the result state itself. Analysis: Bayesian GLMMs with participants and items as random effects, preregistered.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[11:30–12:30] Building on the first study: comparison and explanation as learning tools, parent–child interaction as the natural setting where relational talk happens, and a comparison with AI systems, using the same tasks, to ask what children use that models do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[12:30–13:30] To sum up: my work connects how language encodes events with how people process and learn them, and I would like to take that into relational learning in children, here. Thank you, and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1094415" cy="12801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246120"/>
            <a:ext cx="11094415" cy="82296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
        <p:nvSpPr>
          <p:cNvPr id="4" name="Text 0"/>
          <p:cNvSpPr/>
          <p:nvPr>
            <p:ph idx="102" type="body" hasCustomPrompt="1"/>
          </p:nvPr>
        </p:nvSpPr>
        <p:spPr>
          <a:xfrm>
            <a:off x="548640" y="4846320"/>
            <a:ext cx="11094415" cy="1188720"/>
          </a:xfrm>
          <a:prstGeom prst="rect">
            <a:avLst/>
          </a:prstGeom>
          <a:noFill/>
          <a:ln/>
        </p:spPr>
        <p:txBody>
          <a:bodyPr wrap="square" rtlCol="0"/>
          <a:lstStyle>
            <a:lvl1pPr indent="0" marL="0">
              <a:buNone/>
              <a:defRPr lang="en-US" sz="1600" dirty="0">
                <a:solidFill>
                  <a:schemeClr val="bg1"/>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Xiaotao Liu  ·  From event language to relational learning</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1094415" cy="1280160"/>
          </a:xfrm>
          <a:prstGeom prst="rect">
            <a:avLst/>
          </a:prstGeom>
          <a:noFill/>
          <a:ln/>
        </p:spPr>
        <p:txBody>
          <a:bodyPr wrap="square" lIns="0" tIns="0" rIns="0" bIns="0" rtlCol="0" anchor="b"/>
          <a:lstStyle/>
          <a:p>
            <a:pPr algn="l" indent="0" marL="0">
              <a:buNone/>
            </a:pPr>
            <a:r>
              <a:rPr lang="en-US" sz="4400" b="1" dirty="0">
                <a:solidFill>
                  <a:schemeClr val="bg1"/>
                </a:solidFill>
              </a:rPr>
              <a:t>From Event Language to Relational Learning</a:t>
            </a:r>
            <a:endParaRPr lang="en-US" sz="4400" dirty="0"/>
          </a:p>
        </p:txBody>
      </p:sp>
      <p:sp>
        <p:nvSpPr>
          <p:cNvPr id="3" name="Text 0"/>
          <p:cNvSpPr/>
          <p:nvPr>
            <p:ph idx="101" type="body" hasCustomPrompt="1"/>
          </p:nvPr>
        </p:nvSpPr>
        <p:spPr>
          <a:xfrm>
            <a:off x="548640" y="3246120"/>
            <a:ext cx="11094415" cy="822960"/>
          </a:xfrm>
          <a:prstGeom prst="rect">
            <a:avLst/>
          </a:prstGeom>
          <a:noFill/>
          <a:ln/>
        </p:spPr>
        <p:txBody>
          <a:bodyPr wrap="square" lIns="0" tIns="0" rIns="0" bIns="0" rtlCol="0" anchor="t"/>
          <a:lstStyle/>
          <a:p>
            <a:pPr indent="0" marL="0">
              <a:buNone/>
            </a:pPr>
            <a:r>
              <a:rPr lang="en-US" sz="2200" dirty="0">
                <a:solidFill>
                  <a:schemeClr val="accent5"/>
                </a:solidFill>
              </a:rPr>
              <a:t>How language packages action–result relations in adults and children</a:t>
            </a:r>
            <a:endParaRPr lang="en-US" sz="2200" dirty="0"/>
          </a:p>
        </p:txBody>
      </p:sp>
      <p:sp>
        <p:nvSpPr>
          <p:cNvPr id="4" name="Text 0"/>
          <p:cNvSpPr/>
          <p:nvPr>
            <p:ph idx="102" type="body" hasCustomPrompt="1"/>
          </p:nvPr>
        </p:nvSpPr>
        <p:spPr>
          <a:xfrm>
            <a:off x="548640" y="4846320"/>
            <a:ext cx="11094415" cy="1188720"/>
          </a:xfrm>
          <a:prstGeom prst="rect">
            <a:avLst/>
          </a:prstGeom>
          <a:noFill/>
          <a:ln/>
        </p:spPr>
        <p:txBody>
          <a:bodyPr wrap="square" lIns="0" tIns="0" rIns="0" bIns="0" rtlCol="0" anchor="t"/>
          <a:lstStyle/>
          <a:p>
            <a:pPr indent="0" marL="0">
              <a:buNone/>
            </a:pPr>
            <a:r>
              <a:rPr lang="en-US" sz="1600" b="1" dirty="0">
                <a:solidFill>
                  <a:schemeClr val="bg1"/>
                </a:solidFill>
              </a:rPr>
              <a:t>Xiaotao Liu</a:t>
            </a:r>
            <a:endParaRPr lang="en-US" sz="1600" dirty="0"/>
          </a:p>
          <a:p>
            <a:pPr indent="0" marL="0">
              <a:buNone/>
            </a:pPr>
            <a:r>
              <a:rPr lang="en-US" sz="1600" dirty="0">
                <a:solidFill>
                  <a:schemeClr val="bg1"/>
                </a:solidFill>
              </a:rPr>
              <a:t>PhD candidate, Applied Linguistics, University of Auckland</a:t>
            </a:r>
            <a:endParaRPr lang="en-US" sz="1600" dirty="0"/>
          </a:p>
          <a:p>
            <a:pPr indent="0" marL="0">
              <a:buNone/>
            </a:pPr>
            <a:r>
              <a:rPr lang="en-US" sz="1600" dirty="0">
                <a:solidFill>
                  <a:schemeClr val="bg1"/>
                </a:solidFill>
              </a:rPr>
              <a:t>Postdoctoral interview · Tsinghua Child Cognition Center ·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One question across my work</a:t>
            </a:r>
            <a:endParaRPr lang="en-US" sz="3200" dirty="0"/>
          </a:p>
        </p:txBody>
      </p:sp>
      <p:sp>
        <p:nvSpPr>
          <p:cNvPr id="3" name="Shape 1"/>
          <p:cNvSpPr/>
          <p:nvPr/>
        </p:nvSpPr>
        <p:spPr>
          <a:xfrm>
            <a:off x="548640" y="1417320"/>
            <a:ext cx="5394960" cy="3977640"/>
          </a:xfrm>
          <a:prstGeom prst="roundRect">
            <a:avLst>
              <a:gd name="adj" fmla="val 2299"/>
            </a:avLst>
          </a:prstGeom>
          <a:solidFill>
            <a:schemeClr val="bg2"/>
          </a:solidFill>
          <a:ln/>
        </p:spPr>
      </p:sp>
      <p:sp>
        <p:nvSpPr>
          <p:cNvPr id="4" name="Text 2"/>
          <p:cNvSpPr txBox="1"/>
          <p:nvPr/>
        </p:nvSpPr>
        <p:spPr>
          <a:xfrm>
            <a:off x="822960" y="1600200"/>
            <a:ext cx="4846320" cy="411480"/>
          </a:xfrm>
          <a:prstGeom prst="rect">
            <a:avLst/>
          </a:prstGeom>
          <a:noFill/>
          <a:ln/>
        </p:spPr>
        <p:txBody>
          <a:bodyPr wrap="square" lIns="0" tIns="0" rIns="0" bIns="0" rtlCol="0" anchor="ctr"/>
          <a:lstStyle/>
          <a:p>
            <a:pPr indent="0" marL="0">
              <a:buNone/>
            </a:pPr>
            <a:r>
              <a:rPr lang="en-US" sz="1800" b="1" dirty="0">
                <a:solidFill>
                  <a:schemeClr val="tx2"/>
                </a:solidFill>
              </a:rPr>
              <a:t>The same event, two descriptions</a:t>
            </a:r>
            <a:endParaRPr lang="en-US" sz="1800" dirty="0"/>
          </a:p>
        </p:txBody>
      </p:sp>
      <p:sp>
        <p:nvSpPr>
          <p:cNvPr id="5" name="Text 3"/>
          <p:cNvSpPr txBox="1"/>
          <p:nvPr/>
        </p:nvSpPr>
        <p:spPr>
          <a:xfrm>
            <a:off x="822960" y="2148840"/>
            <a:ext cx="4846320" cy="1005840"/>
          </a:xfrm>
          <a:prstGeom prst="rect">
            <a:avLst/>
          </a:prstGeom>
          <a:noFill/>
          <a:ln/>
        </p:spPr>
        <p:txBody>
          <a:bodyPr wrap="square" lIns="0" tIns="0" rIns="0" bIns="0" rtlCol="0" anchor="t"/>
          <a:lstStyle/>
          <a:p>
            <a:pPr indent="0" marL="0">
              <a:buNone/>
            </a:pPr>
            <a:r>
              <a:rPr lang="en-US" sz="3000" b="1" dirty="0">
                <a:solidFill>
                  <a:schemeClr val="accent3"/>
                </a:solidFill>
              </a:rPr>
              <a:t>擦 cā</a:t>
            </a:r>
            <a:endParaRPr lang="en-US" sz="3000" dirty="0"/>
          </a:p>
          <a:p>
            <a:pPr indent="0" marL="0">
              <a:buNone/>
            </a:pPr>
            <a:r>
              <a:rPr lang="en-US" sz="1600" dirty="0">
                <a:solidFill>
                  <a:schemeClr val="tx1"/>
                </a:solidFill>
              </a:rPr>
              <a:t>“wipe”  →  action only</a:t>
            </a:r>
            <a:endParaRPr lang="en-US" sz="3000" dirty="0"/>
          </a:p>
        </p:txBody>
      </p:sp>
      <p:sp>
        <p:nvSpPr>
          <p:cNvPr id="6" name="Text 4"/>
          <p:cNvSpPr txBox="1"/>
          <p:nvPr/>
        </p:nvSpPr>
        <p:spPr>
          <a:xfrm>
            <a:off x="822960" y="3291840"/>
            <a:ext cx="4846320" cy="1005840"/>
          </a:xfrm>
          <a:prstGeom prst="rect">
            <a:avLst/>
          </a:prstGeom>
          <a:noFill/>
          <a:ln/>
        </p:spPr>
        <p:txBody>
          <a:bodyPr wrap="square" lIns="0" tIns="0" rIns="0" bIns="0" rtlCol="0" anchor="t"/>
          <a:lstStyle/>
          <a:p>
            <a:pPr indent="0" marL="0">
              <a:buNone/>
            </a:pPr>
            <a:r>
              <a:rPr lang="en-US" sz="3000" b="1" dirty="0">
                <a:solidFill>
                  <a:schemeClr val="accent2"/>
                </a:solidFill>
              </a:rPr>
              <a:t>擦干净 cā-gānjìng</a:t>
            </a:r>
            <a:endParaRPr lang="en-US" sz="3000" dirty="0"/>
          </a:p>
          <a:p>
            <a:pPr indent="0" marL="0">
              <a:buNone/>
            </a:pPr>
            <a:r>
              <a:rPr lang="en-US" sz="1600" dirty="0">
                <a:solidFill>
                  <a:schemeClr val="tx1"/>
                </a:solidFill>
              </a:rPr>
              <a:t>“wipe clean”  →  action + result in one word</a:t>
            </a:r>
            <a:endParaRPr lang="en-US" sz="3000" dirty="0"/>
          </a:p>
        </p:txBody>
      </p:sp>
      <p:sp>
        <p:nvSpPr>
          <p:cNvPr id="7" name="Text 5"/>
          <p:cNvSpPr txBox="1"/>
          <p:nvPr/>
        </p:nvSpPr>
        <p:spPr>
          <a:xfrm>
            <a:off x="822960" y="4434840"/>
            <a:ext cx="4846320" cy="822960"/>
          </a:xfrm>
          <a:prstGeom prst="rect">
            <a:avLst/>
          </a:prstGeom>
          <a:noFill/>
          <a:ln/>
        </p:spPr>
        <p:txBody>
          <a:bodyPr wrap="square" lIns="0" tIns="0" rIns="0" bIns="0" rtlCol="0" anchor="t"/>
          <a:lstStyle/>
          <a:p>
            <a:pPr indent="0" marL="0">
              <a:buNone/>
            </a:pPr>
            <a:r>
              <a:rPr lang="en-US" sz="1500" i="1" dirty="0">
                <a:solidFill>
                  <a:schemeClr val="tx1"/>
                </a:solidFill>
              </a:rPr>
              <a:t>Does how a language encodes the action–result relation shape what speakers attend to, and what children learn?</a:t>
            </a:r>
            <a:endParaRPr lang="en-US" sz="1500" dirty="0"/>
          </a:p>
        </p:txBody>
      </p:sp>
      <p:sp>
        <p:nvSpPr>
          <p:cNvPr id="8" name="Shape 6"/>
          <p:cNvSpPr/>
          <p:nvPr/>
        </p:nvSpPr>
        <p:spPr>
          <a:xfrm>
            <a:off x="6400800" y="1508760"/>
            <a:ext cx="502920" cy="502920"/>
          </a:xfrm>
          <a:prstGeom prst="ellipse">
            <a:avLst/>
          </a:prstGeom>
          <a:solidFill>
            <a:schemeClr val="accent1"/>
          </a:solidFill>
          <a:ln/>
        </p:spPr>
      </p:sp>
      <p:sp>
        <p:nvSpPr>
          <p:cNvPr id="9" name="Text 7"/>
          <p:cNvSpPr txBox="1"/>
          <p:nvPr/>
        </p:nvSpPr>
        <p:spPr>
          <a:xfrm>
            <a:off x="6400800" y="15087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0" name="Text 8"/>
          <p:cNvSpPr txBox="1"/>
          <p:nvPr/>
        </p:nvSpPr>
        <p:spPr>
          <a:xfrm>
            <a:off x="7132320" y="1435608"/>
            <a:ext cx="4510735" cy="1051560"/>
          </a:xfrm>
          <a:prstGeom prst="rect">
            <a:avLst/>
          </a:prstGeom>
          <a:noFill/>
          <a:ln/>
        </p:spPr>
        <p:txBody>
          <a:bodyPr wrap="square" lIns="0" tIns="0" rIns="0" bIns="0" rtlCol="0" anchor="t"/>
          <a:lstStyle/>
          <a:p>
            <a:pPr indent="0" marL="0">
              <a:buNone/>
            </a:pPr>
            <a:r>
              <a:rPr lang="en-US" sz="1900" b="1" dirty="0">
                <a:solidFill>
                  <a:schemeClr val="tx2"/>
                </a:solidFill>
              </a:rPr>
              <a:t>Adults (PhD)</a:t>
            </a:r>
            <a:endParaRPr lang="en-US" sz="1900" dirty="0"/>
          </a:p>
          <a:p>
            <a:pPr indent="0" marL="0">
              <a:buNone/>
            </a:pPr>
            <a:r>
              <a:rPr lang="en-US" sz="1500" dirty="0">
                <a:solidFill>
                  <a:schemeClr val="tx1"/>
                </a:solidFill>
              </a:rPr>
              <a:t>Language and event processing: English vs. Mandarin</a:t>
            </a:r>
            <a:endParaRPr lang="en-US" sz="1900" dirty="0"/>
          </a:p>
        </p:txBody>
      </p:sp>
      <p:sp>
        <p:nvSpPr>
          <p:cNvPr id="11" name="Shape 9"/>
          <p:cNvSpPr/>
          <p:nvPr/>
        </p:nvSpPr>
        <p:spPr>
          <a:xfrm>
            <a:off x="6400800" y="2834640"/>
            <a:ext cx="502920" cy="502920"/>
          </a:xfrm>
          <a:prstGeom prst="ellipse">
            <a:avLst/>
          </a:prstGeom>
          <a:solidFill>
            <a:schemeClr val="accent1"/>
          </a:solidFill>
          <a:ln/>
        </p:spPr>
      </p:sp>
      <p:sp>
        <p:nvSpPr>
          <p:cNvPr id="12" name="Text 10"/>
          <p:cNvSpPr txBox="1"/>
          <p:nvPr/>
        </p:nvSpPr>
        <p:spPr>
          <a:xfrm>
            <a:off x="6400800" y="28346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1"/>
          <p:cNvSpPr txBox="1"/>
          <p:nvPr/>
        </p:nvSpPr>
        <p:spPr>
          <a:xfrm>
            <a:off x="7132320" y="2761488"/>
            <a:ext cx="4510735" cy="1051560"/>
          </a:xfrm>
          <a:prstGeom prst="rect">
            <a:avLst/>
          </a:prstGeom>
          <a:noFill/>
          <a:ln/>
        </p:spPr>
        <p:txBody>
          <a:bodyPr wrap="square" lIns="0" tIns="0" rIns="0" bIns="0" rtlCol="0" anchor="t"/>
          <a:lstStyle/>
          <a:p>
            <a:pPr indent="0" marL="0">
              <a:buNone/>
            </a:pPr>
            <a:r>
              <a:rPr lang="en-US" sz="1900" b="1" dirty="0">
                <a:solidFill>
                  <a:schemeClr val="tx2"/>
                </a:solidFill>
              </a:rPr>
              <a:t>Children (with Yue Ji)</a:t>
            </a:r>
            <a:endParaRPr lang="en-US" sz="1900" dirty="0"/>
          </a:p>
          <a:p>
            <a:pPr indent="0" marL="0">
              <a:buNone/>
            </a:pPr>
            <a:r>
              <a:rPr lang="en-US" sz="1500" dirty="0">
                <a:solidFill>
                  <a:schemeClr val="tx1"/>
                </a:solidFill>
              </a:rPr>
              <a:t>How 4–5-year-olds interpret and describe actions and results</a:t>
            </a:r>
            <a:endParaRPr lang="en-US" sz="1900" dirty="0"/>
          </a:p>
        </p:txBody>
      </p:sp>
      <p:sp>
        <p:nvSpPr>
          <p:cNvPr id="14" name="Shape 12"/>
          <p:cNvSpPr/>
          <p:nvPr/>
        </p:nvSpPr>
        <p:spPr>
          <a:xfrm>
            <a:off x="6400800" y="4160520"/>
            <a:ext cx="502920" cy="502920"/>
          </a:xfrm>
          <a:prstGeom prst="ellipse">
            <a:avLst/>
          </a:prstGeom>
          <a:solidFill>
            <a:schemeClr val="accent2"/>
          </a:solidFill>
          <a:ln/>
        </p:spPr>
      </p:sp>
      <p:sp>
        <p:nvSpPr>
          <p:cNvPr id="15" name="Text 13"/>
          <p:cNvSpPr txBox="1"/>
          <p:nvPr/>
        </p:nvSpPr>
        <p:spPr>
          <a:xfrm>
            <a:off x="6400800" y="41605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4"/>
          <p:cNvSpPr txBox="1"/>
          <p:nvPr/>
        </p:nvSpPr>
        <p:spPr>
          <a:xfrm>
            <a:off x="7132320" y="4087368"/>
            <a:ext cx="4510735" cy="1051560"/>
          </a:xfrm>
          <a:prstGeom prst="rect">
            <a:avLst/>
          </a:prstGeom>
          <a:noFill/>
          <a:ln/>
        </p:spPr>
        <p:txBody>
          <a:bodyPr wrap="square" lIns="0" tIns="0" rIns="0" bIns="0" rtlCol="0" anchor="t"/>
          <a:lstStyle/>
          <a:p>
            <a:pPr indent="0" marL="0">
              <a:buNone/>
            </a:pPr>
            <a:r>
              <a:rPr lang="en-US" sz="1900" b="1" dirty="0">
                <a:solidFill>
                  <a:schemeClr val="tx2"/>
                </a:solidFill>
              </a:rPr>
              <a:t>Next: your group</a:t>
            </a:r>
            <a:endParaRPr lang="en-US" sz="1900" dirty="0"/>
          </a:p>
          <a:p>
            <a:pPr indent="0" marL="0">
              <a:buNone/>
            </a:pPr>
            <a:r>
              <a:rPr lang="en-US" sz="1500" dirty="0">
                <a:solidFill>
                  <a:schemeClr val="tx1"/>
                </a:solidFill>
              </a:rPr>
              <a:t>Language as a tool for relational abstraction</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PhD: Does linguistic encoding align with event processing?</a:t>
            </a:r>
            <a:endParaRPr lang="en-US" sz="3200" dirty="0"/>
          </a:p>
        </p:txBody>
      </p:sp>
      <p:pic>
        <p:nvPicPr>
          <p:cNvPr id="3" name="Image 0" descr="/tmp/claude-0/-home-user-claude/12fa8dee-b419-5de1-b9d8-ad8a73869b32/scratchpad/frames.jpg">    </p:cNvPr>
          <p:cNvPicPr>
            <a:picLocks noChangeAspect="1"/>
          </p:cNvPicPr>
          <p:nvPr/>
        </p:nvPicPr>
        <p:blipFill>
          <a:blip r:embed="rId1"/>
          <a:stretch>
            <a:fillRect/>
          </a:stretch>
        </p:blipFill>
        <p:spPr>
          <a:xfrm>
            <a:off x="548640" y="1325880"/>
            <a:ext cx="6766560" cy="1172870"/>
          </a:xfrm>
          <a:prstGeom prst="rect">
            <a:avLst/>
          </a:prstGeom>
        </p:spPr>
      </p:pic>
      <p:sp>
        <p:nvSpPr>
          <p:cNvPr id="4" name="Text 1"/>
          <p:cNvSpPr txBox="1"/>
          <p:nvPr/>
        </p:nvSpPr>
        <p:spPr>
          <a:xfrm>
            <a:off x="548640" y="2571902"/>
            <a:ext cx="6766560" cy="320040"/>
          </a:xfrm>
          <a:prstGeom prst="rect">
            <a:avLst/>
          </a:prstGeom>
          <a:noFill/>
          <a:ln/>
        </p:spPr>
        <p:txBody>
          <a:bodyPr wrap="square" lIns="0" tIns="0" rIns="0" bIns="0" rtlCol="0" anchor="ctr"/>
          <a:lstStyle/>
          <a:p>
            <a:pPr indent="0" marL="0">
              <a:buNone/>
            </a:pPr>
            <a:r>
              <a:rPr lang="en-US" sz="1200" dirty="0">
                <a:solidFill>
                  <a:schemeClr val="accent3"/>
                </a:solidFill>
              </a:rPr>
              <a:t>44 matched videos · 22 objects · each cut and blended</a:t>
            </a:r>
            <a:endParaRPr lang="en-US" sz="1200" dirty="0"/>
          </a:p>
        </p:txBody>
      </p:sp>
      <p:sp>
        <p:nvSpPr>
          <p:cNvPr id="5" name="Text 2"/>
          <p:cNvSpPr txBox="1"/>
          <p:nvPr/>
        </p:nvSpPr>
        <p:spPr>
          <a:xfrm>
            <a:off x="7589520" y="1325880"/>
            <a:ext cx="4053535" cy="14630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Cutting</a:t>
            </a:r>
            <a:pPr indent="0" marL="0">
              <a:spcAft>
                <a:spcPts val="400"/>
              </a:spcAft>
              <a:buNone/>
            </a:pPr>
            <a:r>
              <a:rPr lang="en-US" sz="1500" dirty="0">
                <a:solidFill>
                  <a:schemeClr val="tx1"/>
                </a:solidFill>
              </a:rPr>
              <a:t>: clear endpoint (object separates)</a:t>
            </a:r>
            <a:endParaRPr lang="en-US" sz="1500" dirty="0"/>
          </a:p>
          <a:p>
            <a:pPr indent="0" marL="0">
              <a:spcAft>
                <a:spcPts val="400"/>
              </a:spcAft>
              <a:buNone/>
            </a:pPr>
            <a:r>
              <a:rPr lang="en-US" sz="1500" b="1" dirty="0">
                <a:solidFill>
                  <a:schemeClr val="tx2"/>
                </a:solidFill>
              </a:rPr>
              <a:t>Blending</a:t>
            </a:r>
            <a:pPr indent="0" marL="0">
              <a:spcAft>
                <a:spcPts val="400"/>
              </a:spcAft>
              <a:buNone/>
            </a:pPr>
            <a:r>
              <a:rPr lang="en-US" sz="1500" dirty="0">
                <a:solidFill>
                  <a:schemeClr val="tx1"/>
                </a:solidFill>
              </a:rPr>
              <a:t>: endpoint depends on the goal</a:t>
            </a:r>
            <a:endParaRPr lang="en-US" sz="1500" dirty="0"/>
          </a:p>
          <a:p>
            <a:pPr indent="0" marL="0">
              <a:spcAft>
                <a:spcPts val="400"/>
              </a:spcAft>
              <a:buNone/>
            </a:pPr>
            <a:r>
              <a:rPr lang="en-US" sz="1500" dirty="0">
                <a:solidFill>
                  <a:schemeClr val="accent3"/>
                </a:solidFill>
              </a:rPr>
              <a:t>Norming confirmed cutting endpoints are more salient</a:t>
            </a:r>
            <a:endParaRPr lang="en-US" sz="1500" dirty="0"/>
          </a:p>
        </p:txBody>
      </p:sp>
      <p:sp>
        <p:nvSpPr>
          <p:cNvPr id="6" name="card-Encoding"/>
          <p:cNvSpPr/>
          <p:nvPr/>
        </p:nvSpPr>
        <p:spPr>
          <a:xfrm>
            <a:off x="548640" y="3246120"/>
            <a:ext cx="3337560" cy="2103120"/>
          </a:xfrm>
          <a:prstGeom prst="roundRect">
            <a:avLst>
              <a:gd name="adj" fmla="val 4348"/>
            </a:avLst>
          </a:prstGeom>
          <a:solidFill>
            <a:schemeClr val="bg2"/>
          </a:solidFill>
          <a:ln/>
        </p:spPr>
      </p:sp>
      <p:sp>
        <p:nvSpPr>
          <p:cNvPr id="7" name="Text 4"/>
          <p:cNvSpPr txBox="1"/>
          <p:nvPr/>
        </p:nvSpPr>
        <p:spPr>
          <a:xfrm>
            <a:off x="777240" y="3429000"/>
            <a:ext cx="2880360" cy="1737360"/>
          </a:xfrm>
          <a:prstGeom prst="rect">
            <a:avLst/>
          </a:prstGeom>
          <a:noFill/>
          <a:ln/>
        </p:spPr>
        <p:txBody>
          <a:bodyPr wrap="square" lIns="0" tIns="0" rIns="0" bIns="0" rtlCol="0" anchor="t"/>
          <a:lstStyle/>
          <a:p>
            <a:pPr indent="0" marL="0">
              <a:spcAft>
                <a:spcPts val="600"/>
              </a:spcAft>
              <a:buNone/>
            </a:pPr>
            <a:r>
              <a:rPr lang="en-US" sz="1800" b="1" dirty="0">
                <a:solidFill>
                  <a:schemeClr val="tx2"/>
                </a:solidFill>
              </a:rPr>
              <a:t>Encoding</a:t>
            </a:r>
            <a:endParaRPr lang="en-US" sz="1800" dirty="0"/>
          </a:p>
          <a:p>
            <a:pPr indent="0" marL="0">
              <a:spcAft>
                <a:spcPts val="600"/>
              </a:spcAft>
              <a:buNone/>
            </a:pPr>
            <a:r>
              <a:rPr lang="en-US" sz="1500" dirty="0">
                <a:solidFill>
                  <a:schemeClr val="tx1"/>
                </a:solidFill>
              </a:rPr>
              <a:t>Exp 1 · Describe the videos</a:t>
            </a:r>
            <a:endParaRPr lang="en-US" sz="1800" dirty="0"/>
          </a:p>
          <a:p>
            <a:pPr indent="0" marL="0">
              <a:spcAft>
                <a:spcPts val="600"/>
              </a:spcAft>
              <a:buNone/>
            </a:pPr>
            <a:r>
              <a:rPr lang="en-US" sz="1500" dirty="0">
                <a:solidFill>
                  <a:schemeClr val="tx1"/>
                </a:solidFill>
              </a:rPr>
              <a:t>20 English + 20 Mandarin</a:t>
            </a:r>
            <a:endParaRPr lang="en-US" sz="1800" dirty="0"/>
          </a:p>
        </p:txBody>
      </p:sp>
      <p:sp>
        <p:nvSpPr>
          <p:cNvPr id="8" name="Text 5"/>
          <p:cNvSpPr txBox="1"/>
          <p:nvPr/>
        </p:nvSpPr>
        <p:spPr>
          <a:xfrm>
            <a:off x="3886200" y="3977640"/>
            <a:ext cx="548640" cy="54864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9" name="card-Processing"/>
          <p:cNvSpPr/>
          <p:nvPr/>
        </p:nvSpPr>
        <p:spPr>
          <a:xfrm>
            <a:off x="4434840" y="3246120"/>
            <a:ext cx="3337560" cy="2103120"/>
          </a:xfrm>
          <a:prstGeom prst="roundRect">
            <a:avLst>
              <a:gd name="adj" fmla="val 4348"/>
            </a:avLst>
          </a:prstGeom>
          <a:solidFill>
            <a:schemeClr val="bg2"/>
          </a:solidFill>
          <a:ln/>
        </p:spPr>
      </p:sp>
      <p:sp>
        <p:nvSpPr>
          <p:cNvPr id="10" name="Text 7"/>
          <p:cNvSpPr txBox="1"/>
          <p:nvPr/>
        </p:nvSpPr>
        <p:spPr>
          <a:xfrm>
            <a:off x="4663440" y="3429000"/>
            <a:ext cx="2880360" cy="1737360"/>
          </a:xfrm>
          <a:prstGeom prst="rect">
            <a:avLst/>
          </a:prstGeom>
          <a:noFill/>
          <a:ln/>
        </p:spPr>
        <p:txBody>
          <a:bodyPr wrap="square" lIns="0" tIns="0" rIns="0" bIns="0" rtlCol="0" anchor="t"/>
          <a:lstStyle/>
          <a:p>
            <a:pPr indent="0" marL="0">
              <a:spcAft>
                <a:spcPts val="600"/>
              </a:spcAft>
              <a:buNone/>
            </a:pPr>
            <a:r>
              <a:rPr lang="en-US" sz="1800" b="1" dirty="0">
                <a:solidFill>
                  <a:schemeClr val="tx2"/>
                </a:solidFill>
              </a:rPr>
              <a:t>Processing</a:t>
            </a:r>
            <a:endParaRPr lang="en-US" sz="1800" dirty="0"/>
          </a:p>
          <a:p>
            <a:pPr indent="0" marL="0">
              <a:spcAft>
                <a:spcPts val="600"/>
              </a:spcAft>
              <a:buNone/>
            </a:pPr>
            <a:r>
              <a:rPr lang="en-US" sz="1500" dirty="0">
                <a:solidFill>
                  <a:schemeClr val="tx1"/>
                </a:solidFill>
              </a:rPr>
              <a:t>Exp 2 · Interruption detection</a:t>
            </a:r>
            <a:endParaRPr lang="en-US" sz="1800" dirty="0"/>
          </a:p>
          <a:p>
            <a:pPr indent="0" marL="0">
              <a:spcAft>
                <a:spcPts val="600"/>
              </a:spcAft>
              <a:buNone/>
            </a:pPr>
            <a:r>
              <a:rPr lang="en-US" sz="1500" dirty="0">
                <a:solidFill>
                  <a:schemeClr val="tx1"/>
                </a:solidFill>
              </a:rPr>
              <a:t>Exp 3 · Boundary tapping</a:t>
            </a:r>
            <a:endParaRPr lang="en-US" sz="1800" dirty="0"/>
          </a:p>
          <a:p>
            <a:pPr indent="0" marL="0">
              <a:spcAft>
                <a:spcPts val="600"/>
              </a:spcAft>
              <a:buNone/>
            </a:pPr>
            <a:r>
              <a:rPr lang="en-US" sz="1500" dirty="0">
                <a:solidFill>
                  <a:schemeClr val="tx1"/>
                </a:solidFill>
              </a:rPr>
              <a:t>64 + 64 · 20 + 20</a:t>
            </a:r>
            <a:endParaRPr lang="en-US" sz="1800" dirty="0"/>
          </a:p>
        </p:txBody>
      </p:sp>
      <p:sp>
        <p:nvSpPr>
          <p:cNvPr id="11" name="Text 8"/>
          <p:cNvSpPr txBox="1"/>
          <p:nvPr/>
        </p:nvSpPr>
        <p:spPr>
          <a:xfrm>
            <a:off x="7772400" y="3977640"/>
            <a:ext cx="548640" cy="54864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2" name="card-Malleability"/>
          <p:cNvSpPr/>
          <p:nvPr/>
        </p:nvSpPr>
        <p:spPr>
          <a:xfrm>
            <a:off x="8321040" y="3246120"/>
            <a:ext cx="3337560" cy="2103120"/>
          </a:xfrm>
          <a:prstGeom prst="roundRect">
            <a:avLst>
              <a:gd name="adj" fmla="val 4348"/>
            </a:avLst>
          </a:prstGeom>
          <a:solidFill>
            <a:schemeClr val="bg2"/>
          </a:solidFill>
          <a:ln/>
        </p:spPr>
      </p:sp>
      <p:sp>
        <p:nvSpPr>
          <p:cNvPr id="13" name="Text 10"/>
          <p:cNvSpPr txBox="1"/>
          <p:nvPr/>
        </p:nvSpPr>
        <p:spPr>
          <a:xfrm>
            <a:off x="8549640" y="3429000"/>
            <a:ext cx="2880360" cy="1737360"/>
          </a:xfrm>
          <a:prstGeom prst="rect">
            <a:avLst/>
          </a:prstGeom>
          <a:noFill/>
          <a:ln/>
        </p:spPr>
        <p:txBody>
          <a:bodyPr wrap="square" lIns="0" tIns="0" rIns="0" bIns="0" rtlCol="0" anchor="t"/>
          <a:lstStyle/>
          <a:p>
            <a:pPr indent="0" marL="0">
              <a:spcAft>
                <a:spcPts val="600"/>
              </a:spcAft>
              <a:buNone/>
            </a:pPr>
            <a:r>
              <a:rPr lang="en-US" sz="1800" b="1" dirty="0">
                <a:solidFill>
                  <a:schemeClr val="tx2"/>
                </a:solidFill>
              </a:rPr>
              <a:t>Malleability</a:t>
            </a:r>
            <a:endParaRPr lang="en-US" sz="1800" dirty="0"/>
          </a:p>
          <a:p>
            <a:pPr indent="0" marL="0">
              <a:spcAft>
                <a:spcPts val="600"/>
              </a:spcAft>
              <a:buNone/>
            </a:pPr>
            <a:r>
              <a:rPr lang="en-US" sz="1500" dirty="0">
                <a:solidFill>
                  <a:schemeClr val="tx1"/>
                </a:solidFill>
              </a:rPr>
              <a:t>Exp 4–5 · Lexical and phrasal priming</a:t>
            </a:r>
            <a:endParaRPr lang="en-US" sz="1800" dirty="0"/>
          </a:p>
          <a:p>
            <a:pPr indent="0" marL="0">
              <a:spcAft>
                <a:spcPts val="600"/>
              </a:spcAft>
              <a:buNone/>
            </a:pPr>
            <a:r>
              <a:rPr lang="en-US" sz="1500" dirty="0">
                <a:solidFill>
                  <a:schemeClr val="tx1"/>
                </a:solidFill>
              </a:rPr>
              <a:t>60 + 60 · 36 + 36</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Exp 1: The two languages encode the same events differently</a:t>
            </a:r>
            <a:endParaRPr lang="en-US" sz="3200" dirty="0"/>
          </a:p>
        </p:txBody>
      </p:sp>
      <p:graphicFrame>
        <p:nvGraphicFramePr>
          <p:cNvPr id="3" name="Chart 0" descr=""/>
          <p:cNvGraphicFramePr/>
          <p:nvPr/>
        </p:nvGraphicFramePr>
        <p:xfrm>
          <a:off x="548640" y="1280160"/>
          <a:ext cx="6035040" cy="41605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22960" y="5367528"/>
            <a:ext cx="201168" cy="201168"/>
          </a:xfrm>
          <a:prstGeom prst="rect">
            <a:avLst/>
          </a:prstGeom>
          <a:solidFill>
            <a:schemeClr val="accent3"/>
          </a:solidFill>
          <a:ln/>
        </p:spPr>
      </p:sp>
      <p:sp>
        <p:nvSpPr>
          <p:cNvPr id="5" name="Text 2"/>
          <p:cNvSpPr txBox="1"/>
          <p:nvPr/>
        </p:nvSpPr>
        <p:spPr>
          <a:xfrm>
            <a:off x="1097280" y="5303520"/>
            <a:ext cx="1005840" cy="329184"/>
          </a:xfrm>
          <a:prstGeom prst="rect">
            <a:avLst/>
          </a:prstGeom>
          <a:noFill/>
          <a:ln/>
        </p:spPr>
        <p:txBody>
          <a:bodyPr wrap="square" lIns="0" tIns="0" rIns="0" bIns="0" rtlCol="0" anchor="ctr"/>
          <a:lstStyle/>
          <a:p>
            <a:pPr indent="0" marL="0">
              <a:buNone/>
            </a:pPr>
            <a:r>
              <a:rPr lang="en-US" sz="1400" dirty="0">
                <a:solidFill>
                  <a:schemeClr val="tx1"/>
                </a:solidFill>
              </a:rPr>
              <a:t>English</a:t>
            </a:r>
            <a:endParaRPr lang="en-US" sz="1400" dirty="0"/>
          </a:p>
        </p:txBody>
      </p:sp>
      <p:sp>
        <p:nvSpPr>
          <p:cNvPr id="6" name="Shape 3"/>
          <p:cNvSpPr/>
          <p:nvPr/>
        </p:nvSpPr>
        <p:spPr>
          <a:xfrm>
            <a:off x="2148840" y="5367528"/>
            <a:ext cx="201168" cy="201168"/>
          </a:xfrm>
          <a:prstGeom prst="rect">
            <a:avLst/>
          </a:prstGeom>
          <a:solidFill>
            <a:schemeClr val="accent2"/>
          </a:solidFill>
          <a:ln/>
        </p:spPr>
      </p:sp>
      <p:sp>
        <p:nvSpPr>
          <p:cNvPr id="7" name="Text 4"/>
          <p:cNvSpPr txBox="1"/>
          <p:nvPr/>
        </p:nvSpPr>
        <p:spPr>
          <a:xfrm>
            <a:off x="2423160" y="5303520"/>
            <a:ext cx="1097280" cy="329184"/>
          </a:xfrm>
          <a:prstGeom prst="rect">
            <a:avLst/>
          </a:prstGeom>
          <a:noFill/>
          <a:ln/>
        </p:spPr>
        <p:txBody>
          <a:bodyPr wrap="square" lIns="0" tIns="0" rIns="0" bIns="0" rtlCol="0" anchor="ctr"/>
          <a:lstStyle/>
          <a:p>
            <a:pPr indent="0" marL="0">
              <a:buNone/>
            </a:pPr>
            <a:r>
              <a:rPr lang="en-US" sz="1400" dirty="0">
                <a:solidFill>
                  <a:schemeClr val="tx1"/>
                </a:solidFill>
              </a:rPr>
              <a:t>Mandarin</a:t>
            </a:r>
            <a:endParaRPr lang="en-US" sz="1400" dirty="0"/>
          </a:p>
        </p:txBody>
      </p:sp>
      <p:sp>
        <p:nvSpPr>
          <p:cNvPr id="8" name="card-Quantized NPs (“an apple”)"/>
          <p:cNvSpPr/>
          <p:nvPr/>
        </p:nvSpPr>
        <p:spPr>
          <a:xfrm>
            <a:off x="6949440" y="1371600"/>
            <a:ext cx="4693615" cy="1874520"/>
          </a:xfrm>
          <a:prstGeom prst="roundRect">
            <a:avLst>
              <a:gd name="adj" fmla="val 4878"/>
            </a:avLst>
          </a:prstGeom>
          <a:solidFill>
            <a:schemeClr val="bg2"/>
          </a:solidFill>
          <a:ln/>
        </p:spPr>
      </p:sp>
      <p:sp>
        <p:nvSpPr>
          <p:cNvPr id="9" name="Text 6"/>
          <p:cNvSpPr txBox="1"/>
          <p:nvPr/>
        </p:nvSpPr>
        <p:spPr>
          <a:xfrm>
            <a:off x="7178040" y="1554480"/>
            <a:ext cx="4236415" cy="1508760"/>
          </a:xfrm>
          <a:prstGeom prst="rect">
            <a:avLst/>
          </a:prstGeom>
          <a:noFill/>
          <a:ln/>
        </p:spPr>
        <p:txBody>
          <a:bodyPr wrap="square" lIns="0" tIns="0" rIns="0" bIns="0" rtlCol="0" anchor="t"/>
          <a:lstStyle/>
          <a:p>
            <a:pPr indent="0" marL="0">
              <a:spcAft>
                <a:spcPts val="600"/>
              </a:spcAft>
              <a:buNone/>
            </a:pPr>
            <a:r>
              <a:rPr lang="en-US" sz="1800" b="1" dirty="0">
                <a:solidFill>
                  <a:schemeClr val="tx2"/>
                </a:solidFill>
              </a:rPr>
              <a:t>Quantized NPs (“an apple”)</a:t>
            </a:r>
            <a:endParaRPr lang="en-US" sz="1800" dirty="0"/>
          </a:p>
          <a:p>
            <a:pPr indent="0" marL="0">
              <a:spcAft>
                <a:spcPts val="600"/>
              </a:spcAft>
              <a:buNone/>
            </a:pPr>
            <a:r>
              <a:rPr lang="en-US" sz="1500" dirty="0">
                <a:solidFill>
                  <a:schemeClr val="tx1"/>
                </a:solidFill>
              </a:rPr>
              <a:t>English 67.9%  vs.  Mandarin 13.1%</a:t>
            </a:r>
            <a:endParaRPr lang="en-US" sz="1800" dirty="0"/>
          </a:p>
          <a:p>
            <a:pPr indent="0" marL="0">
              <a:spcAft>
                <a:spcPts val="600"/>
              </a:spcAft>
              <a:buNone/>
            </a:pPr>
            <a:r>
              <a:rPr lang="en-US" sz="1500" dirty="0">
                <a:solidFill>
                  <a:schemeClr val="tx1"/>
                </a:solidFill>
              </a:rPr>
              <a:t>English marks the object at event onset</a:t>
            </a:r>
            <a:endParaRPr lang="en-US" sz="1800" dirty="0"/>
          </a:p>
        </p:txBody>
      </p:sp>
      <p:sp>
        <p:nvSpPr>
          <p:cNvPr id="10" name="card-Resultatives in blending (切碎)"/>
          <p:cNvSpPr/>
          <p:nvPr/>
        </p:nvSpPr>
        <p:spPr>
          <a:xfrm>
            <a:off x="6949440" y="3474720"/>
            <a:ext cx="4693615" cy="1874520"/>
          </a:xfrm>
          <a:prstGeom prst="roundRect">
            <a:avLst>
              <a:gd name="adj" fmla="val 4878"/>
            </a:avLst>
          </a:prstGeom>
          <a:solidFill>
            <a:schemeClr val="bg2"/>
          </a:solidFill>
          <a:ln/>
        </p:spPr>
      </p:sp>
      <p:sp>
        <p:nvSpPr>
          <p:cNvPr id="11" name="Text 8"/>
          <p:cNvSpPr txBox="1"/>
          <p:nvPr/>
        </p:nvSpPr>
        <p:spPr>
          <a:xfrm>
            <a:off x="7178040" y="3657600"/>
            <a:ext cx="4236415" cy="1508760"/>
          </a:xfrm>
          <a:prstGeom prst="rect">
            <a:avLst/>
          </a:prstGeom>
          <a:noFill/>
          <a:ln/>
        </p:spPr>
        <p:txBody>
          <a:bodyPr wrap="square" lIns="0" tIns="0" rIns="0" bIns="0" rtlCol="0" anchor="t"/>
          <a:lstStyle/>
          <a:p>
            <a:pPr indent="0" marL="0">
              <a:spcAft>
                <a:spcPts val="600"/>
              </a:spcAft>
              <a:buNone/>
            </a:pPr>
            <a:r>
              <a:rPr lang="en-US" sz="1800" b="1" dirty="0">
                <a:solidFill>
                  <a:schemeClr val="tx2"/>
                </a:solidFill>
              </a:rPr>
              <a:t>Resultatives in blending (切碎)</a:t>
            </a:r>
            <a:endParaRPr lang="en-US" sz="1800" dirty="0"/>
          </a:p>
          <a:p>
            <a:pPr indent="0" marL="0">
              <a:spcAft>
                <a:spcPts val="600"/>
              </a:spcAft>
              <a:buNone/>
            </a:pPr>
            <a:r>
              <a:rPr lang="en-US" sz="1500" dirty="0">
                <a:solidFill>
                  <a:schemeClr val="tx1"/>
                </a:solidFill>
              </a:rPr>
              <a:t>English 17.2%  vs.  Mandarin 44.4%</a:t>
            </a:r>
            <a:endParaRPr lang="en-US" sz="1800" dirty="0"/>
          </a:p>
          <a:p>
            <a:pPr indent="0" marL="0">
              <a:spcAft>
                <a:spcPts val="600"/>
              </a:spcAft>
              <a:buNone/>
            </a:pPr>
            <a:r>
              <a:rPr lang="en-US" sz="1500" dirty="0">
                <a:solidFill>
                  <a:schemeClr val="tx1"/>
                </a:solidFill>
              </a:rPr>
              <a:t>Mandarin marks the result state</a:t>
            </a:r>
            <a:endParaRPr lang="en-US" sz="1800" dirty="0"/>
          </a:p>
        </p:txBody>
      </p:sp>
      <p:sp>
        <p:nvSpPr>
          <p:cNvPr id="12" name="takeaway-bg"/>
          <p:cNvSpPr/>
          <p:nvPr/>
        </p:nvSpPr>
        <p:spPr>
          <a:xfrm>
            <a:off x="548640" y="5669280"/>
            <a:ext cx="11094415" cy="548640"/>
          </a:xfrm>
          <a:prstGeom prst="roundRect">
            <a:avLst>
              <a:gd name="adj" fmla="val 13333"/>
            </a:avLst>
          </a:prstGeom>
          <a:solidFill>
            <a:schemeClr val="bg2"/>
          </a:solidFill>
          <a:ln/>
        </p:spPr>
      </p:sp>
      <p:sp>
        <p:nvSpPr>
          <p:cNvPr id="13" name="takeaway"/>
          <p:cNvSpPr txBox="1"/>
          <p:nvPr/>
        </p:nvSpPr>
        <p:spPr>
          <a:xfrm>
            <a:off x="777240" y="5669280"/>
            <a:ext cx="10637215" cy="548640"/>
          </a:xfrm>
          <a:prstGeom prst="rect">
            <a:avLst/>
          </a:prstGeom>
          <a:noFill/>
          <a:ln/>
        </p:spPr>
        <p:txBody>
          <a:bodyPr wrap="square" lIns="0" tIns="0" rIns="0" bIns="0" rtlCol="0" anchor="ctr"/>
          <a:lstStyle/>
          <a:p>
            <a:pPr indent="0" marL="0">
              <a:buNone/>
            </a:pPr>
            <a:r>
              <a:rPr lang="en-US" sz="1600" b="1" dirty="0">
                <a:solidFill>
                  <a:schemeClr val="accent2"/>
                </a:solidFill>
              </a:rPr>
              <a:t>Takeaway  </a:t>
            </a:r>
            <a:pPr indent="0" marL="0">
              <a:buNone/>
            </a:pPr>
            <a:r>
              <a:rPr lang="en-US" sz="1600" dirty="0">
                <a:solidFill>
                  <a:schemeClr val="tx1"/>
                </a:solidFill>
              </a:rPr>
              <a:t>English foregrounds the object and the cutting endpoint; Mandarin foregrounds the result state in blending.</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Exp 2–3: Processing differences line up with encoding</a:t>
            </a:r>
            <a:endParaRPr lang="en-US" sz="3200" dirty="0"/>
          </a:p>
        </p:txBody>
      </p:sp>
      <p:graphicFrame>
        <p:nvGraphicFramePr>
          <p:cNvPr id="3" name="Chart 0" descr=""/>
          <p:cNvGraphicFramePr/>
          <p:nvPr/>
        </p:nvGraphicFramePr>
        <p:xfrm>
          <a:off x="548640" y="1280160"/>
          <a:ext cx="5852160" cy="38404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22960" y="5138928"/>
            <a:ext cx="201168" cy="201168"/>
          </a:xfrm>
          <a:prstGeom prst="rect">
            <a:avLst/>
          </a:prstGeom>
          <a:solidFill>
            <a:schemeClr val="accent3"/>
          </a:solidFill>
          <a:ln/>
        </p:spPr>
      </p:sp>
      <p:sp>
        <p:nvSpPr>
          <p:cNvPr id="5" name="Text 2"/>
          <p:cNvSpPr txBox="1"/>
          <p:nvPr/>
        </p:nvSpPr>
        <p:spPr>
          <a:xfrm>
            <a:off x="1097280" y="5074920"/>
            <a:ext cx="1005840" cy="329184"/>
          </a:xfrm>
          <a:prstGeom prst="rect">
            <a:avLst/>
          </a:prstGeom>
          <a:noFill/>
          <a:ln/>
        </p:spPr>
        <p:txBody>
          <a:bodyPr wrap="square" lIns="0" tIns="0" rIns="0" bIns="0" rtlCol="0" anchor="ctr"/>
          <a:lstStyle/>
          <a:p>
            <a:pPr indent="0" marL="0">
              <a:buNone/>
            </a:pPr>
            <a:r>
              <a:rPr lang="en-US" sz="1400" dirty="0">
                <a:solidFill>
                  <a:schemeClr val="tx1"/>
                </a:solidFill>
              </a:rPr>
              <a:t>English</a:t>
            </a:r>
            <a:endParaRPr lang="en-US" sz="1400" dirty="0"/>
          </a:p>
        </p:txBody>
      </p:sp>
      <p:sp>
        <p:nvSpPr>
          <p:cNvPr id="6" name="Shape 3"/>
          <p:cNvSpPr/>
          <p:nvPr/>
        </p:nvSpPr>
        <p:spPr>
          <a:xfrm>
            <a:off x="2148840" y="5138928"/>
            <a:ext cx="201168" cy="201168"/>
          </a:xfrm>
          <a:prstGeom prst="rect">
            <a:avLst/>
          </a:prstGeom>
          <a:solidFill>
            <a:schemeClr val="accent2"/>
          </a:solidFill>
          <a:ln/>
        </p:spPr>
      </p:sp>
      <p:sp>
        <p:nvSpPr>
          <p:cNvPr id="7" name="Text 4"/>
          <p:cNvSpPr txBox="1"/>
          <p:nvPr/>
        </p:nvSpPr>
        <p:spPr>
          <a:xfrm>
            <a:off x="2423160" y="5074920"/>
            <a:ext cx="1097280" cy="329184"/>
          </a:xfrm>
          <a:prstGeom prst="rect">
            <a:avLst/>
          </a:prstGeom>
          <a:noFill/>
          <a:ln/>
        </p:spPr>
        <p:txBody>
          <a:bodyPr wrap="square" lIns="0" tIns="0" rIns="0" bIns="0" rtlCol="0" anchor="ctr"/>
          <a:lstStyle/>
          <a:p>
            <a:pPr indent="0" marL="0">
              <a:buNone/>
            </a:pPr>
            <a:r>
              <a:rPr lang="en-US" sz="1400" dirty="0">
                <a:solidFill>
                  <a:schemeClr val="tx1"/>
                </a:solidFill>
              </a:rPr>
              <a:t>Mandarin</a:t>
            </a:r>
            <a:endParaRPr lang="en-US" sz="1400" dirty="0"/>
          </a:p>
        </p:txBody>
      </p:sp>
      <p:sp>
        <p:nvSpPr>
          <p:cNvPr id="8" name="Text 5"/>
          <p:cNvSpPr txBox="1"/>
          <p:nvPr/>
        </p:nvSpPr>
        <p:spPr>
          <a:xfrm>
            <a:off x="3200400" y="5074920"/>
            <a:ext cx="3291840" cy="329184"/>
          </a:xfrm>
          <a:prstGeom prst="rect">
            <a:avLst/>
          </a:prstGeom>
          <a:noFill/>
          <a:ln/>
        </p:spPr>
        <p:txBody>
          <a:bodyPr wrap="square" lIns="0" tIns="0" rIns="0" bIns="0" rtlCol="0" anchor="ctr"/>
          <a:lstStyle/>
          <a:p>
            <a:pPr indent="0" marL="0">
              <a:buNone/>
            </a:pPr>
            <a:r>
              <a:rPr lang="en-US" sz="1100" dirty="0">
                <a:solidFill>
                  <a:schemeClr val="accent3"/>
                </a:solidFill>
              </a:rPr>
              <a:t>Language × Event × Position: χ²(2) = 6.46, p = .040</a:t>
            </a:r>
            <a:endParaRPr lang="en-US" sz="1100" dirty="0"/>
          </a:p>
        </p:txBody>
      </p:sp>
      <p:sp>
        <p:nvSpPr>
          <p:cNvPr id="9" name="Text 6"/>
          <p:cNvSpPr txBox="1"/>
          <p:nvPr/>
        </p:nvSpPr>
        <p:spPr>
          <a:xfrm>
            <a:off x="6766560" y="1325880"/>
            <a:ext cx="4876495" cy="365760"/>
          </a:xfrm>
          <a:prstGeom prst="rect">
            <a:avLst/>
          </a:prstGeom>
          <a:noFill/>
          <a:ln/>
        </p:spPr>
        <p:txBody>
          <a:bodyPr wrap="square" lIns="0" tIns="0" rIns="0" bIns="0" rtlCol="0" anchor="ctr"/>
          <a:lstStyle/>
          <a:p>
            <a:pPr indent="0" marL="0">
              <a:buNone/>
            </a:pPr>
            <a:r>
              <a:rPr lang="en-US" sz="1500" b="1" dirty="0">
                <a:solidFill>
                  <a:schemeClr val="tx1"/>
                </a:solidFill>
              </a:rPr>
              <a:t>Exp 3 · Where does cutting end?</a:t>
            </a:r>
            <a:endParaRPr lang="en-US" sz="1500" dirty="0"/>
          </a:p>
        </p:txBody>
      </p:sp>
      <p:sp>
        <p:nvSpPr>
          <p:cNvPr id="10" name="Text 7"/>
          <p:cNvSpPr txBox="1"/>
          <p:nvPr/>
        </p:nvSpPr>
        <p:spPr>
          <a:xfrm>
            <a:off x="6766560" y="1691640"/>
            <a:ext cx="4876495" cy="320040"/>
          </a:xfrm>
          <a:prstGeom prst="rect">
            <a:avLst/>
          </a:prstGeom>
          <a:noFill/>
          <a:ln/>
        </p:spPr>
        <p:txBody>
          <a:bodyPr wrap="square" lIns="0" tIns="0" rIns="0" bIns="0" rtlCol="0" anchor="ctr"/>
          <a:lstStyle/>
          <a:p>
            <a:pPr indent="0" marL="0">
              <a:buNone/>
            </a:pPr>
            <a:r>
              <a:rPr lang="en-US" sz="1300" dirty="0">
                <a:solidFill>
                  <a:schemeClr val="accent3"/>
                </a:solidFill>
              </a:rPr>
              <a:t>End tap relative to the physical endpoint</a:t>
            </a:r>
            <a:endParaRPr lang="en-US" sz="1300" dirty="0"/>
          </a:p>
        </p:txBody>
      </p:sp>
      <p:sp>
        <p:nvSpPr>
          <p:cNvPr id="11" name="Text 8"/>
          <p:cNvSpPr txBox="1"/>
          <p:nvPr/>
        </p:nvSpPr>
        <p:spPr>
          <a:xfrm>
            <a:off x="6766560" y="2194560"/>
            <a:ext cx="2651760" cy="914400"/>
          </a:xfrm>
          <a:prstGeom prst="rect">
            <a:avLst/>
          </a:prstGeom>
          <a:noFill/>
          <a:ln/>
        </p:spPr>
        <p:txBody>
          <a:bodyPr wrap="square" lIns="0" tIns="0" rIns="0" bIns="0" rtlCol="0" anchor="ctr"/>
          <a:lstStyle/>
          <a:p>
            <a:pPr indent="0" marL="0">
              <a:buNone/>
            </a:pPr>
            <a:r>
              <a:rPr lang="en-US" sz="4800" b="1" dirty="0">
                <a:solidFill>
                  <a:schemeClr val="accent3"/>
                </a:solidFill>
              </a:rPr>
              <a:t>+25 ms</a:t>
            </a:r>
            <a:endParaRPr lang="en-US" sz="4800" dirty="0"/>
          </a:p>
        </p:txBody>
      </p:sp>
      <p:sp>
        <p:nvSpPr>
          <p:cNvPr id="12" name="Text 9"/>
          <p:cNvSpPr txBox="1"/>
          <p:nvPr/>
        </p:nvSpPr>
        <p:spPr>
          <a:xfrm>
            <a:off x="9509760" y="2194560"/>
            <a:ext cx="2133295" cy="914400"/>
          </a:xfrm>
          <a:prstGeom prst="rect">
            <a:avLst/>
          </a:prstGeom>
          <a:noFill/>
          <a:ln/>
        </p:spPr>
        <p:txBody>
          <a:bodyPr wrap="square" lIns="0" tIns="0" rIns="0" bIns="0" rtlCol="0" anchor="ctr"/>
          <a:lstStyle/>
          <a:p>
            <a:pPr indent="0" marL="0">
              <a:buNone/>
            </a:pPr>
            <a:r>
              <a:rPr lang="en-US" sz="1800" dirty="0">
                <a:solidFill>
                  <a:schemeClr val="tx1"/>
                </a:solidFill>
              </a:rPr>
              <a:t>English</a:t>
            </a:r>
            <a:endParaRPr lang="en-US" sz="1800" dirty="0"/>
          </a:p>
        </p:txBody>
      </p:sp>
      <p:sp>
        <p:nvSpPr>
          <p:cNvPr id="13" name="Text 10"/>
          <p:cNvSpPr txBox="1"/>
          <p:nvPr/>
        </p:nvSpPr>
        <p:spPr>
          <a:xfrm>
            <a:off x="6766560" y="3383280"/>
            <a:ext cx="2651760" cy="914400"/>
          </a:xfrm>
          <a:prstGeom prst="rect">
            <a:avLst/>
          </a:prstGeom>
          <a:noFill/>
          <a:ln/>
        </p:spPr>
        <p:txBody>
          <a:bodyPr wrap="square" lIns="0" tIns="0" rIns="0" bIns="0" rtlCol="0" anchor="ctr"/>
          <a:lstStyle/>
          <a:p>
            <a:pPr indent="0" marL="0">
              <a:buNone/>
            </a:pPr>
            <a:r>
              <a:rPr lang="en-US" sz="4800" b="1" dirty="0">
                <a:solidFill>
                  <a:schemeClr val="accent2"/>
                </a:solidFill>
              </a:rPr>
              <a:t>+887 ms</a:t>
            </a:r>
            <a:endParaRPr lang="en-US" sz="4800" dirty="0"/>
          </a:p>
        </p:txBody>
      </p:sp>
      <p:sp>
        <p:nvSpPr>
          <p:cNvPr id="14" name="Text 11"/>
          <p:cNvSpPr txBox="1"/>
          <p:nvPr/>
        </p:nvSpPr>
        <p:spPr>
          <a:xfrm>
            <a:off x="9509760" y="3383280"/>
            <a:ext cx="2133295" cy="914400"/>
          </a:xfrm>
          <a:prstGeom prst="rect">
            <a:avLst/>
          </a:prstGeom>
          <a:noFill/>
          <a:ln/>
        </p:spPr>
        <p:txBody>
          <a:bodyPr wrap="square" lIns="0" tIns="0" rIns="0" bIns="0" rtlCol="0" anchor="ctr"/>
          <a:lstStyle/>
          <a:p>
            <a:pPr indent="0" marL="0">
              <a:buNone/>
            </a:pPr>
            <a:r>
              <a:rPr lang="en-US" sz="1800" dirty="0">
                <a:solidFill>
                  <a:schemeClr val="tx1"/>
                </a:solidFill>
              </a:rPr>
              <a:t>Mandarin</a:t>
            </a:r>
            <a:endParaRPr lang="en-US" sz="1800" dirty="0"/>
          </a:p>
        </p:txBody>
      </p:sp>
      <p:sp>
        <p:nvSpPr>
          <p:cNvPr id="15" name="Text 12"/>
          <p:cNvSpPr txBox="1"/>
          <p:nvPr/>
        </p:nvSpPr>
        <p:spPr>
          <a:xfrm>
            <a:off x="6766560" y="4617720"/>
            <a:ext cx="4876495" cy="320040"/>
          </a:xfrm>
          <a:prstGeom prst="rect">
            <a:avLst/>
          </a:prstGeom>
          <a:noFill/>
          <a:ln/>
        </p:spPr>
        <p:txBody>
          <a:bodyPr wrap="square" lIns="0" tIns="0" rIns="0" bIns="0" rtlCol="0" anchor="ctr"/>
          <a:lstStyle/>
          <a:p>
            <a:pPr indent="0" marL="0">
              <a:buNone/>
            </a:pPr>
            <a:r>
              <a:rPr lang="en-US" sz="1300" dirty="0">
                <a:solidFill>
                  <a:schemeClr val="accent3"/>
                </a:solidFill>
              </a:rPr>
              <a:t>Difference −862 ms, 95% CI [−1455, −268]</a:t>
            </a:r>
            <a:endParaRPr lang="en-US" sz="1300" dirty="0"/>
          </a:p>
        </p:txBody>
      </p:sp>
      <p:sp>
        <p:nvSpPr>
          <p:cNvPr id="16" name="takeaway-bg"/>
          <p:cNvSpPr/>
          <p:nvPr/>
        </p:nvSpPr>
        <p:spPr>
          <a:xfrm>
            <a:off x="548640" y="5669280"/>
            <a:ext cx="11094415" cy="548640"/>
          </a:xfrm>
          <a:prstGeom prst="roundRect">
            <a:avLst>
              <a:gd name="adj" fmla="val 13333"/>
            </a:avLst>
          </a:prstGeom>
          <a:solidFill>
            <a:schemeClr val="bg2"/>
          </a:solidFill>
          <a:ln/>
        </p:spPr>
      </p:sp>
      <p:sp>
        <p:nvSpPr>
          <p:cNvPr id="17" name="takeaway"/>
          <p:cNvSpPr txBox="1"/>
          <p:nvPr/>
        </p:nvSpPr>
        <p:spPr>
          <a:xfrm>
            <a:off x="777240" y="5669280"/>
            <a:ext cx="10637215" cy="548640"/>
          </a:xfrm>
          <a:prstGeom prst="rect">
            <a:avLst/>
          </a:prstGeom>
          <a:noFill/>
          <a:ln/>
        </p:spPr>
        <p:txBody>
          <a:bodyPr wrap="square" lIns="0" tIns="0" rIns="0" bIns="0" rtlCol="0" anchor="ctr"/>
          <a:lstStyle/>
          <a:p>
            <a:pPr indent="0" marL="0">
              <a:buNone/>
            </a:pPr>
            <a:r>
              <a:rPr lang="en-US" sz="1600" b="1" dirty="0">
                <a:solidFill>
                  <a:schemeClr val="accent2"/>
                </a:solidFill>
              </a:rPr>
              <a:t>Takeaway  </a:t>
            </a:r>
            <a:pPr indent="0" marL="0">
              <a:buNone/>
            </a:pPr>
            <a:r>
              <a:rPr lang="en-US" sz="1600" dirty="0">
                <a:solidFill>
                  <a:schemeClr val="tx1"/>
                </a:solidFill>
              </a:rPr>
              <a:t>Lexical contrasts align with phase sensitivity; predicate telicity aligns with where viewers place endpoints.</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Exp 4–5: Patterns recurred, but primes did not shift them</a:t>
            </a:r>
            <a:endParaRPr lang="en-US" sz="3200" dirty="0"/>
          </a:p>
        </p:txBody>
      </p:sp>
      <p:sp>
        <p:nvSpPr>
          <p:cNvPr id="3" name="card-What recurred"/>
          <p:cNvSpPr/>
          <p:nvPr/>
        </p:nvSpPr>
        <p:spPr>
          <a:xfrm>
            <a:off x="548640" y="1371600"/>
            <a:ext cx="5318608" cy="2651760"/>
          </a:xfrm>
          <a:prstGeom prst="roundRect">
            <a:avLst>
              <a:gd name="adj" fmla="val 3448"/>
            </a:avLst>
          </a:prstGeom>
          <a:solidFill>
            <a:schemeClr val="bg2"/>
          </a:solidFill>
          <a:ln/>
        </p:spPr>
      </p:sp>
      <p:sp>
        <p:nvSpPr>
          <p:cNvPr id="4" name="Text 2"/>
          <p:cNvSpPr txBox="1"/>
          <p:nvPr/>
        </p:nvSpPr>
        <p:spPr>
          <a:xfrm>
            <a:off x="777240" y="1554480"/>
            <a:ext cx="4861408" cy="2286000"/>
          </a:xfrm>
          <a:prstGeom prst="rect">
            <a:avLst/>
          </a:prstGeom>
          <a:noFill/>
          <a:ln/>
        </p:spPr>
        <p:txBody>
          <a:bodyPr wrap="square" lIns="0" tIns="0" rIns="0" bIns="0" rtlCol="0" anchor="t"/>
          <a:lstStyle/>
          <a:p>
            <a:pPr indent="0" marL="0">
              <a:spcAft>
                <a:spcPts val="600"/>
              </a:spcAft>
              <a:buNone/>
            </a:pPr>
            <a:r>
              <a:rPr lang="en-US" sz="1800" b="1" dirty="0">
                <a:solidFill>
                  <a:schemeClr val="accent1"/>
                </a:solidFill>
              </a:rPr>
              <a:t>What recurred</a:t>
            </a:r>
            <a:endParaRPr lang="en-US" sz="1800" dirty="0"/>
          </a:p>
          <a:p>
            <a:pPr indent="0" marL="0">
              <a:spcAft>
                <a:spcPts val="600"/>
              </a:spcAft>
              <a:buNone/>
            </a:pPr>
            <a:r>
              <a:rPr lang="en-US" sz="1800" dirty="0">
                <a:solidFill>
                  <a:schemeClr val="tx1"/>
                </a:solidFill>
              </a:rPr>
              <a:t>English early-blending advantage (no-prime baseline)</a:t>
            </a:r>
            <a:endParaRPr lang="en-US" sz="1800" dirty="0"/>
          </a:p>
          <a:p>
            <a:pPr indent="0" marL="0">
              <a:spcAft>
                <a:spcPts val="600"/>
              </a:spcAft>
              <a:buNone/>
            </a:pPr>
            <a:r>
              <a:rPr lang="en-US" sz="1800" dirty="0">
                <a:solidFill>
                  <a:schemeClr val="tx1"/>
                </a:solidFill>
              </a:rPr>
              <a:t>English earlier cutting endpoints in every context</a:t>
            </a:r>
            <a:endParaRPr lang="en-US" sz="1800" dirty="0"/>
          </a:p>
          <a:p>
            <a:pPr indent="0" marL="0">
              <a:spcAft>
                <a:spcPts val="600"/>
              </a:spcAft>
              <a:buNone/>
            </a:pPr>
            <a:r>
              <a:rPr lang="en-US" sz="1800" dirty="0">
                <a:solidFill>
                  <a:schemeClr val="tx1"/>
                </a:solidFill>
              </a:rPr>
              <a:t>Wider Mandarin start-to-end intervals (exploratory)</a:t>
            </a:r>
            <a:endParaRPr lang="en-US" sz="1800" dirty="0"/>
          </a:p>
        </p:txBody>
      </p:sp>
      <p:sp>
        <p:nvSpPr>
          <p:cNvPr id="5" name="card-What did not happen"/>
          <p:cNvSpPr/>
          <p:nvPr/>
        </p:nvSpPr>
        <p:spPr>
          <a:xfrm>
            <a:off x="6324448" y="1371600"/>
            <a:ext cx="5318608" cy="2651760"/>
          </a:xfrm>
          <a:prstGeom prst="roundRect">
            <a:avLst>
              <a:gd name="adj" fmla="val 3448"/>
            </a:avLst>
          </a:prstGeom>
          <a:solidFill>
            <a:schemeClr val="bg2"/>
          </a:solidFill>
          <a:ln/>
        </p:spPr>
      </p:sp>
      <p:sp>
        <p:nvSpPr>
          <p:cNvPr id="6" name="Text 4"/>
          <p:cNvSpPr txBox="1"/>
          <p:nvPr/>
        </p:nvSpPr>
        <p:spPr>
          <a:xfrm>
            <a:off x="6553048" y="1554480"/>
            <a:ext cx="4861408" cy="2286000"/>
          </a:xfrm>
          <a:prstGeom prst="rect">
            <a:avLst/>
          </a:prstGeom>
          <a:noFill/>
          <a:ln/>
        </p:spPr>
        <p:txBody>
          <a:bodyPr wrap="square" lIns="0" tIns="0" rIns="0" bIns="0" rtlCol="0" anchor="t"/>
          <a:lstStyle/>
          <a:p>
            <a:pPr indent="0" marL="0">
              <a:spcAft>
                <a:spcPts val="600"/>
              </a:spcAft>
              <a:buNone/>
            </a:pPr>
            <a:r>
              <a:rPr lang="en-US" sz="1800" b="1" dirty="0">
                <a:solidFill>
                  <a:schemeClr val="accent2"/>
                </a:solidFill>
              </a:rPr>
              <a:t>What did not happen</a:t>
            </a:r>
            <a:endParaRPr lang="en-US" sz="1800" dirty="0"/>
          </a:p>
          <a:p>
            <a:pPr indent="0" marL="0">
              <a:spcAft>
                <a:spcPts val="600"/>
              </a:spcAft>
              <a:buNone/>
            </a:pPr>
            <a:r>
              <a:rPr lang="en-US" sz="1800" dirty="0">
                <a:solidFill>
                  <a:schemeClr val="tx1"/>
                </a:solidFill>
              </a:rPr>
              <a:t>Lexical primes did not shift phase sensitivity as predicted (BF₀₁ ≈ 1000)</a:t>
            </a:r>
            <a:endParaRPr lang="en-US" sz="1800" dirty="0"/>
          </a:p>
          <a:p>
            <a:pPr indent="0" marL="0">
              <a:spcAft>
                <a:spcPts val="600"/>
              </a:spcAft>
              <a:buNone/>
            </a:pPr>
            <a:r>
              <a:rPr lang="en-US" sz="1800" dirty="0">
                <a:solidFill>
                  <a:schemeClr val="tx1"/>
                </a:solidFill>
              </a:rPr>
              <a:t>Telic vs. atelic phrases did not move endpoints</a:t>
            </a:r>
            <a:endParaRPr lang="en-US" sz="1800" dirty="0"/>
          </a:p>
          <a:p>
            <a:pPr indent="0" marL="0">
              <a:spcAft>
                <a:spcPts val="600"/>
              </a:spcAft>
              <a:buNone/>
            </a:pPr>
            <a:r>
              <a:rPr lang="en-US" sz="1800" dirty="0">
                <a:solidFill>
                  <a:schemeClr val="tx1"/>
                </a:solidFill>
              </a:rPr>
              <a:t>Mandarin late-blending advantage did not replicate</a:t>
            </a:r>
            <a:endParaRPr lang="en-US" sz="1800" dirty="0"/>
          </a:p>
        </p:txBody>
      </p:sp>
      <p:sp>
        <p:nvSpPr>
          <p:cNvPr id="7" name="takeaway-bg"/>
          <p:cNvSpPr/>
          <p:nvPr/>
        </p:nvSpPr>
        <p:spPr>
          <a:xfrm>
            <a:off x="548640" y="4343400"/>
            <a:ext cx="11094415" cy="548640"/>
          </a:xfrm>
          <a:prstGeom prst="roundRect">
            <a:avLst>
              <a:gd name="adj" fmla="val 13333"/>
            </a:avLst>
          </a:prstGeom>
          <a:solidFill>
            <a:schemeClr val="bg2"/>
          </a:solidFill>
          <a:ln/>
        </p:spPr>
      </p:sp>
      <p:sp>
        <p:nvSpPr>
          <p:cNvPr id="8" name="takeaway"/>
          <p:cNvSpPr txBox="1"/>
          <p:nvPr/>
        </p:nvSpPr>
        <p:spPr>
          <a:xfrm>
            <a:off x="777240" y="4343400"/>
            <a:ext cx="10637215" cy="548640"/>
          </a:xfrm>
          <a:prstGeom prst="rect">
            <a:avLst/>
          </a:prstGeom>
          <a:noFill/>
          <a:ln/>
        </p:spPr>
        <p:txBody>
          <a:bodyPr wrap="square" lIns="0" tIns="0" rIns="0" bIns="0" rtlCol="0" anchor="ctr"/>
          <a:lstStyle/>
          <a:p>
            <a:pPr indent="0" marL="0">
              <a:buNone/>
            </a:pPr>
            <a:r>
              <a:rPr lang="en-US" sz="1600" b="1" dirty="0">
                <a:solidFill>
                  <a:schemeClr val="accent2"/>
                </a:solidFill>
              </a:rPr>
              <a:t>Takeaway  </a:t>
            </a:r>
            <a:pPr indent="0" marL="0">
              <a:buNone/>
            </a:pPr>
            <a:r>
              <a:rPr lang="en-US" sz="1600" dirty="0">
                <a:solidFill>
                  <a:schemeClr val="tx1"/>
                </a:solidFill>
              </a:rPr>
              <a:t>Stable correspondences between language and processing, but a single brief cue does not cause them.</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What the thesis leaves open</a:t>
            </a:r>
            <a:endParaRPr lang="en-US" sz="3200" dirty="0"/>
          </a:p>
        </p:txBody>
      </p:sp>
      <p:sp>
        <p:nvSpPr>
          <p:cNvPr id="3" name="Shape 1"/>
          <p:cNvSpPr/>
          <p:nvPr/>
        </p:nvSpPr>
        <p:spPr>
          <a:xfrm>
            <a:off x="548640" y="1463040"/>
            <a:ext cx="502920" cy="502920"/>
          </a:xfrm>
          <a:prstGeom prst="ellipse">
            <a:avLst/>
          </a:prstGeom>
          <a:solidFill>
            <a:schemeClr val="accent1"/>
          </a:solidFill>
          <a:ln/>
        </p:spPr>
      </p:sp>
      <p:sp>
        <p:nvSpPr>
          <p:cNvPr id="4" name="Text 2"/>
          <p:cNvSpPr txBox="1"/>
          <p:nvPr/>
        </p:nvSpPr>
        <p:spPr>
          <a:xfrm>
            <a:off x="548640" y="1463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548640" y="2148840"/>
            <a:ext cx="3454298" cy="2743200"/>
          </a:xfrm>
          <a:prstGeom prst="rect">
            <a:avLst/>
          </a:prstGeom>
          <a:noFill/>
          <a:ln/>
        </p:spPr>
        <p:txBody>
          <a:bodyPr wrap="square" lIns="0" tIns="0" rIns="0" bIns="0" rtlCol="0" anchor="t"/>
          <a:lstStyle/>
          <a:p>
            <a:pPr indent="0" marL="0">
              <a:spcAft>
                <a:spcPts val="600"/>
              </a:spcAft>
              <a:buNone/>
            </a:pPr>
            <a:r>
              <a:rPr lang="en-US" sz="2000" b="1" dirty="0">
                <a:solidFill>
                  <a:schemeClr val="tx2"/>
                </a:solidFill>
              </a:rPr>
              <a:t>Finding</a:t>
            </a:r>
            <a:endParaRPr lang="en-US" sz="2000" dirty="0"/>
          </a:p>
          <a:p>
            <a:pPr indent="0" marL="0">
              <a:spcAft>
                <a:spcPts val="600"/>
              </a:spcAft>
              <a:buNone/>
            </a:pPr>
            <a:r>
              <a:rPr lang="en-US" sz="1600" dirty="0">
                <a:solidFill>
                  <a:schemeClr val="tx1"/>
                </a:solidFill>
              </a:rPr>
              <a:t>Encoding and processing correspond at two levels: words with event phases, predicates with endpoints.</a:t>
            </a:r>
            <a:endParaRPr lang="en-US" sz="2000" dirty="0"/>
          </a:p>
        </p:txBody>
      </p:sp>
      <p:sp>
        <p:nvSpPr>
          <p:cNvPr id="6" name="Shape 4"/>
          <p:cNvSpPr/>
          <p:nvPr/>
        </p:nvSpPr>
        <p:spPr>
          <a:xfrm>
            <a:off x="4368698" y="1463040"/>
            <a:ext cx="502920" cy="502920"/>
          </a:xfrm>
          <a:prstGeom prst="ellipse">
            <a:avLst/>
          </a:prstGeom>
          <a:solidFill>
            <a:schemeClr val="accent1"/>
          </a:solidFill>
          <a:ln/>
        </p:spPr>
      </p:sp>
      <p:sp>
        <p:nvSpPr>
          <p:cNvPr id="7" name="Text 5"/>
          <p:cNvSpPr txBox="1"/>
          <p:nvPr/>
        </p:nvSpPr>
        <p:spPr>
          <a:xfrm>
            <a:off x="4368698" y="1463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4368698" y="2148840"/>
            <a:ext cx="3454298" cy="2743200"/>
          </a:xfrm>
          <a:prstGeom prst="rect">
            <a:avLst/>
          </a:prstGeom>
          <a:noFill/>
          <a:ln/>
        </p:spPr>
        <p:txBody>
          <a:bodyPr wrap="square" lIns="0" tIns="0" rIns="0" bIns="0" rtlCol="0" anchor="t"/>
          <a:lstStyle/>
          <a:p>
            <a:pPr indent="0" marL="0">
              <a:spcAft>
                <a:spcPts val="600"/>
              </a:spcAft>
              <a:buNone/>
            </a:pPr>
            <a:r>
              <a:rPr lang="en-US" sz="2000" b="1" dirty="0">
                <a:solidFill>
                  <a:schemeClr val="tx2"/>
                </a:solidFill>
              </a:rPr>
              <a:t>Limit</a:t>
            </a:r>
            <a:endParaRPr lang="en-US" sz="2000" dirty="0"/>
          </a:p>
          <a:p>
            <a:pPr indent="0" marL="0">
              <a:spcAft>
                <a:spcPts val="600"/>
              </a:spcAft>
              <a:buNone/>
            </a:pPr>
            <a:r>
              <a:rPr lang="en-US" sz="1600" dirty="0">
                <a:solidFill>
                  <a:schemeClr val="tx1"/>
                </a:solidFill>
              </a:rPr>
              <a:t>Brief cues did not cause shifts; only two event types; adults only.</a:t>
            </a:r>
            <a:endParaRPr lang="en-US" sz="2000" dirty="0"/>
          </a:p>
        </p:txBody>
      </p:sp>
      <p:sp>
        <p:nvSpPr>
          <p:cNvPr id="9" name="Shape 7"/>
          <p:cNvSpPr/>
          <p:nvPr/>
        </p:nvSpPr>
        <p:spPr>
          <a:xfrm>
            <a:off x="8188757" y="1463040"/>
            <a:ext cx="502920" cy="502920"/>
          </a:xfrm>
          <a:prstGeom prst="ellipse">
            <a:avLst/>
          </a:prstGeom>
          <a:solidFill>
            <a:schemeClr val="accent2"/>
          </a:solidFill>
          <a:ln/>
        </p:spPr>
      </p:sp>
      <p:sp>
        <p:nvSpPr>
          <p:cNvPr id="10" name="Text 8"/>
          <p:cNvSpPr txBox="1"/>
          <p:nvPr/>
        </p:nvSpPr>
        <p:spPr>
          <a:xfrm>
            <a:off x="8188757" y="1463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8188757" y="2148840"/>
            <a:ext cx="3454298" cy="2743200"/>
          </a:xfrm>
          <a:prstGeom prst="rect">
            <a:avLst/>
          </a:prstGeom>
          <a:noFill/>
          <a:ln/>
        </p:spPr>
        <p:txBody>
          <a:bodyPr wrap="square" lIns="0" tIns="0" rIns="0" bIns="0" rtlCol="0" anchor="t"/>
          <a:lstStyle/>
          <a:p>
            <a:pPr indent="0" marL="0">
              <a:spcAft>
                <a:spcPts val="600"/>
              </a:spcAft>
              <a:buNone/>
            </a:pPr>
            <a:r>
              <a:rPr lang="en-US" sz="2000" b="1" dirty="0">
                <a:solidFill>
                  <a:schemeClr val="tx2"/>
                </a:solidFill>
              </a:rPr>
              <a:t>Open question</a:t>
            </a:r>
            <a:endParaRPr lang="en-US" sz="2000" dirty="0"/>
          </a:p>
          <a:p>
            <a:pPr indent="0" marL="0">
              <a:spcAft>
                <a:spcPts val="600"/>
              </a:spcAft>
              <a:buNone/>
            </a:pPr>
            <a:r>
              <a:rPr lang="en-US" sz="1600" dirty="0">
                <a:solidFill>
                  <a:schemeClr val="tx1"/>
                </a:solidFill>
              </a:rPr>
              <a:t>If language shapes event representations, it should do so through learning, so it should be tested in children, with sustained, meaningful input.</a:t>
            </a:r>
            <a:endParaRPr lang="en-US" sz="2000" dirty="0"/>
          </a:p>
        </p:txBody>
      </p:sp>
      <p:sp>
        <p:nvSpPr>
          <p:cNvPr id="12" name="takeaway-bg"/>
          <p:cNvSpPr/>
          <p:nvPr/>
        </p:nvSpPr>
        <p:spPr>
          <a:xfrm>
            <a:off x="548640" y="4480560"/>
            <a:ext cx="11094415" cy="548640"/>
          </a:xfrm>
          <a:prstGeom prst="roundRect">
            <a:avLst>
              <a:gd name="adj" fmla="val 13333"/>
            </a:avLst>
          </a:prstGeom>
          <a:solidFill>
            <a:schemeClr val="bg2"/>
          </a:solidFill>
          <a:ln/>
        </p:spPr>
      </p:sp>
      <p:sp>
        <p:nvSpPr>
          <p:cNvPr id="13" name="takeaway"/>
          <p:cNvSpPr txBox="1"/>
          <p:nvPr/>
        </p:nvSpPr>
        <p:spPr>
          <a:xfrm>
            <a:off x="777240" y="4480560"/>
            <a:ext cx="10637215" cy="548640"/>
          </a:xfrm>
          <a:prstGeom prst="rect">
            <a:avLst/>
          </a:prstGeom>
          <a:noFill/>
          <a:ln/>
        </p:spPr>
        <p:txBody>
          <a:bodyPr wrap="square" lIns="0" tIns="0" rIns="0" bIns="0" rtlCol="0" anchor="ctr"/>
          <a:lstStyle/>
          <a:p>
            <a:pPr indent="0" marL="0">
              <a:buNone/>
            </a:pPr>
            <a:r>
              <a:rPr lang="en-US" sz="1600" b="1" dirty="0">
                <a:solidFill>
                  <a:schemeClr val="accent2"/>
                </a:solidFill>
              </a:rPr>
              <a:t>Takeaway  </a:t>
            </a:r>
            <a:pPr indent="0" marL="0">
              <a:buNone/>
            </a:pPr>
            <a:r>
              <a:rPr lang="en-US" sz="1600" dirty="0">
                <a:solidFill>
                  <a:schemeClr val="tx1"/>
                </a:solidFill>
              </a:rPr>
              <a:t>Next step: study how children learn action–result relations from language.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Children: “Did she peel it?” (with Yue Ji)</a:t>
            </a:r>
            <a:endParaRPr lang="en-US" sz="3200" dirty="0"/>
          </a:p>
        </p:txBody>
      </p:sp>
      <p:sp>
        <p:nvSpPr>
          <p:cNvPr id="3" name="Text 1"/>
          <p:cNvSpPr txBox="1"/>
          <p:nvPr/>
        </p:nvSpPr>
        <p:spPr>
          <a:xfrm>
            <a:off x="548640" y="1325880"/>
            <a:ext cx="5852160" cy="411480"/>
          </a:xfrm>
          <a:prstGeom prst="rect">
            <a:avLst/>
          </a:prstGeom>
          <a:noFill/>
          <a:ln/>
        </p:spPr>
        <p:txBody>
          <a:bodyPr wrap="square" lIns="0" tIns="0" rIns="0" bIns="0" rtlCol="0" anchor="ctr"/>
          <a:lstStyle/>
          <a:p>
            <a:pPr indent="0" marL="0">
              <a:buNone/>
            </a:pPr>
            <a:r>
              <a:rPr lang="en-US" sz="2000" b="1" dirty="0">
                <a:solidFill>
                  <a:schemeClr val="tx2"/>
                </a:solidFill>
              </a:rPr>
              <a:t>Design</a:t>
            </a:r>
            <a:endParaRPr lang="en-US" sz="2000" dirty="0"/>
          </a:p>
        </p:txBody>
      </p:sp>
      <p:sp>
        <p:nvSpPr>
          <p:cNvPr id="4" name="Text 2"/>
          <p:cNvSpPr txBox="1"/>
          <p:nvPr/>
        </p:nvSpPr>
        <p:spPr>
          <a:xfrm>
            <a:off x="548640" y="1783080"/>
            <a:ext cx="5852160" cy="24688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10 action pairs sharing an object and a result, each filmed with the result attained or not (40 videos)</a:t>
            </a:r>
            <a:endParaRPr lang="en-US" sz="1600" dirty="0"/>
          </a:p>
          <a:p>
            <a:pPr marL="342900" indent="-342900">
              <a:spcAft>
                <a:spcPts val="800"/>
              </a:spcAft>
              <a:buSzPct val="100000"/>
              <a:buChar char="•"/>
            </a:pPr>
            <a:r>
              <a:rPr lang="en-US" sz="1600" dirty="0">
                <a:solidFill>
                  <a:schemeClr val="tx1"/>
                </a:solidFill>
              </a:rPr>
              <a:t>4-year-olds (32), 5-year-olds (32), adults (40) per experiment</a:t>
            </a:r>
            <a:endParaRPr lang="en-US" sz="1600" dirty="0"/>
          </a:p>
          <a:p>
            <a:pPr marL="342900" indent="-342900">
              <a:spcAft>
                <a:spcPts val="800"/>
              </a:spcAft>
              <a:buSzPct val="100000"/>
              <a:buChar char="•"/>
            </a:pPr>
            <a:r>
              <a:rPr lang="en-US" sz="1600" dirty="0">
                <a:solidFill>
                  <a:schemeClr val="tx1"/>
                </a:solidFill>
              </a:rPr>
              <a:t>Comprehension: “Tā bāo-le lìzhī ma?” for an RVC vs. a single verb (V1)</a:t>
            </a:r>
            <a:endParaRPr lang="en-US" sz="1600" dirty="0"/>
          </a:p>
          <a:p>
            <a:pPr marL="342900" indent="-342900">
              <a:spcAft>
                <a:spcPts val="800"/>
              </a:spcAft>
              <a:buSzPct val="100000"/>
              <a:buChar char="•"/>
            </a:pPr>
            <a:r>
              <a:rPr lang="en-US" sz="1600" dirty="0">
                <a:solidFill>
                  <a:schemeClr val="tx1"/>
                </a:solidFill>
              </a:rPr>
              <a:t>Production: “What happened?”</a:t>
            </a:r>
            <a:endParaRPr lang="en-US" sz="1600" dirty="0"/>
          </a:p>
        </p:txBody>
      </p:sp>
      <p:sp>
        <p:nvSpPr>
          <p:cNvPr id="5" name="Text 3"/>
          <p:cNvSpPr txBox="1"/>
          <p:nvPr/>
        </p:nvSpPr>
        <p:spPr>
          <a:xfrm>
            <a:off x="548640" y="4343400"/>
            <a:ext cx="5852160" cy="365760"/>
          </a:xfrm>
          <a:prstGeom prst="rect">
            <a:avLst/>
          </a:prstGeom>
          <a:noFill/>
          <a:ln/>
        </p:spPr>
        <p:txBody>
          <a:bodyPr wrap="square" lIns="0" tIns="0" rIns="0" bIns="0" rtlCol="0" anchor="ctr"/>
          <a:lstStyle/>
          <a:p>
            <a:pPr indent="0" marL="0">
              <a:buNone/>
            </a:pPr>
            <a:r>
              <a:rPr lang="en-US" sz="1500" b="1" dirty="0">
                <a:solidFill>
                  <a:schemeClr val="tx1"/>
                </a:solidFill>
              </a:rPr>
              <a:t>Example pair · lychee → open (开)</a:t>
            </a:r>
            <a:endParaRPr lang="en-US" sz="1500" dirty="0"/>
          </a:p>
        </p:txBody>
      </p:sp>
      <p:sp>
        <p:nvSpPr>
          <p:cNvPr id="6" name="Text 4"/>
          <p:cNvSpPr txBox="1"/>
          <p:nvPr/>
        </p:nvSpPr>
        <p:spPr>
          <a:xfrm>
            <a:off x="548640" y="4709160"/>
            <a:ext cx="2743200" cy="960120"/>
          </a:xfrm>
          <a:prstGeom prst="rect">
            <a:avLst/>
          </a:prstGeom>
          <a:noFill/>
          <a:ln/>
        </p:spPr>
        <p:txBody>
          <a:bodyPr wrap="square" lIns="0" tIns="0" rIns="0" bIns="0" rtlCol="0" anchor="t"/>
          <a:lstStyle/>
          <a:p>
            <a:pPr indent="0" marL="0">
              <a:buNone/>
            </a:pPr>
            <a:r>
              <a:rPr lang="en-US" sz="3200" b="1" dirty="0">
                <a:solidFill>
                  <a:schemeClr val="accent1"/>
                </a:solidFill>
              </a:rPr>
              <a:t>93.4</a:t>
            </a:r>
            <a:endParaRPr lang="en-US" sz="3200" dirty="0"/>
          </a:p>
          <a:p>
            <a:pPr indent="0" marL="0">
              <a:buNone/>
            </a:pPr>
            <a:r>
              <a:rPr lang="en-US" sz="1300" dirty="0">
                <a:solidFill>
                  <a:schemeClr val="tx1"/>
                </a:solidFill>
              </a:rPr>
              <a:t>剥 bāo “peel” · result likelihood</a:t>
            </a:r>
            <a:endParaRPr lang="en-US" sz="3200" dirty="0"/>
          </a:p>
        </p:txBody>
      </p:sp>
      <p:sp>
        <p:nvSpPr>
          <p:cNvPr id="7" name="Text 5"/>
          <p:cNvSpPr txBox="1"/>
          <p:nvPr/>
        </p:nvSpPr>
        <p:spPr>
          <a:xfrm>
            <a:off x="3474720" y="4709160"/>
            <a:ext cx="2743200" cy="960120"/>
          </a:xfrm>
          <a:prstGeom prst="rect">
            <a:avLst/>
          </a:prstGeom>
          <a:noFill/>
          <a:ln/>
        </p:spPr>
        <p:txBody>
          <a:bodyPr wrap="square" lIns="0" tIns="0" rIns="0" bIns="0" rtlCol="0" anchor="t"/>
          <a:lstStyle/>
          <a:p>
            <a:pPr indent="0" marL="0">
              <a:buNone/>
            </a:pPr>
            <a:r>
              <a:rPr lang="en-US" sz="3200" b="1" dirty="0">
                <a:solidFill>
                  <a:schemeClr val="accent3"/>
                </a:solidFill>
              </a:rPr>
              <a:t>64.5</a:t>
            </a:r>
            <a:endParaRPr lang="en-US" sz="3200" dirty="0"/>
          </a:p>
          <a:p>
            <a:pPr indent="0" marL="0">
              <a:buNone/>
            </a:pPr>
            <a:r>
              <a:rPr lang="en-US" sz="1300" dirty="0">
                <a:solidFill>
                  <a:schemeClr val="tx1"/>
                </a:solidFill>
              </a:rPr>
              <a:t>捏 niē “squeeze” · result likelihood</a:t>
            </a:r>
            <a:endParaRPr lang="en-US" sz="3200" dirty="0"/>
          </a:p>
        </p:txBody>
      </p:sp>
      <p:sp>
        <p:nvSpPr>
          <p:cNvPr id="8" name="card-Key idea"/>
          <p:cNvSpPr/>
          <p:nvPr/>
        </p:nvSpPr>
        <p:spPr>
          <a:xfrm>
            <a:off x="6766560" y="1371600"/>
            <a:ext cx="4876495" cy="2103120"/>
          </a:xfrm>
          <a:prstGeom prst="roundRect">
            <a:avLst>
              <a:gd name="adj" fmla="val 4348"/>
            </a:avLst>
          </a:prstGeom>
          <a:solidFill>
            <a:schemeClr val="bg2"/>
          </a:solidFill>
          <a:ln/>
        </p:spPr>
      </p:sp>
      <p:sp>
        <p:nvSpPr>
          <p:cNvPr id="9" name="Text 7"/>
          <p:cNvSpPr txBox="1"/>
          <p:nvPr/>
        </p:nvSpPr>
        <p:spPr>
          <a:xfrm>
            <a:off x="6995160" y="1554480"/>
            <a:ext cx="4419295" cy="1737360"/>
          </a:xfrm>
          <a:prstGeom prst="rect">
            <a:avLst/>
          </a:prstGeom>
          <a:noFill/>
          <a:ln/>
        </p:spPr>
        <p:txBody>
          <a:bodyPr wrap="square" lIns="0" tIns="0" rIns="0" bIns="0" rtlCol="0" anchor="t"/>
          <a:lstStyle/>
          <a:p>
            <a:pPr indent="0" marL="0">
              <a:spcAft>
                <a:spcPts val="600"/>
              </a:spcAft>
              <a:buNone/>
            </a:pPr>
            <a:r>
              <a:rPr lang="en-US" sz="1800" b="1" dirty="0">
                <a:solidFill>
                  <a:schemeClr val="tx2"/>
                </a:solidFill>
              </a:rPr>
              <a:t>Key idea</a:t>
            </a:r>
            <a:endParaRPr lang="en-US" sz="1800" dirty="0"/>
          </a:p>
          <a:p>
            <a:pPr indent="0" marL="0">
              <a:spcAft>
                <a:spcPts val="600"/>
              </a:spcAft>
              <a:buNone/>
            </a:pPr>
            <a:r>
              <a:rPr lang="en-US" sz="1600" dirty="0">
                <a:solidFill>
                  <a:schemeClr val="tx1"/>
                </a:solidFill>
              </a:rPr>
              <a:t>How strongly a verb implies its result depends on the action–object–result relation, not only on the verb.</a:t>
            </a:r>
            <a:endParaRPr lang="en-US" sz="1800" dirty="0"/>
          </a:p>
        </p:txBody>
      </p:sp>
      <p:sp>
        <p:nvSpPr>
          <p:cNvPr id="10" name="card-Test"/>
          <p:cNvSpPr/>
          <p:nvPr/>
        </p:nvSpPr>
        <p:spPr>
          <a:xfrm>
            <a:off x="6766560" y="3657600"/>
            <a:ext cx="4876495" cy="2011680"/>
          </a:xfrm>
          <a:prstGeom prst="roundRect">
            <a:avLst>
              <a:gd name="adj" fmla="val 4545"/>
            </a:avLst>
          </a:prstGeom>
          <a:solidFill>
            <a:schemeClr val="bg2"/>
          </a:solidFill>
          <a:ln/>
        </p:spPr>
      </p:sp>
      <p:sp>
        <p:nvSpPr>
          <p:cNvPr id="11" name="Text 9"/>
          <p:cNvSpPr txBox="1"/>
          <p:nvPr/>
        </p:nvSpPr>
        <p:spPr>
          <a:xfrm>
            <a:off x="6995160" y="3840480"/>
            <a:ext cx="4419295" cy="1645920"/>
          </a:xfrm>
          <a:prstGeom prst="rect">
            <a:avLst/>
          </a:prstGeom>
          <a:noFill/>
          <a:ln/>
        </p:spPr>
        <p:txBody>
          <a:bodyPr wrap="square" lIns="0" tIns="0" rIns="0" bIns="0" rtlCol="0" anchor="t"/>
          <a:lstStyle/>
          <a:p>
            <a:pPr indent="0" marL="0">
              <a:spcAft>
                <a:spcPts val="600"/>
              </a:spcAft>
              <a:buNone/>
            </a:pPr>
            <a:r>
              <a:rPr lang="en-US" sz="1800" b="1" dirty="0">
                <a:solidFill>
                  <a:schemeClr val="tx2"/>
                </a:solidFill>
              </a:rPr>
              <a:t>Test</a:t>
            </a:r>
            <a:endParaRPr lang="en-US" sz="1800" dirty="0"/>
          </a:p>
          <a:p>
            <a:pPr indent="0" marL="0">
              <a:spcAft>
                <a:spcPts val="600"/>
              </a:spcAft>
              <a:buNone/>
            </a:pPr>
            <a:r>
              <a:rPr lang="en-US" sz="1600" dirty="0">
                <a:solidFill>
                  <a:schemeClr val="tx1"/>
                </a:solidFill>
              </a:rPr>
              <a:t>Adult ratings of result likelihood and action typicality should predict children’s rejection of V1 when the result is absent.</a:t>
            </a:r>
            <a:endParaRPr lang="en-US" sz="1800" dirty="0"/>
          </a:p>
        </p:txBody>
      </p:sp>
      <p:sp>
        <p:nvSpPr>
          <p:cNvPr id="12" name="Text 10"/>
          <p:cNvSpPr txBox="1"/>
          <p:nvPr/>
        </p:nvSpPr>
        <p:spPr>
          <a:xfrm>
            <a:off x="548640" y="5897880"/>
            <a:ext cx="11094415" cy="320040"/>
          </a:xfrm>
          <a:prstGeom prst="rect">
            <a:avLst/>
          </a:prstGeom>
          <a:noFill/>
          <a:ln/>
        </p:spPr>
        <p:txBody>
          <a:bodyPr wrap="square" lIns="0" tIns="0" rIns="0" bIns="0" rtlCol="0" anchor="ctr"/>
          <a:lstStyle/>
          <a:p>
            <a:pPr indent="0" marL="0">
              <a:buNone/>
            </a:pPr>
            <a:r>
              <a:rPr lang="en-US" sz="1200" i="1" dirty="0">
                <a:solidFill>
                  <a:schemeClr val="accent3"/>
                </a:solidFill>
              </a:rPr>
              <a:t>Also: superordinate nouns in Mandarin child-directed speech (Language and Cognition, minor revision)</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An action–result is a relation</a:t>
            </a:r>
            <a:endParaRPr lang="en-US" sz="3200" dirty="0"/>
          </a:p>
        </p:txBody>
      </p:sp>
      <p:sp>
        <p:nvSpPr>
          <p:cNvPr id="3" name="Shape 1"/>
          <p:cNvSpPr/>
          <p:nvPr/>
        </p:nvSpPr>
        <p:spPr>
          <a:xfrm>
            <a:off x="548640" y="1554480"/>
            <a:ext cx="1600200" cy="777240"/>
          </a:xfrm>
          <a:prstGeom prst="roundRect">
            <a:avLst>
              <a:gd name="adj" fmla="val 11765"/>
            </a:avLst>
          </a:prstGeom>
          <a:solidFill>
            <a:schemeClr val="bg2"/>
          </a:solidFill>
          <a:ln/>
        </p:spPr>
      </p:sp>
      <p:sp>
        <p:nvSpPr>
          <p:cNvPr id="4" name="Text 2"/>
          <p:cNvSpPr txBox="1"/>
          <p:nvPr/>
        </p:nvSpPr>
        <p:spPr>
          <a:xfrm>
            <a:off x="548640" y="1554480"/>
            <a:ext cx="1600200" cy="777240"/>
          </a:xfrm>
          <a:prstGeom prst="rect">
            <a:avLst/>
          </a:prstGeom>
          <a:noFill/>
          <a:ln/>
        </p:spPr>
        <p:txBody>
          <a:bodyPr wrap="square" lIns="0" tIns="0" rIns="0" bIns="0" rtlCol="0" anchor="ctr"/>
          <a:lstStyle/>
          <a:p>
            <a:pPr algn="ctr" indent="0" marL="0">
              <a:buNone/>
            </a:pPr>
            <a:r>
              <a:rPr lang="en-US" sz="1600" b="1" dirty="0">
                <a:solidFill>
                  <a:schemeClr val="tx2"/>
                </a:solidFill>
              </a:rPr>
              <a:t>擦 wipe</a:t>
            </a:r>
            <a:endParaRPr lang="en-US" sz="1600" dirty="0"/>
          </a:p>
        </p:txBody>
      </p:sp>
      <p:sp>
        <p:nvSpPr>
          <p:cNvPr id="5" name="Text 3"/>
          <p:cNvSpPr txBox="1"/>
          <p:nvPr/>
        </p:nvSpPr>
        <p:spPr>
          <a:xfrm>
            <a:off x="2148840" y="1554480"/>
            <a:ext cx="457200" cy="777240"/>
          </a:xfrm>
          <a:prstGeom prst="rect">
            <a:avLst/>
          </a:prstGeom>
          <a:noFill/>
          <a:ln/>
        </p:spPr>
        <p:txBody>
          <a:bodyPr wrap="square" lIns="0" tIns="0" rIns="0" bIns="0" rtlCol="0" anchor="ctr"/>
          <a:lstStyle/>
          <a:p>
            <a:pPr algn="ctr" indent="0" marL="0">
              <a:buNone/>
            </a:pPr>
            <a:r>
              <a:rPr lang="en-US" sz="2400" b="1" dirty="0">
                <a:solidFill>
                  <a:schemeClr val="accent3"/>
                </a:solidFill>
              </a:rPr>
              <a:t>+</a:t>
            </a:r>
            <a:endParaRPr lang="en-US" sz="2400" dirty="0"/>
          </a:p>
        </p:txBody>
      </p:sp>
      <p:sp>
        <p:nvSpPr>
          <p:cNvPr id="6" name="Shape 4"/>
          <p:cNvSpPr/>
          <p:nvPr/>
        </p:nvSpPr>
        <p:spPr>
          <a:xfrm>
            <a:off x="2606040" y="1554480"/>
            <a:ext cx="1600200" cy="777240"/>
          </a:xfrm>
          <a:prstGeom prst="roundRect">
            <a:avLst>
              <a:gd name="adj" fmla="val 11765"/>
            </a:avLst>
          </a:prstGeom>
          <a:solidFill>
            <a:schemeClr val="bg2"/>
          </a:solidFill>
          <a:ln/>
        </p:spPr>
      </p:sp>
      <p:sp>
        <p:nvSpPr>
          <p:cNvPr id="7" name="Text 5"/>
          <p:cNvSpPr txBox="1"/>
          <p:nvPr/>
        </p:nvSpPr>
        <p:spPr>
          <a:xfrm>
            <a:off x="2606040" y="1554480"/>
            <a:ext cx="1600200" cy="777240"/>
          </a:xfrm>
          <a:prstGeom prst="rect">
            <a:avLst/>
          </a:prstGeom>
          <a:noFill/>
          <a:ln/>
        </p:spPr>
        <p:txBody>
          <a:bodyPr wrap="square" lIns="0" tIns="0" rIns="0" bIns="0" rtlCol="0" anchor="ctr"/>
          <a:lstStyle/>
          <a:p>
            <a:pPr algn="ctr" indent="0" marL="0">
              <a:buNone/>
            </a:pPr>
            <a:r>
              <a:rPr lang="en-US" sz="1600" b="1" dirty="0">
                <a:solidFill>
                  <a:schemeClr val="tx2"/>
                </a:solidFill>
              </a:rPr>
              <a:t>镜子 mirror</a:t>
            </a:r>
            <a:endParaRPr lang="en-US" sz="1600" dirty="0"/>
          </a:p>
        </p:txBody>
      </p:sp>
      <p:sp>
        <p:nvSpPr>
          <p:cNvPr id="8" name="Text 6"/>
          <p:cNvSpPr txBox="1"/>
          <p:nvPr/>
        </p:nvSpPr>
        <p:spPr>
          <a:xfrm>
            <a:off x="4206240" y="1554480"/>
            <a:ext cx="457200" cy="777240"/>
          </a:xfrm>
          <a:prstGeom prst="rect">
            <a:avLst/>
          </a:prstGeom>
          <a:noFill/>
          <a:ln/>
        </p:spPr>
        <p:txBody>
          <a:bodyPr wrap="square" lIns="0" tIns="0" rIns="0" bIns="0" rtlCol="0" anchor="ctr"/>
          <a:lstStyle/>
          <a:p>
            <a:pPr algn="ctr" indent="0" marL="0">
              <a:buNone/>
            </a:pPr>
            <a:r>
              <a:rPr lang="en-US" sz="2400" b="1" dirty="0">
                <a:solidFill>
                  <a:schemeClr val="accent3"/>
                </a:solidFill>
              </a:rPr>
              <a:t>→</a:t>
            </a:r>
            <a:endParaRPr lang="en-US" sz="2400" dirty="0"/>
          </a:p>
        </p:txBody>
      </p:sp>
      <p:sp>
        <p:nvSpPr>
          <p:cNvPr id="9" name="Shape 7"/>
          <p:cNvSpPr/>
          <p:nvPr/>
        </p:nvSpPr>
        <p:spPr>
          <a:xfrm>
            <a:off x="4663440" y="1554480"/>
            <a:ext cx="1600200" cy="777240"/>
          </a:xfrm>
          <a:prstGeom prst="roundRect">
            <a:avLst>
              <a:gd name="adj" fmla="val 11765"/>
            </a:avLst>
          </a:prstGeom>
          <a:solidFill>
            <a:schemeClr val="accent2"/>
          </a:solidFill>
          <a:ln/>
        </p:spPr>
      </p:sp>
      <p:sp>
        <p:nvSpPr>
          <p:cNvPr id="10" name="Text 8"/>
          <p:cNvSpPr txBox="1"/>
          <p:nvPr/>
        </p:nvSpPr>
        <p:spPr>
          <a:xfrm>
            <a:off x="4663440" y="1554480"/>
            <a:ext cx="1600200" cy="777240"/>
          </a:xfrm>
          <a:prstGeom prst="rect">
            <a:avLst/>
          </a:prstGeom>
          <a:noFill/>
          <a:ln/>
        </p:spPr>
        <p:txBody>
          <a:bodyPr wrap="square" lIns="0" tIns="0" rIns="0" bIns="0" rtlCol="0" anchor="ctr"/>
          <a:lstStyle/>
          <a:p>
            <a:pPr algn="ctr" indent="0" marL="0">
              <a:buNone/>
            </a:pPr>
            <a:r>
              <a:rPr lang="en-US" sz="1600" b="1" dirty="0">
                <a:solidFill>
                  <a:schemeClr val="bg1"/>
                </a:solidFill>
              </a:rPr>
              <a:t>干净 clean</a:t>
            </a:r>
            <a:endParaRPr lang="en-US" sz="1600" dirty="0"/>
          </a:p>
        </p:txBody>
      </p:sp>
      <p:sp>
        <p:nvSpPr>
          <p:cNvPr id="11" name="Shape 9"/>
          <p:cNvSpPr/>
          <p:nvPr/>
        </p:nvSpPr>
        <p:spPr>
          <a:xfrm>
            <a:off x="548640" y="2697480"/>
            <a:ext cx="1600200" cy="777240"/>
          </a:xfrm>
          <a:prstGeom prst="roundRect">
            <a:avLst>
              <a:gd name="adj" fmla="val 11765"/>
            </a:avLst>
          </a:prstGeom>
          <a:solidFill>
            <a:schemeClr val="bg2"/>
          </a:solidFill>
          <a:ln/>
        </p:spPr>
      </p:sp>
      <p:sp>
        <p:nvSpPr>
          <p:cNvPr id="12" name="Text 10"/>
          <p:cNvSpPr txBox="1"/>
          <p:nvPr/>
        </p:nvSpPr>
        <p:spPr>
          <a:xfrm>
            <a:off x="548640" y="2697480"/>
            <a:ext cx="1600200" cy="777240"/>
          </a:xfrm>
          <a:prstGeom prst="rect">
            <a:avLst/>
          </a:prstGeom>
          <a:noFill/>
          <a:ln/>
        </p:spPr>
        <p:txBody>
          <a:bodyPr wrap="square" lIns="0" tIns="0" rIns="0" bIns="0" rtlCol="0" anchor="ctr"/>
          <a:lstStyle/>
          <a:p>
            <a:pPr algn="ctr" indent="0" marL="0">
              <a:buNone/>
            </a:pPr>
            <a:r>
              <a:rPr lang="en-US" sz="1600" b="1" dirty="0">
                <a:solidFill>
                  <a:schemeClr val="tx2"/>
                </a:solidFill>
              </a:rPr>
              <a:t>冲 rinse</a:t>
            </a:r>
            <a:endParaRPr lang="en-US" sz="1600" dirty="0"/>
          </a:p>
        </p:txBody>
      </p:sp>
      <p:sp>
        <p:nvSpPr>
          <p:cNvPr id="13" name="Text 11"/>
          <p:cNvSpPr txBox="1"/>
          <p:nvPr/>
        </p:nvSpPr>
        <p:spPr>
          <a:xfrm>
            <a:off x="2148840" y="2697480"/>
            <a:ext cx="457200" cy="777240"/>
          </a:xfrm>
          <a:prstGeom prst="rect">
            <a:avLst/>
          </a:prstGeom>
          <a:noFill/>
          <a:ln/>
        </p:spPr>
        <p:txBody>
          <a:bodyPr wrap="square" lIns="0" tIns="0" rIns="0" bIns="0" rtlCol="0" anchor="ctr"/>
          <a:lstStyle/>
          <a:p>
            <a:pPr algn="ctr" indent="0" marL="0">
              <a:buNone/>
            </a:pPr>
            <a:r>
              <a:rPr lang="en-US" sz="2400" b="1" dirty="0">
                <a:solidFill>
                  <a:schemeClr val="accent3"/>
                </a:solidFill>
              </a:rPr>
              <a:t>+</a:t>
            </a:r>
            <a:endParaRPr lang="en-US" sz="2400" dirty="0"/>
          </a:p>
        </p:txBody>
      </p:sp>
      <p:sp>
        <p:nvSpPr>
          <p:cNvPr id="14" name="Shape 12"/>
          <p:cNvSpPr/>
          <p:nvPr/>
        </p:nvSpPr>
        <p:spPr>
          <a:xfrm>
            <a:off x="2606040" y="2697480"/>
            <a:ext cx="1600200" cy="777240"/>
          </a:xfrm>
          <a:prstGeom prst="roundRect">
            <a:avLst>
              <a:gd name="adj" fmla="val 11765"/>
            </a:avLst>
          </a:prstGeom>
          <a:solidFill>
            <a:schemeClr val="bg2"/>
          </a:solidFill>
          <a:ln/>
        </p:spPr>
      </p:sp>
      <p:sp>
        <p:nvSpPr>
          <p:cNvPr id="15" name="Text 13"/>
          <p:cNvSpPr txBox="1"/>
          <p:nvPr/>
        </p:nvSpPr>
        <p:spPr>
          <a:xfrm>
            <a:off x="2606040" y="2697480"/>
            <a:ext cx="1600200" cy="777240"/>
          </a:xfrm>
          <a:prstGeom prst="rect">
            <a:avLst/>
          </a:prstGeom>
          <a:noFill/>
          <a:ln/>
        </p:spPr>
        <p:txBody>
          <a:bodyPr wrap="square" lIns="0" tIns="0" rIns="0" bIns="0" rtlCol="0" anchor="ctr"/>
          <a:lstStyle/>
          <a:p>
            <a:pPr algn="ctr" indent="0" marL="0">
              <a:buNone/>
            </a:pPr>
            <a:r>
              <a:rPr lang="en-US" sz="1600" b="1" dirty="0">
                <a:solidFill>
                  <a:schemeClr val="tx2"/>
                </a:solidFill>
              </a:rPr>
              <a:t>杯子 cup</a:t>
            </a:r>
            <a:endParaRPr lang="en-US" sz="1600" dirty="0"/>
          </a:p>
        </p:txBody>
      </p:sp>
      <p:sp>
        <p:nvSpPr>
          <p:cNvPr id="16" name="Text 14"/>
          <p:cNvSpPr txBox="1"/>
          <p:nvPr/>
        </p:nvSpPr>
        <p:spPr>
          <a:xfrm>
            <a:off x="4206240" y="2697480"/>
            <a:ext cx="457200" cy="777240"/>
          </a:xfrm>
          <a:prstGeom prst="rect">
            <a:avLst/>
          </a:prstGeom>
          <a:noFill/>
          <a:ln/>
        </p:spPr>
        <p:txBody>
          <a:bodyPr wrap="square" lIns="0" tIns="0" rIns="0" bIns="0" rtlCol="0" anchor="ctr"/>
          <a:lstStyle/>
          <a:p>
            <a:pPr algn="ctr" indent="0" marL="0">
              <a:buNone/>
            </a:pPr>
            <a:r>
              <a:rPr lang="en-US" sz="2400" b="1" dirty="0">
                <a:solidFill>
                  <a:schemeClr val="accent3"/>
                </a:solidFill>
              </a:rPr>
              <a:t>→</a:t>
            </a:r>
            <a:endParaRPr lang="en-US" sz="2400" dirty="0"/>
          </a:p>
        </p:txBody>
      </p:sp>
      <p:sp>
        <p:nvSpPr>
          <p:cNvPr id="17" name="Shape 15"/>
          <p:cNvSpPr/>
          <p:nvPr/>
        </p:nvSpPr>
        <p:spPr>
          <a:xfrm>
            <a:off x="4663440" y="2697480"/>
            <a:ext cx="1600200" cy="777240"/>
          </a:xfrm>
          <a:prstGeom prst="roundRect">
            <a:avLst>
              <a:gd name="adj" fmla="val 11765"/>
            </a:avLst>
          </a:prstGeom>
          <a:solidFill>
            <a:schemeClr val="accent2"/>
          </a:solidFill>
          <a:ln/>
        </p:spPr>
      </p:sp>
      <p:sp>
        <p:nvSpPr>
          <p:cNvPr id="18" name="Text 16"/>
          <p:cNvSpPr txBox="1"/>
          <p:nvPr/>
        </p:nvSpPr>
        <p:spPr>
          <a:xfrm>
            <a:off x="4663440" y="2697480"/>
            <a:ext cx="1600200" cy="777240"/>
          </a:xfrm>
          <a:prstGeom prst="rect">
            <a:avLst/>
          </a:prstGeom>
          <a:noFill/>
          <a:ln/>
        </p:spPr>
        <p:txBody>
          <a:bodyPr wrap="square" lIns="0" tIns="0" rIns="0" bIns="0" rtlCol="0" anchor="ctr"/>
          <a:lstStyle/>
          <a:p>
            <a:pPr algn="ctr" indent="0" marL="0">
              <a:buNone/>
            </a:pPr>
            <a:r>
              <a:rPr lang="en-US" sz="1600" b="1" dirty="0">
                <a:solidFill>
                  <a:schemeClr val="bg1"/>
                </a:solidFill>
              </a:rPr>
              <a:t>干净 clean</a:t>
            </a:r>
            <a:endParaRPr lang="en-US" sz="1600" dirty="0"/>
          </a:p>
        </p:txBody>
      </p:sp>
      <p:sp>
        <p:nvSpPr>
          <p:cNvPr id="19" name="Text 17"/>
          <p:cNvSpPr txBox="1"/>
          <p:nvPr/>
        </p:nvSpPr>
        <p:spPr>
          <a:xfrm>
            <a:off x="548640" y="3931920"/>
            <a:ext cx="6035040" cy="457200"/>
          </a:xfrm>
          <a:prstGeom prst="rect">
            <a:avLst/>
          </a:prstGeom>
          <a:noFill/>
          <a:ln/>
        </p:spPr>
        <p:txBody>
          <a:bodyPr wrap="square" lIns="0" tIns="0" rIns="0" bIns="0" rtlCol="0" anchor="ctr"/>
          <a:lstStyle/>
          <a:p>
            <a:pPr indent="0" marL="0">
              <a:buNone/>
            </a:pPr>
            <a:r>
              <a:rPr lang="en-US" sz="1500" i="1" dirty="0">
                <a:solidFill>
                  <a:schemeClr val="tx1"/>
                </a:solidFill>
              </a:rPr>
              <a:t>Different actions and objects, same relation: ACTION causes RESULT</a:t>
            </a:r>
            <a:endParaRPr lang="en-US" sz="1500" dirty="0"/>
          </a:p>
        </p:txBody>
      </p:sp>
      <p:sp>
        <p:nvSpPr>
          <p:cNvPr id="20" name="Text 18"/>
          <p:cNvSpPr txBox="1"/>
          <p:nvPr/>
        </p:nvSpPr>
        <p:spPr>
          <a:xfrm>
            <a:off x="6949440" y="1463040"/>
            <a:ext cx="4693615" cy="29260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Verbs are relational terms (Gentner, 1982)</a:t>
            </a:r>
            <a:endParaRPr lang="en-US" sz="1700" dirty="0"/>
          </a:p>
          <a:p>
            <a:pPr marL="342900" indent="-342900">
              <a:spcAft>
                <a:spcPts val="1000"/>
              </a:spcAft>
              <a:buSzPct val="100000"/>
              <a:buChar char="•"/>
            </a:pPr>
            <a:r>
              <a:rPr lang="en-US" sz="1700" dirty="0">
                <a:solidFill>
                  <a:schemeClr val="tx1"/>
                </a:solidFill>
              </a:rPr>
              <a:t>Relational language makes relations explicit and portable (Gentner; Christie &amp; Gentner, 2014)</a:t>
            </a:r>
            <a:endParaRPr lang="en-US" sz="1700" dirty="0"/>
          </a:p>
          <a:p>
            <a:pPr marL="342900" indent="-342900">
              <a:spcAft>
                <a:spcPts val="1000"/>
              </a:spcAft>
              <a:buSzPct val="100000"/>
              <a:buChar char="•"/>
            </a:pPr>
            <a:r>
              <a:rPr lang="en-US" sz="1700" dirty="0">
                <a:solidFill>
                  <a:schemeClr val="tx1"/>
                </a:solidFill>
              </a:rPr>
              <a:t>Mandarin RVCs name the action–result relation in one word</a:t>
            </a:r>
            <a:endParaRPr lang="en-US" sz="1700" dirty="0"/>
          </a:p>
        </p:txBody>
      </p:sp>
      <p:sp>
        <p:nvSpPr>
          <p:cNvPr id="21" name="takeaway-bg"/>
          <p:cNvSpPr/>
          <p:nvPr/>
        </p:nvSpPr>
        <p:spPr>
          <a:xfrm>
            <a:off x="548640" y="4572000"/>
            <a:ext cx="11094415" cy="548640"/>
          </a:xfrm>
          <a:prstGeom prst="roundRect">
            <a:avLst>
              <a:gd name="adj" fmla="val 13333"/>
            </a:avLst>
          </a:prstGeom>
          <a:solidFill>
            <a:schemeClr val="bg2"/>
          </a:solidFill>
          <a:ln/>
        </p:spPr>
      </p:sp>
      <p:sp>
        <p:nvSpPr>
          <p:cNvPr id="22" name="takeaway"/>
          <p:cNvSpPr txBox="1"/>
          <p:nvPr/>
        </p:nvSpPr>
        <p:spPr>
          <a:xfrm>
            <a:off x="777240" y="4572000"/>
            <a:ext cx="10637215" cy="548640"/>
          </a:xfrm>
          <a:prstGeom prst="rect">
            <a:avLst/>
          </a:prstGeom>
          <a:noFill/>
          <a:ln/>
        </p:spPr>
        <p:txBody>
          <a:bodyPr wrap="square" lIns="0" tIns="0" rIns="0" bIns="0" rtlCol="0" anchor="ctr"/>
          <a:lstStyle/>
          <a:p>
            <a:pPr indent="0" marL="0">
              <a:buNone/>
            </a:pPr>
            <a:r>
              <a:rPr lang="en-US" sz="1600" b="1" dirty="0">
                <a:solidFill>
                  <a:schemeClr val="accent2"/>
                </a:solidFill>
              </a:rPr>
              <a:t>Takeaway  </a:t>
            </a:r>
            <a:pPr indent="0" marL="0">
              <a:buNone/>
            </a:pPr>
            <a:r>
              <a:rPr lang="en-US" sz="1600" dirty="0">
                <a:solidFill>
                  <a:schemeClr val="tx1"/>
                </a:solidFill>
              </a:rPr>
              <a:t>Question: does naming the result help children abstract the relation and transfer it to new events?</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Proposed study: Does naming the result help children generalize?</a:t>
            </a:r>
            <a:endParaRPr lang="en-US" sz="3200" dirty="0"/>
          </a:p>
        </p:txBody>
      </p:sp>
      <p:sp>
        <p:nvSpPr>
          <p:cNvPr id="3" name="Shape 1"/>
          <p:cNvSpPr/>
          <p:nvPr/>
        </p:nvSpPr>
        <p:spPr>
          <a:xfrm>
            <a:off x="548640" y="1417320"/>
            <a:ext cx="1965960" cy="1371600"/>
          </a:xfrm>
          <a:prstGeom prst="roundRect">
            <a:avLst>
              <a:gd name="adj" fmla="val 6667"/>
            </a:avLst>
          </a:prstGeom>
          <a:solidFill>
            <a:schemeClr val="bg2"/>
          </a:solidFill>
          <a:ln w="25400">
            <a:solidFill>
              <a:schemeClr val="accent1"/>
            </a:solidFill>
            <a:prstDash val="solid"/>
          </a:ln>
        </p:spPr>
      </p:sp>
      <p:sp>
        <p:nvSpPr>
          <p:cNvPr id="4" name="Text 2"/>
          <p:cNvSpPr txBox="1"/>
          <p:nvPr/>
        </p:nvSpPr>
        <p:spPr>
          <a:xfrm>
            <a:off x="685800" y="1554480"/>
            <a:ext cx="1691640" cy="114300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Standard</a:t>
            </a:r>
            <a:endParaRPr lang="en-US" sz="1500" dirty="0"/>
          </a:p>
          <a:p>
            <a:pPr indent="0" marL="0">
              <a:spcAft>
                <a:spcPts val="600"/>
              </a:spcAft>
              <a:buNone/>
            </a:pPr>
            <a:r>
              <a:rPr lang="en-US" sz="1400" dirty="0">
                <a:solidFill>
                  <a:schemeClr val="tx1"/>
                </a:solidFill>
              </a:rPr>
              <a:t>Sponge wipes table</a:t>
            </a:r>
            <a:endParaRPr lang="en-US" sz="1500" dirty="0"/>
          </a:p>
          <a:p>
            <a:pPr indent="0" marL="0">
              <a:spcAft>
                <a:spcPts val="600"/>
              </a:spcAft>
              <a:buNone/>
            </a:pPr>
            <a:r>
              <a:rPr lang="en-US" sz="1400" b="1" dirty="0">
                <a:solidFill>
                  <a:schemeClr val="tx1"/>
                </a:solidFill>
              </a:rPr>
              <a:t>→ clean</a:t>
            </a:r>
            <a:endParaRPr lang="en-US" sz="1500" dirty="0"/>
          </a:p>
        </p:txBody>
      </p:sp>
      <p:sp>
        <p:nvSpPr>
          <p:cNvPr id="5" name="Shape 3"/>
          <p:cNvSpPr/>
          <p:nvPr/>
        </p:nvSpPr>
        <p:spPr>
          <a:xfrm>
            <a:off x="2697480" y="1417320"/>
            <a:ext cx="1965960" cy="1371600"/>
          </a:xfrm>
          <a:prstGeom prst="roundRect">
            <a:avLst>
              <a:gd name="adj" fmla="val 6667"/>
            </a:avLst>
          </a:prstGeom>
          <a:solidFill>
            <a:schemeClr val="bg2"/>
          </a:solidFill>
          <a:ln w="25400">
            <a:solidFill>
              <a:schemeClr val="accent2"/>
            </a:solidFill>
            <a:prstDash val="solid"/>
          </a:ln>
        </p:spPr>
      </p:sp>
      <p:sp>
        <p:nvSpPr>
          <p:cNvPr id="6" name="Text 4"/>
          <p:cNvSpPr txBox="1"/>
          <p:nvPr/>
        </p:nvSpPr>
        <p:spPr>
          <a:xfrm>
            <a:off x="2834640" y="1554480"/>
            <a:ext cx="1691640" cy="1143000"/>
          </a:xfrm>
          <a:prstGeom prst="rect">
            <a:avLst/>
          </a:prstGeom>
          <a:noFill/>
          <a:ln/>
        </p:spPr>
        <p:txBody>
          <a:bodyPr wrap="square" lIns="0" tIns="0" rIns="0" bIns="0" rtlCol="0" anchor="t"/>
          <a:lstStyle/>
          <a:p>
            <a:pPr indent="0" marL="0">
              <a:spcAft>
                <a:spcPts val="600"/>
              </a:spcAft>
              <a:buNone/>
            </a:pPr>
            <a:r>
              <a:rPr lang="en-US" sz="1500" b="1" dirty="0">
                <a:solidFill>
                  <a:schemeClr val="accent2"/>
                </a:solidFill>
              </a:rPr>
              <a:t>Relational match</a:t>
            </a:r>
            <a:endParaRPr lang="en-US" sz="1500" dirty="0"/>
          </a:p>
          <a:p>
            <a:pPr indent="0" marL="0">
              <a:spcAft>
                <a:spcPts val="600"/>
              </a:spcAft>
              <a:buNone/>
            </a:pPr>
            <a:r>
              <a:rPr lang="en-US" sz="1400" dirty="0">
                <a:solidFill>
                  <a:schemeClr val="tx1"/>
                </a:solidFill>
              </a:rPr>
              <a:t>Brush scrubs shoe</a:t>
            </a:r>
            <a:endParaRPr lang="en-US" sz="1500" dirty="0"/>
          </a:p>
          <a:p>
            <a:pPr indent="0" marL="0">
              <a:spcAft>
                <a:spcPts val="600"/>
              </a:spcAft>
              <a:buNone/>
            </a:pPr>
            <a:r>
              <a:rPr lang="en-US" sz="1400" b="1" dirty="0">
                <a:solidFill>
                  <a:schemeClr val="tx1"/>
                </a:solidFill>
              </a:rPr>
              <a:t>→ clean</a:t>
            </a:r>
            <a:endParaRPr lang="en-US" sz="1500" dirty="0"/>
          </a:p>
        </p:txBody>
      </p:sp>
      <p:sp>
        <p:nvSpPr>
          <p:cNvPr id="7" name="Shape 5"/>
          <p:cNvSpPr/>
          <p:nvPr/>
        </p:nvSpPr>
        <p:spPr>
          <a:xfrm>
            <a:off x="4846320" y="1417320"/>
            <a:ext cx="1965960" cy="1371600"/>
          </a:xfrm>
          <a:prstGeom prst="roundRect">
            <a:avLst>
              <a:gd name="adj" fmla="val 6667"/>
            </a:avLst>
          </a:prstGeom>
          <a:solidFill>
            <a:schemeClr val="bg2"/>
          </a:solidFill>
          <a:ln w="25400">
            <a:solidFill>
              <a:schemeClr val="accent3"/>
            </a:solidFill>
            <a:prstDash val="solid"/>
          </a:ln>
        </p:spPr>
      </p:sp>
      <p:sp>
        <p:nvSpPr>
          <p:cNvPr id="8" name="Text 6"/>
          <p:cNvSpPr txBox="1"/>
          <p:nvPr/>
        </p:nvSpPr>
        <p:spPr>
          <a:xfrm>
            <a:off x="4983480" y="1554480"/>
            <a:ext cx="1691640" cy="1143000"/>
          </a:xfrm>
          <a:prstGeom prst="rect">
            <a:avLst/>
          </a:prstGeom>
          <a:noFill/>
          <a:ln/>
        </p:spPr>
        <p:txBody>
          <a:bodyPr wrap="square" lIns="0" tIns="0" rIns="0" bIns="0" rtlCol="0" anchor="t"/>
          <a:lstStyle/>
          <a:p>
            <a:pPr indent="0" marL="0">
              <a:spcAft>
                <a:spcPts val="600"/>
              </a:spcAft>
              <a:buNone/>
            </a:pPr>
            <a:r>
              <a:rPr lang="en-US" sz="1500" b="1" dirty="0">
                <a:solidFill>
                  <a:schemeClr val="accent3"/>
                </a:solidFill>
              </a:rPr>
              <a:t>Surface match</a:t>
            </a:r>
            <a:endParaRPr lang="en-US" sz="1500" dirty="0"/>
          </a:p>
          <a:p>
            <a:pPr indent="0" marL="0">
              <a:spcAft>
                <a:spcPts val="600"/>
              </a:spcAft>
              <a:buNone/>
            </a:pPr>
            <a:r>
              <a:rPr lang="en-US" sz="1400" dirty="0">
                <a:solidFill>
                  <a:schemeClr val="tx1"/>
                </a:solidFill>
              </a:rPr>
              <a:t>Sponge wipes table</a:t>
            </a:r>
            <a:endParaRPr lang="en-US" sz="1500" dirty="0"/>
          </a:p>
          <a:p>
            <a:pPr indent="0" marL="0">
              <a:spcAft>
                <a:spcPts val="600"/>
              </a:spcAft>
              <a:buNone/>
            </a:pPr>
            <a:r>
              <a:rPr lang="en-US" sz="1400" b="1" dirty="0">
                <a:solidFill>
                  <a:schemeClr val="tx1"/>
                </a:solidFill>
              </a:rPr>
              <a:t>→ still dirty</a:t>
            </a:r>
            <a:endParaRPr lang="en-US" sz="1500" dirty="0"/>
          </a:p>
        </p:txBody>
      </p:sp>
      <p:sp>
        <p:nvSpPr>
          <p:cNvPr id="9" name="Text 7"/>
          <p:cNvSpPr txBox="1"/>
          <p:nvPr/>
        </p:nvSpPr>
        <p:spPr>
          <a:xfrm>
            <a:off x="548640" y="2926080"/>
            <a:ext cx="6309360" cy="685800"/>
          </a:xfrm>
          <a:prstGeom prst="rect">
            <a:avLst/>
          </a:prstGeom>
          <a:noFill/>
          <a:ln/>
        </p:spPr>
        <p:txBody>
          <a:bodyPr wrap="square" lIns="0" tIns="0" rIns="0" bIns="0" rtlCol="0" anchor="t"/>
          <a:lstStyle/>
          <a:p>
            <a:pPr indent="0" marL="0">
              <a:buNone/>
            </a:pPr>
            <a:r>
              <a:rPr lang="en-US" sz="1400" i="1" dirty="0">
                <a:solidFill>
                  <a:schemeClr val="tx1"/>
                </a:solidFill>
              </a:rPr>
              <a:t>Which one is like the first?  The two choices pit the relation against surface similarity (cross-mapping).</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3703320"/>
          <a:ext cx="6309360" cy="914400"/>
        </p:xfrm>
        <a:graphic>
          <a:graphicData uri="http://schemas.openxmlformats.org/drawingml/2006/table">
            <a:tbl>
              <a:tblPr/>
              <a:tblGrid>
                <a:gridCol w="2651760"/>
                <a:gridCol w="3657600"/>
              </a:tblGrid>
              <a:tr h="329184">
                <a:tc>
                  <a:txBody>
                    <a:bodyPr/>
                    <a:lstStyle/>
                    <a:p>
                      <a:pPr indent="0" marL="0">
                        <a:buNone/>
                      </a:pPr>
                      <a:r>
                        <a:rPr lang="en-US" sz="1400" b="1" dirty="0">
                          <a:solidFill>
                            <a:schemeClr val="bg1"/>
                          </a:solidFill>
                        </a:rPr>
                        <a:t>Language condition</a:t>
                      </a:r>
                      <a:endParaRPr lang="en-US" sz="1400" dirty="0"/>
                    </a:p>
                  </a:txBody>
                  <a:tcPr marL="54864" marR="54864" marT="54864" marB="54864">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Example</a:t>
                      </a:r>
                      <a:endParaRPr lang="en-US" sz="1400" dirty="0"/>
                    </a:p>
                  </a:txBody>
                  <a:tcPr marL="54864" marR="54864" marT="54864" marB="54864">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r>
              <a:tr h="329184">
                <a:tc>
                  <a:txBody>
                    <a:bodyPr/>
                    <a:lstStyle/>
                    <a:p>
                      <a:pPr indent="0" marL="0">
                        <a:buNone/>
                      </a:pPr>
                      <a:r>
                        <a:rPr lang="en-US" sz="1400" dirty="0">
                          <a:solidFill>
                            <a:schemeClr val="tx1"/>
                          </a:solidFill>
                        </a:rPr>
                        <a:t>Result named (RVC)</a:t>
                      </a:r>
                      <a:endParaRPr lang="en-US" sz="1400" dirty="0"/>
                    </a:p>
                  </a:txBody>
                  <a:tcPr marL="54864" marR="54864" marT="54864" marB="54864">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400" dirty="0">
                          <a:solidFill>
                            <a:schemeClr val="tx1"/>
                          </a:solidFill>
                        </a:rPr>
                        <a:t>她把桌子擦干净了</a:t>
                      </a:r>
                      <a:endParaRPr lang="en-US" sz="1400" dirty="0"/>
                    </a:p>
                  </a:txBody>
                  <a:tcPr marL="54864" marR="54864" marT="54864" marB="54864">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r h="329184">
                <a:tc>
                  <a:txBody>
                    <a:bodyPr/>
                    <a:lstStyle/>
                    <a:p>
                      <a:pPr indent="0" marL="0">
                        <a:buNone/>
                      </a:pPr>
                      <a:r>
                        <a:rPr lang="en-US" sz="1400" dirty="0">
                          <a:solidFill>
                            <a:schemeClr val="tx1"/>
                          </a:solidFill>
                        </a:rPr>
                        <a:t>Action only (V1)</a:t>
                      </a:r>
                      <a:endParaRPr lang="en-US" sz="1400" dirty="0"/>
                    </a:p>
                  </a:txBody>
                  <a:tcPr marL="54864" marR="54864" marT="54864" marB="54864">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400" dirty="0">
                          <a:solidFill>
                            <a:schemeClr val="tx1"/>
                          </a:solidFill>
                        </a:rPr>
                        <a:t>她在擦桌子</a:t>
                      </a:r>
                      <a:endParaRPr lang="en-US" sz="1400" dirty="0"/>
                    </a:p>
                  </a:txBody>
                  <a:tcPr marL="54864" marR="54864" marT="54864" marB="54864">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r h="329184">
                <a:tc>
                  <a:txBody>
                    <a:bodyPr/>
                    <a:lstStyle/>
                    <a:p>
                      <a:pPr indent="0" marL="0">
                        <a:buNone/>
                      </a:pPr>
                      <a:r>
                        <a:rPr lang="en-US" sz="1400" dirty="0">
                          <a:solidFill>
                            <a:schemeClr val="tx1"/>
                          </a:solidFill>
                        </a:rPr>
                        <a:t>Neutral</a:t>
                      </a:r>
                      <a:endParaRPr lang="en-US" sz="1400" dirty="0"/>
                    </a:p>
                  </a:txBody>
                  <a:tcPr marL="54864" marR="54864" marT="54864" marB="54864">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400" dirty="0">
                          <a:solidFill>
                            <a:schemeClr val="tx1"/>
                          </a:solidFill>
                        </a:rPr>
                        <a:t>看这个！</a:t>
                      </a:r>
                      <a:endParaRPr lang="en-US" sz="1400" dirty="0"/>
                    </a:p>
                  </a:txBody>
                  <a:tcPr marL="54864" marR="54864" marT="54864" marB="54864">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bl>
          </a:graphicData>
        </a:graphic>
      </p:graphicFrame>
      <p:sp>
        <p:nvSpPr>
          <p:cNvPr id="11" name="card-Who and how"/>
          <p:cNvSpPr/>
          <p:nvPr/>
        </p:nvSpPr>
        <p:spPr>
          <a:xfrm>
            <a:off x="7315200" y="1417320"/>
            <a:ext cx="4327855" cy="1737360"/>
          </a:xfrm>
          <a:prstGeom prst="roundRect">
            <a:avLst>
              <a:gd name="adj" fmla="val 5263"/>
            </a:avLst>
          </a:prstGeom>
          <a:solidFill>
            <a:schemeClr val="bg2"/>
          </a:solidFill>
          <a:ln/>
        </p:spPr>
      </p:sp>
      <p:sp>
        <p:nvSpPr>
          <p:cNvPr id="12" name="Text 9"/>
          <p:cNvSpPr txBox="1"/>
          <p:nvPr/>
        </p:nvSpPr>
        <p:spPr>
          <a:xfrm>
            <a:off x="7543800" y="1600200"/>
            <a:ext cx="3870655" cy="1371600"/>
          </a:xfrm>
          <a:prstGeom prst="rect">
            <a:avLst/>
          </a:prstGeom>
          <a:noFill/>
          <a:ln/>
        </p:spPr>
        <p:txBody>
          <a:bodyPr wrap="square" lIns="0" tIns="0" rIns="0" bIns="0" rtlCol="0" anchor="t"/>
          <a:lstStyle/>
          <a:p>
            <a:pPr indent="0" marL="0">
              <a:spcAft>
                <a:spcPts val="600"/>
              </a:spcAft>
              <a:buNone/>
            </a:pPr>
            <a:r>
              <a:rPr lang="en-US" sz="1800" b="1" dirty="0">
                <a:solidFill>
                  <a:schemeClr val="tx2"/>
                </a:solidFill>
              </a:rPr>
              <a:t>Who and how</a:t>
            </a:r>
            <a:endParaRPr lang="en-US" sz="1800" dirty="0"/>
          </a:p>
          <a:p>
            <a:pPr indent="0" marL="0">
              <a:spcAft>
                <a:spcPts val="600"/>
              </a:spcAft>
              <a:buNone/>
            </a:pPr>
            <a:r>
              <a:rPr lang="en-US" sz="1500" dirty="0">
                <a:solidFill>
                  <a:schemeClr val="tx1"/>
                </a:solidFill>
              </a:rPr>
              <a:t>3-, 4- and 5-year-olds</a:t>
            </a:r>
            <a:endParaRPr lang="en-US" sz="1800" dirty="0"/>
          </a:p>
          <a:p>
            <a:pPr indent="0" marL="0">
              <a:spcAft>
                <a:spcPts val="600"/>
              </a:spcAft>
              <a:buNone/>
            </a:pPr>
            <a:r>
              <a:rPr lang="en-US" sz="1500" dirty="0">
                <a:solidFill>
                  <a:schemeClr val="tx1"/>
                </a:solidFill>
              </a:rPr>
              <a:t>Matching, prediction, transfer to new objects and actions</a:t>
            </a:r>
            <a:endParaRPr lang="en-US" sz="1800" dirty="0"/>
          </a:p>
        </p:txBody>
      </p:sp>
      <p:sp>
        <p:nvSpPr>
          <p:cNvPr id="13" name="card-Prediction"/>
          <p:cNvSpPr/>
          <p:nvPr/>
        </p:nvSpPr>
        <p:spPr>
          <a:xfrm>
            <a:off x="7315200" y="3337560"/>
            <a:ext cx="4327855" cy="1828800"/>
          </a:xfrm>
          <a:prstGeom prst="roundRect">
            <a:avLst>
              <a:gd name="adj" fmla="val 5000"/>
            </a:avLst>
          </a:prstGeom>
          <a:solidFill>
            <a:schemeClr val="bg2"/>
          </a:solidFill>
          <a:ln/>
        </p:spPr>
      </p:sp>
      <p:sp>
        <p:nvSpPr>
          <p:cNvPr id="14" name="Text 11"/>
          <p:cNvSpPr txBox="1"/>
          <p:nvPr/>
        </p:nvSpPr>
        <p:spPr>
          <a:xfrm>
            <a:off x="7543800" y="3520440"/>
            <a:ext cx="3870655" cy="1463040"/>
          </a:xfrm>
          <a:prstGeom prst="rect">
            <a:avLst/>
          </a:prstGeom>
          <a:noFill/>
          <a:ln/>
        </p:spPr>
        <p:txBody>
          <a:bodyPr wrap="square" lIns="0" tIns="0" rIns="0" bIns="0" rtlCol="0" anchor="t"/>
          <a:lstStyle/>
          <a:p>
            <a:pPr indent="0" marL="0">
              <a:spcAft>
                <a:spcPts val="600"/>
              </a:spcAft>
              <a:buNone/>
            </a:pPr>
            <a:r>
              <a:rPr lang="en-US" sz="1800" b="1" dirty="0">
                <a:solidFill>
                  <a:schemeClr val="accent2"/>
                </a:solidFill>
              </a:rPr>
              <a:t>Prediction</a:t>
            </a:r>
            <a:endParaRPr lang="en-US" sz="1800" dirty="0"/>
          </a:p>
          <a:p>
            <a:pPr indent="0" marL="0">
              <a:spcAft>
                <a:spcPts val="600"/>
              </a:spcAft>
              <a:buNone/>
            </a:pPr>
            <a:r>
              <a:rPr lang="en-US" sz="1500" dirty="0">
                <a:solidFill>
                  <a:schemeClr val="tx1"/>
                </a:solidFill>
              </a:rPr>
              <a:t>Result named &gt; action only ≈ neutral in relational choices</a:t>
            </a:r>
            <a:endParaRPr lang="en-US" sz="1800" dirty="0"/>
          </a:p>
          <a:p>
            <a:pPr indent="0" marL="0">
              <a:spcAft>
                <a:spcPts val="600"/>
              </a:spcAft>
              <a:buNone/>
            </a:pPr>
            <a:r>
              <a:rPr lang="en-US" sz="1500" dirty="0">
                <a:solidFill>
                  <a:schemeClr val="tx1"/>
                </a:solidFill>
              </a:rPr>
              <a:t>Control: result word alone (“桌子干净了”)</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Further directions</a:t>
            </a:r>
            <a:endParaRPr lang="en-US" sz="3200" dirty="0"/>
          </a:p>
        </p:txBody>
      </p:sp>
      <p:sp>
        <p:nvSpPr>
          <p:cNvPr id="3" name="Shape 1"/>
          <p:cNvSpPr/>
          <p:nvPr/>
        </p:nvSpPr>
        <p:spPr>
          <a:xfrm>
            <a:off x="777240" y="1600200"/>
            <a:ext cx="502920" cy="502920"/>
          </a:xfrm>
          <a:prstGeom prst="ellipse">
            <a:avLst/>
          </a:prstGeom>
          <a:solidFill>
            <a:schemeClr val="accent1"/>
          </a:solidFill>
          <a:ln/>
        </p:spPr>
      </p:sp>
      <p:sp>
        <p:nvSpPr>
          <p:cNvPr id="4" name="Text 2"/>
          <p:cNvSpPr txBox="1"/>
          <p:nvPr/>
        </p:nvSpPr>
        <p:spPr>
          <a:xfrm>
            <a:off x="777240" y="16002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5" name="Shape 3"/>
          <p:cNvSpPr/>
          <p:nvPr/>
        </p:nvSpPr>
        <p:spPr>
          <a:xfrm>
            <a:off x="548640" y="2286000"/>
            <a:ext cx="3454298" cy="2194560"/>
          </a:xfrm>
          <a:prstGeom prst="roundRect">
            <a:avLst>
              <a:gd name="adj" fmla="val 4167"/>
            </a:avLst>
          </a:prstGeom>
          <a:solidFill>
            <a:schemeClr val="bg2"/>
          </a:solidFill>
          <a:ln/>
        </p:spPr>
      </p:sp>
      <p:sp>
        <p:nvSpPr>
          <p:cNvPr id="6" name="Text 4"/>
          <p:cNvSpPr txBox="1"/>
          <p:nvPr/>
        </p:nvSpPr>
        <p:spPr>
          <a:xfrm>
            <a:off x="777240" y="2468880"/>
            <a:ext cx="2997098" cy="1828800"/>
          </a:xfrm>
          <a:prstGeom prst="rect">
            <a:avLst/>
          </a:prstGeom>
          <a:noFill/>
          <a:ln/>
        </p:spPr>
        <p:txBody>
          <a:bodyPr wrap="square" lIns="0" tIns="0" rIns="0" bIns="0" rtlCol="0" anchor="t"/>
          <a:lstStyle/>
          <a:p>
            <a:pPr indent="0" marL="0">
              <a:spcAft>
                <a:spcPts val="800"/>
              </a:spcAft>
              <a:buNone/>
            </a:pPr>
            <a:r>
              <a:rPr lang="en-US" sz="1900" b="1" dirty="0">
                <a:solidFill>
                  <a:schemeClr val="tx2"/>
                </a:solidFill>
              </a:rPr>
              <a:t>Comparison and explanation</a:t>
            </a:r>
            <a:endParaRPr lang="en-US" sz="1900" dirty="0"/>
          </a:p>
          <a:p>
            <a:pPr indent="0" marL="0">
              <a:spcAft>
                <a:spcPts val="800"/>
              </a:spcAft>
              <a:buNone/>
            </a:pPr>
            <a:r>
              <a:rPr lang="en-US" sz="1600" dirty="0">
                <a:solidFill>
                  <a:schemeClr val="tx1"/>
                </a:solidFill>
              </a:rPr>
              <a:t>Do aligned examples and explanation prompts help children generalize event relations beyond single examples?</a:t>
            </a:r>
            <a:endParaRPr lang="en-US" sz="1900" dirty="0"/>
          </a:p>
        </p:txBody>
      </p:sp>
      <p:sp>
        <p:nvSpPr>
          <p:cNvPr id="7" name="Shape 5"/>
          <p:cNvSpPr/>
          <p:nvPr/>
        </p:nvSpPr>
        <p:spPr>
          <a:xfrm>
            <a:off x="4597298" y="1600200"/>
            <a:ext cx="502920" cy="502920"/>
          </a:xfrm>
          <a:prstGeom prst="ellipse">
            <a:avLst/>
          </a:prstGeom>
          <a:solidFill>
            <a:schemeClr val="accent1"/>
          </a:solidFill>
          <a:ln/>
        </p:spPr>
      </p:sp>
      <p:sp>
        <p:nvSpPr>
          <p:cNvPr id="8" name="Text 6"/>
          <p:cNvSpPr txBox="1"/>
          <p:nvPr/>
        </p:nvSpPr>
        <p:spPr>
          <a:xfrm>
            <a:off x="4597298" y="16002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9" name="Shape 7"/>
          <p:cNvSpPr/>
          <p:nvPr/>
        </p:nvSpPr>
        <p:spPr>
          <a:xfrm>
            <a:off x="4368698" y="2286000"/>
            <a:ext cx="3454298" cy="2194560"/>
          </a:xfrm>
          <a:prstGeom prst="roundRect">
            <a:avLst>
              <a:gd name="adj" fmla="val 4167"/>
            </a:avLst>
          </a:prstGeom>
          <a:solidFill>
            <a:schemeClr val="bg2"/>
          </a:solidFill>
          <a:ln/>
        </p:spPr>
      </p:sp>
      <p:sp>
        <p:nvSpPr>
          <p:cNvPr id="10" name="Text 8"/>
          <p:cNvSpPr txBox="1"/>
          <p:nvPr/>
        </p:nvSpPr>
        <p:spPr>
          <a:xfrm>
            <a:off x="4597298" y="2468880"/>
            <a:ext cx="2997098" cy="1828800"/>
          </a:xfrm>
          <a:prstGeom prst="rect">
            <a:avLst/>
          </a:prstGeom>
          <a:noFill/>
          <a:ln/>
        </p:spPr>
        <p:txBody>
          <a:bodyPr wrap="square" lIns="0" tIns="0" rIns="0" bIns="0" rtlCol="0" anchor="t"/>
          <a:lstStyle/>
          <a:p>
            <a:pPr indent="0" marL="0">
              <a:spcAft>
                <a:spcPts val="800"/>
              </a:spcAft>
              <a:buNone/>
            </a:pPr>
            <a:r>
              <a:rPr lang="en-US" sz="1900" b="1" dirty="0">
                <a:solidFill>
                  <a:schemeClr val="tx2"/>
                </a:solidFill>
              </a:rPr>
              <a:t>Parent–child interaction</a:t>
            </a:r>
            <a:endParaRPr lang="en-US" sz="1900" dirty="0"/>
          </a:p>
          <a:p>
            <a:pPr indent="0" marL="0">
              <a:spcAft>
                <a:spcPts val="800"/>
              </a:spcAft>
              <a:buNone/>
            </a:pPr>
            <a:r>
              <a:rPr lang="en-US" sz="1600" dirty="0">
                <a:solidFill>
                  <a:schemeClr val="tx1"/>
                </a:solidFill>
              </a:rPr>
              <a:t>How does relational talk in shared play relate to children’s attention, exploration and transfer?</a:t>
            </a:r>
            <a:endParaRPr lang="en-US" sz="1900" dirty="0"/>
          </a:p>
        </p:txBody>
      </p:sp>
      <p:sp>
        <p:nvSpPr>
          <p:cNvPr id="11" name="Shape 9"/>
          <p:cNvSpPr/>
          <p:nvPr/>
        </p:nvSpPr>
        <p:spPr>
          <a:xfrm>
            <a:off x="8417357" y="1600200"/>
            <a:ext cx="502920" cy="502920"/>
          </a:xfrm>
          <a:prstGeom prst="ellipse">
            <a:avLst/>
          </a:prstGeom>
          <a:solidFill>
            <a:schemeClr val="accent1"/>
          </a:solidFill>
          <a:ln/>
        </p:spPr>
      </p:sp>
      <p:sp>
        <p:nvSpPr>
          <p:cNvPr id="12" name="Text 10"/>
          <p:cNvSpPr txBox="1"/>
          <p:nvPr/>
        </p:nvSpPr>
        <p:spPr>
          <a:xfrm>
            <a:off x="8417357" y="16002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3" name="Shape 11"/>
          <p:cNvSpPr/>
          <p:nvPr/>
        </p:nvSpPr>
        <p:spPr>
          <a:xfrm>
            <a:off x="8188757" y="2286000"/>
            <a:ext cx="3454298" cy="2194560"/>
          </a:xfrm>
          <a:prstGeom prst="roundRect">
            <a:avLst>
              <a:gd name="adj" fmla="val 4167"/>
            </a:avLst>
          </a:prstGeom>
          <a:solidFill>
            <a:schemeClr val="bg2"/>
          </a:solidFill>
          <a:ln/>
        </p:spPr>
      </p:sp>
      <p:sp>
        <p:nvSpPr>
          <p:cNvPr id="14" name="Text 12"/>
          <p:cNvSpPr txBox="1"/>
          <p:nvPr/>
        </p:nvSpPr>
        <p:spPr>
          <a:xfrm>
            <a:off x="8417357" y="2468880"/>
            <a:ext cx="2997098" cy="1828800"/>
          </a:xfrm>
          <a:prstGeom prst="rect">
            <a:avLst/>
          </a:prstGeom>
          <a:noFill/>
          <a:ln/>
        </p:spPr>
        <p:txBody>
          <a:bodyPr wrap="square" lIns="0" tIns="0" rIns="0" bIns="0" rtlCol="0" anchor="t"/>
          <a:lstStyle/>
          <a:p>
            <a:pPr indent="0" marL="0">
              <a:spcAft>
                <a:spcPts val="800"/>
              </a:spcAft>
              <a:buNone/>
            </a:pPr>
            <a:r>
              <a:rPr lang="en-US" sz="1900" b="1" dirty="0">
                <a:solidFill>
                  <a:schemeClr val="tx2"/>
                </a:solidFill>
              </a:rPr>
              <a:t>Children and AI</a:t>
            </a:r>
            <a:endParaRPr lang="en-US" sz="1900" dirty="0"/>
          </a:p>
          <a:p>
            <a:pPr indent="0" marL="0">
              <a:spcAft>
                <a:spcPts val="800"/>
              </a:spcAft>
              <a:buNone/>
            </a:pPr>
            <a:r>
              <a:rPr lang="en-US" sz="1600" dirty="0">
                <a:solidFill>
                  <a:schemeClr val="tx1"/>
                </a:solidFill>
              </a:rPr>
              <a:t>Same matching and transfer tasks for children and vision-language models: which cues drive generalization?</a:t>
            </a:r>
            <a:endParaRPr lang="en-US" sz="1900" dirty="0"/>
          </a:p>
        </p:txBody>
      </p:sp>
      <p:sp>
        <p:nvSpPr>
          <p:cNvPr id="15" name="takeaway-bg"/>
          <p:cNvSpPr/>
          <p:nvPr/>
        </p:nvSpPr>
        <p:spPr>
          <a:xfrm>
            <a:off x="548640" y="4800600"/>
            <a:ext cx="11094415" cy="548640"/>
          </a:xfrm>
          <a:prstGeom prst="roundRect">
            <a:avLst>
              <a:gd name="adj" fmla="val 13333"/>
            </a:avLst>
          </a:prstGeom>
          <a:solidFill>
            <a:schemeClr val="bg2"/>
          </a:solidFill>
          <a:ln/>
        </p:spPr>
      </p:sp>
      <p:sp>
        <p:nvSpPr>
          <p:cNvPr id="16" name="takeaway"/>
          <p:cNvSpPr txBox="1"/>
          <p:nvPr/>
        </p:nvSpPr>
        <p:spPr>
          <a:xfrm>
            <a:off x="777240" y="4800600"/>
            <a:ext cx="10637215" cy="548640"/>
          </a:xfrm>
          <a:prstGeom prst="rect">
            <a:avLst/>
          </a:prstGeom>
          <a:noFill/>
          <a:ln/>
        </p:spPr>
        <p:txBody>
          <a:bodyPr wrap="square" lIns="0" tIns="0" rIns="0" bIns="0" rtlCol="0" anchor="ctr"/>
          <a:lstStyle/>
          <a:p>
            <a:pPr indent="0" marL="0">
              <a:buNone/>
            </a:pPr>
            <a:r>
              <a:rPr lang="en-US" sz="1600" b="1" dirty="0">
                <a:solidFill>
                  <a:schemeClr val="accent2"/>
                </a:solidFill>
              </a:rPr>
              <a:t>Takeaway  </a:t>
            </a:r>
            <a:pPr indent="0" marL="0">
              <a:buNone/>
            </a:pPr>
            <a:r>
              <a:rPr lang="en-US" sz="1600" dirty="0">
                <a:solidFill>
                  <a:schemeClr val="tx1"/>
                </a:solidFill>
              </a:rPr>
              <a:t>Within-language manipulations first; cross-linguistic comparison as complementary evidence.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640080"/>
            <a:ext cx="11094415" cy="731520"/>
          </a:xfrm>
          <a:prstGeom prst="rect">
            <a:avLst/>
          </a:prstGeom>
          <a:noFill/>
          <a:ln/>
        </p:spPr>
        <p:txBody>
          <a:bodyPr wrap="square" lIns="0" tIns="0" rIns="0" bIns="0" rtlCol="0" anchor="ctr"/>
          <a:lstStyle/>
          <a:p>
            <a:pPr indent="0" marL="0">
              <a:buNone/>
            </a:pPr>
            <a:r>
              <a:rPr lang="en-US" sz="3200" b="1" dirty="0">
                <a:solidFill>
                  <a:schemeClr val="bg1"/>
                </a:solidFill>
              </a:rPr>
              <a:t>What I would bring</a:t>
            </a:r>
            <a:endParaRPr lang="en-US" sz="3200" dirty="0"/>
          </a:p>
        </p:txBody>
      </p:sp>
      <p:sp>
        <p:nvSpPr>
          <p:cNvPr id="3" name="Text 1"/>
          <p:cNvSpPr txBox="1"/>
          <p:nvPr/>
        </p:nvSpPr>
        <p:spPr>
          <a:xfrm>
            <a:off x="548640" y="1645920"/>
            <a:ext cx="3454298" cy="3017520"/>
          </a:xfrm>
          <a:prstGeom prst="rect">
            <a:avLst/>
          </a:prstGeom>
          <a:noFill/>
          <a:ln/>
        </p:spPr>
        <p:txBody>
          <a:bodyPr wrap="square" lIns="0" tIns="0" rIns="0" bIns="0" rtlCol="0" anchor="t"/>
          <a:lstStyle/>
          <a:p>
            <a:pPr indent="0" marL="0">
              <a:spcAft>
                <a:spcPts val="800"/>
              </a:spcAft>
              <a:buNone/>
            </a:pPr>
            <a:r>
              <a:rPr lang="en-US" sz="1900" b="1" dirty="0">
                <a:solidFill>
                  <a:schemeClr val="accent4"/>
                </a:solidFill>
              </a:rPr>
              <a:t>Methods</a:t>
            </a:r>
            <a:endParaRPr lang="en-US" sz="1900" dirty="0"/>
          </a:p>
          <a:p>
            <a:pPr indent="0" marL="0">
              <a:spcAft>
                <a:spcPts val="800"/>
              </a:spcAft>
              <a:buNone/>
            </a:pPr>
            <a:r>
              <a:rPr lang="en-US" sz="1500" dirty="0">
                <a:solidFill>
                  <a:schemeClr val="bg1"/>
                </a:solidFill>
              </a:rPr>
              <a:t>Video stimuli and norming</a:t>
            </a:r>
            <a:endParaRPr lang="en-US" sz="1900" dirty="0"/>
          </a:p>
          <a:p>
            <a:pPr indent="0" marL="0">
              <a:spcAft>
                <a:spcPts val="800"/>
              </a:spcAft>
              <a:buNone/>
            </a:pPr>
            <a:r>
              <a:rPr lang="en-US" sz="1500" dirty="0">
                <a:solidFill>
                  <a:schemeClr val="bg1"/>
                </a:solidFill>
              </a:rPr>
              <a:t>Testing children in kindergartens</a:t>
            </a:r>
            <a:endParaRPr lang="en-US" sz="1900" dirty="0"/>
          </a:p>
          <a:p>
            <a:pPr indent="0" marL="0">
              <a:spcAft>
                <a:spcPts val="800"/>
              </a:spcAft>
              <a:buNone/>
            </a:pPr>
            <a:r>
              <a:rPr lang="en-US" sz="1500" dirty="0">
                <a:solidFill>
                  <a:schemeClr val="bg1"/>
                </a:solidFill>
              </a:rPr>
              <a:t>Interruption detection, boundary tapping</a:t>
            </a:r>
            <a:endParaRPr lang="en-US" sz="1900" dirty="0"/>
          </a:p>
          <a:p>
            <a:pPr indent="0" marL="0">
              <a:spcAft>
                <a:spcPts val="800"/>
              </a:spcAft>
              <a:buNone/>
            </a:pPr>
            <a:r>
              <a:rPr lang="en-US" sz="1500" dirty="0">
                <a:solidFill>
                  <a:schemeClr val="bg1"/>
                </a:solidFill>
              </a:rPr>
              <a:t>Bayesian GLMMs (brms), R, Python, CHILDES</a:t>
            </a:r>
            <a:endParaRPr lang="en-US" sz="1900" dirty="0"/>
          </a:p>
        </p:txBody>
      </p:sp>
      <p:sp>
        <p:nvSpPr>
          <p:cNvPr id="4" name="Text 2"/>
          <p:cNvSpPr txBox="1"/>
          <p:nvPr/>
        </p:nvSpPr>
        <p:spPr>
          <a:xfrm>
            <a:off x="4368698" y="1645920"/>
            <a:ext cx="3454298" cy="3017520"/>
          </a:xfrm>
          <a:prstGeom prst="rect">
            <a:avLst/>
          </a:prstGeom>
          <a:noFill/>
          <a:ln/>
        </p:spPr>
        <p:txBody>
          <a:bodyPr wrap="square" lIns="0" tIns="0" rIns="0" bIns="0" rtlCol="0" anchor="t"/>
          <a:lstStyle/>
          <a:p>
            <a:pPr indent="0" marL="0">
              <a:spcAft>
                <a:spcPts val="800"/>
              </a:spcAft>
              <a:buNone/>
            </a:pPr>
            <a:r>
              <a:rPr lang="en-US" sz="1900" b="1" dirty="0">
                <a:solidFill>
                  <a:schemeClr val="accent4"/>
                </a:solidFill>
              </a:rPr>
              <a:t>Project experience</a:t>
            </a:r>
            <a:endParaRPr lang="en-US" sz="1900" dirty="0"/>
          </a:p>
          <a:p>
            <a:pPr indent="0" marL="0">
              <a:spcAft>
                <a:spcPts val="800"/>
              </a:spcAft>
              <a:buNone/>
            </a:pPr>
            <a:r>
              <a:rPr lang="en-US" sz="1500" dirty="0">
                <a:solidFill>
                  <a:schemeClr val="bg1"/>
                </a:solidFill>
              </a:rPr>
              <a:t>Led a CAS project on urbanizing families (interviews, questionnaires)</a:t>
            </a:r>
            <a:endParaRPr lang="en-US" sz="1900" dirty="0"/>
          </a:p>
          <a:p>
            <a:pPr indent="0" marL="0">
              <a:spcAft>
                <a:spcPts val="800"/>
              </a:spcAft>
              <a:buNone/>
            </a:pPr>
            <a:r>
              <a:rPr lang="en-US" sz="1500" dirty="0">
                <a:solidFill>
                  <a:schemeClr val="bg1"/>
                </a:solidFill>
              </a:rPr>
              <a:t>Preregistered multi-experiment thesis</a:t>
            </a:r>
            <a:endParaRPr lang="en-US" sz="1900" dirty="0"/>
          </a:p>
          <a:p>
            <a:pPr indent="0" marL="0">
              <a:spcAft>
                <a:spcPts val="800"/>
              </a:spcAft>
              <a:buNone/>
            </a:pPr>
            <a:r>
              <a:rPr lang="en-US" sz="1500" dirty="0">
                <a:solidFill>
                  <a:schemeClr val="bg1"/>
                </a:solidFill>
              </a:rPr>
              <a:t>TA for experimental methods in SLA</a:t>
            </a:r>
            <a:endParaRPr lang="en-US" sz="1900" dirty="0"/>
          </a:p>
        </p:txBody>
      </p:sp>
      <p:sp>
        <p:nvSpPr>
          <p:cNvPr id="5" name="Text 3"/>
          <p:cNvSpPr txBox="1"/>
          <p:nvPr/>
        </p:nvSpPr>
        <p:spPr>
          <a:xfrm>
            <a:off x="8188757" y="1645920"/>
            <a:ext cx="3454298" cy="3017520"/>
          </a:xfrm>
          <a:prstGeom prst="rect">
            <a:avLst/>
          </a:prstGeom>
          <a:noFill/>
          <a:ln/>
        </p:spPr>
        <p:txBody>
          <a:bodyPr wrap="square" lIns="0" tIns="0" rIns="0" bIns="0" rtlCol="0" anchor="t"/>
          <a:lstStyle/>
          <a:p>
            <a:pPr indent="0" marL="0">
              <a:spcAft>
                <a:spcPts val="800"/>
              </a:spcAft>
              <a:buNone/>
            </a:pPr>
            <a:r>
              <a:rPr lang="en-US" sz="1900" b="1" dirty="0">
                <a:solidFill>
                  <a:schemeClr val="accent4"/>
                </a:solidFill>
              </a:rPr>
              <a:t>Fit</a:t>
            </a:r>
            <a:endParaRPr lang="en-US" sz="1900" dirty="0"/>
          </a:p>
          <a:p>
            <a:pPr indent="0" marL="0">
              <a:spcAft>
                <a:spcPts val="800"/>
              </a:spcAft>
              <a:buNone/>
            </a:pPr>
            <a:r>
              <a:rPr lang="en-US" sz="1500" dirty="0">
                <a:solidFill>
                  <a:schemeClr val="bg1"/>
                </a:solidFill>
              </a:rPr>
              <a:t>Event language × relational learning</a:t>
            </a:r>
            <a:endParaRPr lang="en-US" sz="1900" dirty="0"/>
          </a:p>
          <a:p>
            <a:pPr indent="0" marL="0">
              <a:spcAft>
                <a:spcPts val="800"/>
              </a:spcAft>
              <a:buNone/>
            </a:pPr>
            <a:r>
              <a:rPr lang="en-US" sz="1500" dirty="0">
                <a:solidFill>
                  <a:schemeClr val="bg1"/>
                </a:solidFill>
              </a:rPr>
              <a:t>Mandarin–English expertise</a:t>
            </a:r>
            <a:endParaRPr lang="en-US" sz="1900" dirty="0"/>
          </a:p>
          <a:p>
            <a:pPr indent="0" marL="0">
              <a:spcAft>
                <a:spcPts val="800"/>
              </a:spcAft>
              <a:buNone/>
            </a:pPr>
            <a:r>
              <a:rPr lang="en-US" sz="1500" dirty="0">
                <a:solidFill>
                  <a:schemeClr val="bg1"/>
                </a:solidFill>
              </a:rPr>
              <a:t>Collaboration with your industry, non-profit and government partners</a:t>
            </a:r>
            <a:endParaRPr lang="en-US" sz="1900" dirty="0"/>
          </a:p>
        </p:txBody>
      </p:sp>
      <p:sp>
        <p:nvSpPr>
          <p:cNvPr id="6" name="Text 4"/>
          <p:cNvSpPr txBox="1"/>
          <p:nvPr/>
        </p:nvSpPr>
        <p:spPr>
          <a:xfrm>
            <a:off x="548640" y="4480560"/>
            <a:ext cx="11094415" cy="1280160"/>
          </a:xfrm>
          <a:prstGeom prst="rect">
            <a:avLst/>
          </a:prstGeom>
          <a:noFill/>
          <a:ln/>
        </p:spPr>
        <p:txBody>
          <a:bodyPr wrap="square" lIns="0" tIns="0" rIns="0" bIns="0" rtlCol="0" anchor="t"/>
          <a:lstStyle/>
          <a:p>
            <a:pPr indent="0" marL="0">
              <a:buNone/>
            </a:pPr>
            <a:r>
              <a:rPr lang="en-US" sz="3600" b="1" dirty="0">
                <a:solidFill>
                  <a:schemeClr val="bg1"/>
                </a:solidFill>
              </a:rPr>
              <a:t>Thank you</a:t>
            </a:r>
            <a:endParaRPr lang="en-US" sz="3600" dirty="0"/>
          </a:p>
          <a:p>
            <a:pPr indent="0" marL="0">
              <a:buNone/>
            </a:pPr>
            <a:r>
              <a:rPr lang="en-US" sz="1600" dirty="0">
                <a:solidFill>
                  <a:schemeClr val="accent5"/>
                </a:solidFill>
              </a:rPr>
              <a:t>xtliu0516@yeah.net  ·  xiaotaoliu.owlstown.net</a:t>
            </a:r>
            <a:endParaRPr lang="en-US" sz="3600" dirty="0"/>
          </a:p>
        </p:txBody>
      </p:sp>
      <p:sp>
        <p:nvSpPr>
          <p:cNvPr id="8" name="Text 0"/>
          <p:cNvSpPr/>
          <p:nvPr>
            <p:ph idx="100" type="title" hasCustomPrompt="1"/>
          </p:nvPr>
        </p:nvSpPr>
        <p:spPr>
          <a:xfrm>
            <a:off x="548640" y="1828800"/>
            <a:ext cx="11094415" cy="1280160"/>
          </a:xfrm>
          <a:prstGeom prst="rect">
            <a:avLst/>
          </a:prstGeom>
          <a:noFill/>
          <a:ln/>
        </p:spPr>
        <p:txBody>
          <a:bodyPr wrap="square" lIns="0" tIns="0" rIns="0" bIns="0" rtlCol="0" anchor="b"/>
          <a:lstStyle/>
          <a:p>
            <a:pPr algn="l" indent="0" marL="0">
              <a:buNone/>
            </a:pPr>
            <a:endParaRPr lang="en-US" sz="4400" dirty="0"/>
          </a:p>
        </p:txBody>
      </p:sp>
      <p:sp>
        <p:nvSpPr>
          <p:cNvPr id="9" name="Text 0"/>
          <p:cNvSpPr/>
          <p:nvPr>
            <p:ph idx="101" type="body" hasCustomPrompt="1"/>
          </p:nvPr>
        </p:nvSpPr>
        <p:spPr>
          <a:xfrm>
            <a:off x="548640" y="3246120"/>
            <a:ext cx="11094415" cy="822960"/>
          </a:xfrm>
          <a:prstGeom prst="rect">
            <a:avLst/>
          </a:prstGeom>
          <a:noFill/>
          <a:ln/>
        </p:spPr>
        <p:txBody>
          <a:bodyPr wrap="square" lIns="0" tIns="0" rIns="0" bIns="0" rtlCol="0" anchor="t"/>
          <a:lstStyle/>
          <a:p>
            <a:pPr indent="0" marL="0">
              <a:buNone/>
            </a:pPr>
            <a:endParaRPr lang="en-US" sz="2200" dirty="0"/>
          </a:p>
        </p:txBody>
      </p:sp>
      <p:sp>
        <p:nvSpPr>
          <p:cNvPr id="10" name="Text 0"/>
          <p:cNvSpPr/>
          <p:nvPr>
            <p:ph idx="102" type="body" hasCustomPrompt="1"/>
          </p:nvPr>
        </p:nvSpPr>
        <p:spPr>
          <a:xfrm>
            <a:off x="548640" y="4846320"/>
            <a:ext cx="11094415" cy="1188720"/>
          </a:xfrm>
          <a:prstGeom prst="rect">
            <a:avLst/>
          </a:prstGeom>
          <a:noFill/>
          <a:ln/>
        </p:spPr>
        <p:txBody>
          <a:bodyPr wrap="square" lIns="0" tIns="0" rIns="0" bIns="0" rtlCol="0" anchor="t"/>
          <a:lstStyle/>
          <a:p>
            <a:pPr indent="0" marL="0">
              <a:buNone/>
            </a:pPr>
            <a:endParaRPr lang="en-US" sz="1600" dirty="0"/>
          </a:p>
        </p:txBody>
      </p:sp>
    </p:spTree>
  </p:cSld>
  <p:clrMapOvr>
    <a:masterClrMapping/>
  </p:clrMapOvr>
</p:sld>
</file>

<file path=ppt/theme/theme1.xml><?xml version="1.0" encoding="utf-8"?>
<a:theme xmlns:a="http://schemas.openxmlformats.org/drawingml/2006/main" name="Event Relations">
  <a:themeElements>
    <a:clrScheme name="Event Relations">
      <a:dk1>
        <a:srgbClr val="1F2A30"/>
      </a:dk1>
      <a:lt1>
        <a:srgbClr val="FFFFFF"/>
      </a:lt1>
      <a:dk2>
        <a:srgbClr val="1E4D4A"/>
      </a:dk2>
      <a:lt2>
        <a:srgbClr val="EEF3F2"/>
      </a:lt2>
      <a:accent1>
        <a:srgbClr val="1E4D4A"/>
      </a:accent1>
      <a:accent2>
        <a:srgbClr val="D9703A"/>
      </a:accent2>
      <a:accent3>
        <a:srgbClr val="5B7083"/>
      </a:accent3>
      <a:accent4>
        <a:srgbClr val="8FB8B0"/>
      </a:accent4>
      <a:accent5>
        <a:srgbClr val="C9D6D3"/>
      </a:accent5>
      <a:accent6>
        <a:srgbClr val="A44A3F"/>
      </a:accent6>
      <a:hlink>
        <a:srgbClr val="1E4D4A"/>
      </a:hlink>
      <a:folHlink>
        <a:srgbClr val="5B7083"/>
      </a:folHlink>
    </a:clrScheme>
    <a:fontScheme name="Event Relation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Event Language to Relational Learning</dc:title>
  <dc:subject>PptxGenJS Presentation</dc:subject>
  <dc:creator>Xiaotao Liu</dc:creator>
  <cp:lastModifiedBy>Xiaotao Liu</cp:lastModifiedBy>
  <cp:revision>1</cp:revision>
  <dcterms:created xsi:type="dcterms:W3CDTF">2026-10-10T02:16:19Z</dcterms:created>
  <dcterms:modified xsi:type="dcterms:W3CDTF">2026-10-10T02:16:19Z</dcterms:modified>
</cp:coreProperties>
</file>